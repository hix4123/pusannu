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6"/>
  </p:notesMasterIdLst>
  <p:sldIdLst>
    <p:sldId id="296" r:id="rId2"/>
    <p:sldId id="306" r:id="rId3"/>
    <p:sldId id="323" r:id="rId4"/>
    <p:sldId id="314" r:id="rId5"/>
    <p:sldId id="310" r:id="rId6"/>
    <p:sldId id="307" r:id="rId7"/>
    <p:sldId id="324" r:id="rId8"/>
    <p:sldId id="311" r:id="rId9"/>
    <p:sldId id="317" r:id="rId10"/>
    <p:sldId id="318" r:id="rId11"/>
    <p:sldId id="312" r:id="rId12"/>
    <p:sldId id="313" r:id="rId13"/>
    <p:sldId id="320" r:id="rId14"/>
    <p:sldId id="325" r:id="rId15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8000"/>
    <a:srgbClr val="660066"/>
    <a:srgbClr val="FF00FF"/>
    <a:srgbClr val="FFFFCC"/>
    <a:srgbClr val="CCFF66"/>
    <a:srgbClr val="0000FF"/>
    <a:srgbClr val="FF0066"/>
    <a:srgbClr val="FFEAD5"/>
    <a:srgbClr val="FFE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8458" autoAdjust="0"/>
  </p:normalViewPr>
  <p:slideViewPr>
    <p:cSldViewPr>
      <p:cViewPr varScale="1">
        <p:scale>
          <a:sx n="68" d="100"/>
          <a:sy n="68" d="100"/>
        </p:scale>
        <p:origin x="464" y="64"/>
      </p:cViewPr>
      <p:guideLst>
        <p:guide orient="horz" pos="3840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-1308" y="-10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3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153"/>
            <a:ext cx="4984962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306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0306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A230B-CA52-480F-ADC2-CF1BF53AB9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04616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7477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477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r>
              <a:rPr lang="en-US" altLang="ko-KR"/>
              <a:t>Inference in BN</a:t>
            </a: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B07CE18-7174-4DBC-B76D-3B8C0D72EDE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>
                <a:solidFill>
                  <a:srgbClr val="660066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808552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Counting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C463D-4C9A-4608-8A2A-D88AA50485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65742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Counting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4A6C7D-94C1-4CFF-8554-B600617826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+mn-lt"/>
              </a:defRPr>
            </a:lvl1pPr>
          </a:lstStyle>
          <a:p>
            <a:pPr>
              <a:defRPr/>
            </a:pPr>
            <a:r>
              <a:rPr lang="en-US" altLang="ko-KR"/>
              <a:t>Counting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+mn-lt"/>
              </a:defRPr>
            </a:lvl1pPr>
          </a:lstStyle>
          <a:p>
            <a:pPr>
              <a:defRPr/>
            </a:pPr>
            <a:fld id="{82994562-ABB7-4D76-A78C-BDC414444FD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7373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sp>
          <p:nvSpPr>
            <p:cNvPr id="7373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sp>
          <p:nvSpPr>
            <p:cNvPr id="7373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7373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7373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7373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7373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sp>
          <p:nvSpPr>
            <p:cNvPr id="7374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7374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1331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331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57338"/>
            <a:ext cx="822960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7374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2" r:id="rId2"/>
    <p:sldLayoutId id="2147483773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Arial" charset="0"/>
          <a:ea typeface="굴림" pitchFamily="50" charset="-127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Arial" charset="0"/>
          <a:ea typeface="굴림" pitchFamily="50" charset="-127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Arial" charset="0"/>
          <a:ea typeface="굴림" pitchFamily="50" charset="-127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Arial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Arial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Arial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Arial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Arial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0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4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Contents</a:t>
            </a:r>
            <a:endParaRPr lang="ko-KR" altLang="en-US" dirty="0" smtClean="0"/>
          </a:p>
        </p:txBody>
      </p:sp>
      <p:sp>
        <p:nvSpPr>
          <p:cNvPr id="16387" name="내용 개체 틀 2"/>
          <p:cNvSpPr>
            <a:spLocks noGrp="1"/>
          </p:cNvSpPr>
          <p:nvPr>
            <p:ph idx="1"/>
          </p:nvPr>
        </p:nvSpPr>
        <p:spPr>
          <a:xfrm>
            <a:off x="971600" y="1357313"/>
            <a:ext cx="7715200" cy="4808537"/>
          </a:xfrm>
        </p:spPr>
        <p:txBody>
          <a:bodyPr/>
          <a:lstStyle/>
          <a:p>
            <a:pPr eaLnBrk="1" hangingPunct="1"/>
            <a:endParaRPr lang="en-US" altLang="ko-KR" dirty="0" smtClean="0"/>
          </a:p>
          <a:p>
            <a:pPr eaLnBrk="1" hangingPunct="1"/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Rules of Sum and Product		</a:t>
            </a:r>
            <a:r>
              <a:rPr lang="ko-KR" altLang="en-US" sz="2000" dirty="0" smtClean="0">
                <a:solidFill>
                  <a:schemeClr val="bg1">
                    <a:lumMod val="50000"/>
                  </a:schemeClr>
                </a:solidFill>
              </a:rPr>
              <a:t>합</a:t>
            </a:r>
            <a:r>
              <a:rPr lang="en-US" altLang="ko-KR" sz="2000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2000" dirty="0" smtClean="0">
                <a:solidFill>
                  <a:schemeClr val="bg1">
                    <a:lumMod val="50000"/>
                  </a:schemeClr>
                </a:solidFill>
              </a:rPr>
              <a:t>곱의 법칙</a:t>
            </a:r>
            <a:endParaRPr lang="en-US" altLang="ko-KR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Permutations				</a:t>
            </a:r>
            <a:r>
              <a:rPr lang="ko-KR" altLang="en-US" sz="2000" dirty="0" smtClean="0">
                <a:solidFill>
                  <a:schemeClr val="bg1">
                    <a:lumMod val="50000"/>
                  </a:schemeClr>
                </a:solidFill>
              </a:rPr>
              <a:t>순열</a:t>
            </a:r>
            <a:endParaRPr lang="en-US" altLang="ko-KR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Combinations: Binomial Theorem	</a:t>
            </a:r>
            <a:r>
              <a:rPr lang="ko-KR" altLang="en-US" sz="2000" dirty="0" smtClean="0">
                <a:solidFill>
                  <a:schemeClr val="bg1">
                    <a:lumMod val="50000"/>
                  </a:schemeClr>
                </a:solidFill>
              </a:rPr>
              <a:t>조합</a:t>
            </a:r>
            <a:endParaRPr lang="en-US" altLang="ko-KR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Combinations with Repetition</a:t>
            </a:r>
            <a:r>
              <a:rPr lang="en-US" altLang="ko-KR" dirty="0" smtClean="0"/>
              <a:t>		</a:t>
            </a:r>
            <a:r>
              <a:rPr lang="ko-KR" altLang="en-US" sz="2000" b="1" dirty="0" smtClean="0">
                <a:solidFill>
                  <a:srgbClr val="0000CC"/>
                </a:solidFill>
              </a:rPr>
              <a:t>중복 조합</a:t>
            </a:r>
            <a:endParaRPr lang="en-US" altLang="ko-KR" sz="2000" b="1" dirty="0" smtClean="0">
              <a:solidFill>
                <a:srgbClr val="0000CC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ko-KR" dirty="0" smtClean="0"/>
              <a:t>Catalan Numbers</a:t>
            </a:r>
            <a:endParaRPr lang="ko-K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내용 개체 틀 5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165725"/>
          </a:xfrm>
        </p:spPr>
        <p:txBody>
          <a:bodyPr/>
          <a:lstStyle/>
          <a:p>
            <a:r>
              <a:rPr lang="en-US" altLang="ko-KR" dirty="0" smtClean="0"/>
              <a:t>W</a:t>
            </a:r>
            <a:r>
              <a:rPr lang="en-US" altLang="ko-KR" sz="2000" dirty="0" smtClean="0"/>
              <a:t>hen we wish to select, </a:t>
            </a:r>
            <a:r>
              <a:rPr lang="en-US" altLang="ko-KR" sz="2000" i="1" dirty="0" smtClean="0">
                <a:solidFill>
                  <a:srgbClr val="C00000"/>
                </a:solidFill>
              </a:rPr>
              <a:t>with repetition</a:t>
            </a:r>
            <a:r>
              <a:rPr lang="en-US" altLang="ko-KR" sz="2000" dirty="0" smtClean="0"/>
              <a:t>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of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distinct objects, we find that we are considering all arrangements of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x’s</a:t>
            </a:r>
            <a:r>
              <a:rPr lang="en-US" altLang="ko-KR" sz="2000" dirty="0" smtClean="0"/>
              <a:t> and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ko-KR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en-US" altLang="ko-KR" sz="2000" dirty="0" smtClean="0"/>
              <a:t>  </a:t>
            </a:r>
            <a:r>
              <a:rPr lang="en-US" altLang="ko-KR" sz="2000" dirty="0" smtClean="0">
                <a:solidFill>
                  <a:srgbClr val="FF00FF"/>
                </a:solidFill>
              </a:rPr>
              <a:t>|</a:t>
            </a:r>
            <a:r>
              <a:rPr lang="en-US" altLang="ko-KR" sz="2000" dirty="0" smtClean="0"/>
              <a:t> ’s and the total number of ways is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r>
              <a:rPr lang="en-US" altLang="ko-KR" dirty="0" smtClean="0"/>
              <a:t>I</a:t>
            </a:r>
            <a:r>
              <a:rPr lang="en-US" altLang="ko-KR" sz="2000" dirty="0" smtClean="0"/>
              <a:t>t is crucial that we recognize the </a:t>
            </a:r>
            <a:r>
              <a:rPr lang="en-US" altLang="ko-KR" sz="2000" dirty="0" smtClean="0">
                <a:solidFill>
                  <a:srgbClr val="0000CC"/>
                </a:solidFill>
              </a:rPr>
              <a:t>equivalence</a:t>
            </a:r>
            <a:r>
              <a:rPr lang="en-US" altLang="ko-KR" sz="2000" dirty="0" smtClean="0"/>
              <a:t> of the following:</a:t>
            </a:r>
          </a:p>
          <a:p>
            <a:pPr>
              <a:buNone/>
            </a:pPr>
            <a:r>
              <a:rPr lang="en-US" altLang="ko-KR" sz="2000" dirty="0" smtClean="0"/>
              <a:t>	1. The number of selections, with repetition, of size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from a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2000" dirty="0" smtClean="0"/>
              <a:t>	    collection of size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.</a:t>
            </a:r>
          </a:p>
          <a:p>
            <a:pPr>
              <a:buNone/>
            </a:pPr>
            <a:r>
              <a:rPr lang="en-US" altLang="ko-KR" sz="2000" dirty="0" smtClean="0"/>
              <a:t>	2. The number of integer solutions of the equation</a:t>
            </a:r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	3. The number of ways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identical objects can be distributed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    among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distinct containers.</a:t>
            </a:r>
            <a:endParaRPr lang="ko-KR" altLang="en-US" sz="2000" dirty="0" smtClean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439163"/>
              </p:ext>
            </p:extLst>
          </p:nvPr>
        </p:nvGraphicFramePr>
        <p:xfrm>
          <a:off x="2974975" y="2258318"/>
          <a:ext cx="27670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0" name="수식" r:id="rId3" imgW="1434960" imgH="457200" progId="Equation.3">
                  <p:embed/>
                </p:oleObj>
              </mc:Choice>
              <mc:Fallback>
                <p:oleObj name="수식" r:id="rId3" imgW="143496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2258318"/>
                        <a:ext cx="2767013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561490"/>
              </p:ext>
            </p:extLst>
          </p:nvPr>
        </p:nvGraphicFramePr>
        <p:xfrm>
          <a:off x="5742458" y="2259013"/>
          <a:ext cx="149383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1" name="수식" r:id="rId5" imgW="774360" imgH="457200" progId="Equation.3">
                  <p:embed/>
                </p:oleObj>
              </mc:Choice>
              <mc:Fallback>
                <p:oleObj name="수식" r:id="rId5" imgW="77436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2458" y="2259013"/>
                        <a:ext cx="149383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715854"/>
              </p:ext>
            </p:extLst>
          </p:nvPr>
        </p:nvGraphicFramePr>
        <p:xfrm>
          <a:off x="2107779" y="2490788"/>
          <a:ext cx="8080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2" name="수식" r:id="rId7" imgW="419040" imgH="228600" progId="Equation.3">
                  <p:embed/>
                </p:oleObj>
              </mc:Choice>
              <mc:Fallback>
                <p:oleObj name="수식" r:id="rId7" imgW="419040" imgH="228600" progId="Equation.3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779" y="2490788"/>
                        <a:ext cx="808037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포인트가 5개인 별 3"/>
          <p:cNvSpPr/>
          <p:nvPr/>
        </p:nvSpPr>
        <p:spPr>
          <a:xfrm>
            <a:off x="6948264" y="2852936"/>
            <a:ext cx="72008" cy="7200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564590"/>
              </p:ext>
            </p:extLst>
          </p:nvPr>
        </p:nvGraphicFramePr>
        <p:xfrm>
          <a:off x="2228850" y="4868863"/>
          <a:ext cx="44386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3" name="수식" r:id="rId9" imgW="2323800" imgH="228600" progId="Equation.3">
                  <p:embed/>
                </p:oleObj>
              </mc:Choice>
              <mc:Fallback>
                <p:oleObj name="수식" r:id="rId9" imgW="2323800" imgH="228600" progId="Equation.3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4868863"/>
                        <a:ext cx="4438650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내용 개체 틀 5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165725"/>
          </a:xfrm>
        </p:spPr>
        <p:txBody>
          <a:bodyPr/>
          <a:lstStyle/>
          <a:p>
            <a:r>
              <a:rPr lang="en-US" altLang="ko-KR" dirty="0" smtClean="0"/>
              <a:t>W</a:t>
            </a:r>
            <a:r>
              <a:rPr lang="en-US" altLang="ko-KR" sz="2000" dirty="0" smtClean="0"/>
              <a:t>hen we wish to select, </a:t>
            </a:r>
            <a:r>
              <a:rPr lang="en-US" altLang="ko-KR" sz="2000" i="1" dirty="0" smtClean="0">
                <a:solidFill>
                  <a:srgbClr val="C00000"/>
                </a:solidFill>
              </a:rPr>
              <a:t>with repetition</a:t>
            </a:r>
            <a:r>
              <a:rPr lang="en-US" altLang="ko-KR" sz="2000" dirty="0" smtClean="0"/>
              <a:t>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of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distinct objects, we find that we are considering all arrangements of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x’s</a:t>
            </a:r>
            <a:r>
              <a:rPr lang="en-US" altLang="ko-KR" sz="2000" dirty="0" smtClean="0"/>
              <a:t> and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ko-KR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en-US" altLang="ko-KR" sz="2000" dirty="0" smtClean="0"/>
              <a:t>  </a:t>
            </a:r>
            <a:r>
              <a:rPr lang="en-US" altLang="ko-KR" sz="2000" dirty="0" smtClean="0">
                <a:solidFill>
                  <a:srgbClr val="FF00FF"/>
                </a:solidFill>
              </a:rPr>
              <a:t>|</a:t>
            </a:r>
            <a:r>
              <a:rPr lang="en-US" altLang="ko-KR" sz="2000" dirty="0" smtClean="0"/>
              <a:t> ’s and the total number of ways is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r>
              <a:rPr lang="en-US" altLang="ko-KR" dirty="0" smtClean="0"/>
              <a:t>I</a:t>
            </a:r>
            <a:r>
              <a:rPr lang="en-US" altLang="ko-KR" sz="2000" dirty="0" smtClean="0"/>
              <a:t>t is crucial that we recognize the </a:t>
            </a:r>
            <a:r>
              <a:rPr lang="en-US" altLang="ko-KR" sz="2000" dirty="0" smtClean="0">
                <a:solidFill>
                  <a:srgbClr val="0000CC"/>
                </a:solidFill>
              </a:rPr>
              <a:t>equivalence</a:t>
            </a:r>
            <a:r>
              <a:rPr lang="en-US" altLang="ko-KR" sz="2000" dirty="0" smtClean="0"/>
              <a:t> of the following:</a:t>
            </a:r>
          </a:p>
          <a:p>
            <a:pPr>
              <a:buNone/>
            </a:pPr>
            <a:r>
              <a:rPr lang="en-US" altLang="ko-KR" sz="2000" dirty="0" smtClean="0"/>
              <a:t>	1. The number of selections, with repetition, of size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from a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2000" dirty="0" smtClean="0"/>
              <a:t>	    collection of size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.</a:t>
            </a:r>
          </a:p>
          <a:p>
            <a:pPr>
              <a:buNone/>
            </a:pPr>
            <a:r>
              <a:rPr lang="en-US" altLang="ko-KR" sz="2000" dirty="0" smtClean="0"/>
              <a:t>	2. The number of integer solutions of the equation</a:t>
            </a:r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	3. The number of ways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identical objects can be distributed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    among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distinct containers.</a:t>
            </a:r>
            <a:endParaRPr lang="ko-KR" altLang="en-US" sz="2000" dirty="0" smtClean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73054"/>
              </p:ext>
            </p:extLst>
          </p:nvPr>
        </p:nvGraphicFramePr>
        <p:xfrm>
          <a:off x="2974975" y="2258318"/>
          <a:ext cx="27670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2" name="수식" r:id="rId3" imgW="1434960" imgH="457200" progId="Equation.3">
                  <p:embed/>
                </p:oleObj>
              </mc:Choice>
              <mc:Fallback>
                <p:oleObj name="수식" r:id="rId3" imgW="14349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2258318"/>
                        <a:ext cx="2767013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/>
          <p:cNvSpPr/>
          <p:nvPr/>
        </p:nvSpPr>
        <p:spPr>
          <a:xfrm>
            <a:off x="323528" y="908720"/>
            <a:ext cx="8496944" cy="2736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804248" y="1285875"/>
            <a:ext cx="216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ko-KR" sz="2000" dirty="0" smtClean="0">
                <a:latin typeface="+mn-lt"/>
              </a:rPr>
              <a:t> distinct objects</a:t>
            </a:r>
            <a:endParaRPr lang="ko-KR" altLang="en-US" sz="2000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04248" y="1876822"/>
            <a:ext cx="212544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ko-KR" sz="2000" dirty="0" smtClean="0"/>
              <a:t> </a:t>
            </a:r>
            <a:r>
              <a:rPr lang="en-US" altLang="ko-KR" sz="2000" dirty="0">
                <a:latin typeface="+mn-lt"/>
              </a:rPr>
              <a:t>with repetition</a:t>
            </a:r>
            <a:endParaRPr lang="ko-KR" altLang="en-US" sz="2000" dirty="0">
              <a:latin typeface="+mn-lt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643042" y="2020838"/>
            <a:ext cx="4143404" cy="142875"/>
            <a:chOff x="1643042" y="1916832"/>
            <a:chExt cx="4143404" cy="142875"/>
          </a:xfrm>
        </p:grpSpPr>
        <p:sp>
          <p:nvSpPr>
            <p:cNvPr id="10" name="타원 9"/>
            <p:cNvSpPr/>
            <p:nvPr/>
          </p:nvSpPr>
          <p:spPr bwMode="auto">
            <a:xfrm>
              <a:off x="1643042" y="191683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 bwMode="auto">
            <a:xfrm>
              <a:off x="1785901" y="191683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 bwMode="auto">
            <a:xfrm>
              <a:off x="1928776" y="191683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 bwMode="auto">
            <a:xfrm>
              <a:off x="3143239" y="191683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 bwMode="auto">
            <a:xfrm>
              <a:off x="4357686" y="191683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5" name="타원 14"/>
            <p:cNvSpPr/>
            <p:nvPr/>
          </p:nvSpPr>
          <p:spPr bwMode="auto">
            <a:xfrm>
              <a:off x="3000364" y="191683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 bwMode="auto">
            <a:xfrm>
              <a:off x="5643571" y="191683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6804248" y="2926085"/>
            <a:ext cx="430907" cy="430907"/>
            <a:chOff x="6876256" y="2924944"/>
            <a:chExt cx="430907" cy="430907"/>
          </a:xfrm>
        </p:grpSpPr>
        <p:sp>
          <p:nvSpPr>
            <p:cNvPr id="18" name="타원 17"/>
            <p:cNvSpPr/>
            <p:nvPr/>
          </p:nvSpPr>
          <p:spPr bwMode="auto">
            <a:xfrm>
              <a:off x="7020272" y="2924944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 bwMode="auto">
            <a:xfrm>
              <a:off x="6876256" y="299695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 bwMode="auto">
            <a:xfrm>
              <a:off x="7020272" y="3212976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 bwMode="auto">
            <a:xfrm>
              <a:off x="7164288" y="3140968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 bwMode="auto">
            <a:xfrm>
              <a:off x="7164288" y="2996952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 bwMode="auto">
            <a:xfrm>
              <a:off x="7020272" y="3068960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 bwMode="auto">
            <a:xfrm>
              <a:off x="6876256" y="3140968"/>
              <a:ext cx="142875" cy="1428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357312" y="1162878"/>
            <a:ext cx="4857739" cy="634820"/>
            <a:chOff x="1357312" y="1162878"/>
            <a:chExt cx="4857739" cy="634820"/>
          </a:xfrm>
        </p:grpSpPr>
        <p:sp>
          <p:nvSpPr>
            <p:cNvPr id="26" name="직사각형 25"/>
            <p:cNvSpPr/>
            <p:nvPr/>
          </p:nvSpPr>
          <p:spPr bwMode="auto">
            <a:xfrm rot="21403841">
              <a:off x="1357312" y="1214438"/>
              <a:ext cx="1000109" cy="500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 smtClean="0">
                  <a:cs typeface="Times New Roman" pitchFamily="18" charset="0"/>
                </a:rPr>
                <a:t>C</a:t>
              </a:r>
              <a:endParaRPr lang="ko-KR" altLang="en-US" sz="2000" dirty="0">
                <a:cs typeface="Times New Roman" pitchFamily="18" charset="0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 rot="556092">
              <a:off x="2643197" y="1214422"/>
              <a:ext cx="1000109" cy="500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 smtClean="0">
                  <a:cs typeface="Times New Roman" pitchFamily="18" charset="0"/>
                </a:rPr>
                <a:t>H</a:t>
              </a:r>
              <a:endParaRPr lang="ko-KR" altLang="en-US" sz="2000" dirty="0">
                <a:cs typeface="Times New Roman" pitchFamily="18" charset="0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 rot="21332364">
              <a:off x="3929058" y="1162878"/>
              <a:ext cx="1000109" cy="500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 smtClean="0">
                  <a:cs typeface="Times New Roman" pitchFamily="18" charset="0"/>
                </a:rPr>
                <a:t>T</a:t>
              </a:r>
              <a:endParaRPr lang="ko-KR" altLang="en-US" sz="2000" dirty="0">
                <a:cs typeface="Times New Roman" pitchFamily="18" charset="0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 rot="21267472">
              <a:off x="5214942" y="1297636"/>
              <a:ext cx="1000109" cy="500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 smtClean="0">
                  <a:cs typeface="Times New Roman" pitchFamily="18" charset="0"/>
                </a:rPr>
                <a:t>F</a:t>
              </a:r>
              <a:endParaRPr lang="ko-KR" altLang="en-US" sz="2000" dirty="0">
                <a:cs typeface="Times New Roman" pitchFamily="18" charset="0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547664" y="2278013"/>
            <a:ext cx="5760640" cy="523220"/>
            <a:chOff x="1547664" y="2924944"/>
            <a:chExt cx="5760640" cy="523220"/>
          </a:xfrm>
        </p:grpSpPr>
        <p:sp>
          <p:nvSpPr>
            <p:cNvPr id="31" name="TextBox 30"/>
            <p:cNvSpPr txBox="1"/>
            <p:nvPr/>
          </p:nvSpPr>
          <p:spPr>
            <a:xfrm>
              <a:off x="1547664" y="2924944"/>
              <a:ext cx="6480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2800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28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843808" y="2924944"/>
              <a:ext cx="6480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2800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28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39952" y="2924944"/>
              <a:ext cx="6480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28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28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36096" y="2924944"/>
              <a:ext cx="6480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28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ko-KR" altLang="en-US" sz="28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660232" y="2924944"/>
              <a:ext cx="6480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28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6" name="자유형 35"/>
          <p:cNvSpPr/>
          <p:nvPr/>
        </p:nvSpPr>
        <p:spPr>
          <a:xfrm>
            <a:off x="6651170" y="2809393"/>
            <a:ext cx="741143" cy="620723"/>
          </a:xfrm>
          <a:custGeom>
            <a:avLst/>
            <a:gdLst>
              <a:gd name="connsiteX0" fmla="*/ 0 w 781957"/>
              <a:gd name="connsiteY0" fmla="*/ 70757 h 678542"/>
              <a:gd name="connsiteX1" fmla="*/ 119743 w 781957"/>
              <a:gd name="connsiteY1" fmla="*/ 59871 h 678542"/>
              <a:gd name="connsiteX2" fmla="*/ 21772 w 781957"/>
              <a:gd name="connsiteY2" fmla="*/ 332014 h 678542"/>
              <a:gd name="connsiteX3" fmla="*/ 152400 w 781957"/>
              <a:gd name="connsiteY3" fmla="*/ 582386 h 678542"/>
              <a:gd name="connsiteX4" fmla="*/ 489858 w 781957"/>
              <a:gd name="connsiteY4" fmla="*/ 669471 h 678542"/>
              <a:gd name="connsiteX5" fmla="*/ 707572 w 781957"/>
              <a:gd name="connsiteY5" fmla="*/ 527957 h 678542"/>
              <a:gd name="connsiteX6" fmla="*/ 762000 w 781957"/>
              <a:gd name="connsiteY6" fmla="*/ 266700 h 678542"/>
              <a:gd name="connsiteX7" fmla="*/ 587829 w 781957"/>
              <a:gd name="connsiteY7" fmla="*/ 38100 h 678542"/>
              <a:gd name="connsiteX8" fmla="*/ 740229 w 781957"/>
              <a:gd name="connsiteY8" fmla="*/ 38100 h 678542"/>
              <a:gd name="connsiteX0" fmla="*/ 0 w 781957"/>
              <a:gd name="connsiteY0" fmla="*/ 70757 h 728779"/>
              <a:gd name="connsiteX1" fmla="*/ 119743 w 781957"/>
              <a:gd name="connsiteY1" fmla="*/ 59871 h 728779"/>
              <a:gd name="connsiteX2" fmla="*/ 21772 w 781957"/>
              <a:gd name="connsiteY2" fmla="*/ 332014 h 728779"/>
              <a:gd name="connsiteX3" fmla="*/ 152400 w 781957"/>
              <a:gd name="connsiteY3" fmla="*/ 582386 h 728779"/>
              <a:gd name="connsiteX4" fmla="*/ 430542 w 781957"/>
              <a:gd name="connsiteY4" fmla="*/ 719708 h 728779"/>
              <a:gd name="connsiteX5" fmla="*/ 707572 w 781957"/>
              <a:gd name="connsiteY5" fmla="*/ 527957 h 728779"/>
              <a:gd name="connsiteX6" fmla="*/ 762000 w 781957"/>
              <a:gd name="connsiteY6" fmla="*/ 266700 h 728779"/>
              <a:gd name="connsiteX7" fmla="*/ 587829 w 781957"/>
              <a:gd name="connsiteY7" fmla="*/ 38100 h 728779"/>
              <a:gd name="connsiteX8" fmla="*/ 740229 w 781957"/>
              <a:gd name="connsiteY8" fmla="*/ 38100 h 728779"/>
              <a:gd name="connsiteX0" fmla="*/ 0 w 781957"/>
              <a:gd name="connsiteY0" fmla="*/ 70757 h 656771"/>
              <a:gd name="connsiteX1" fmla="*/ 119743 w 781957"/>
              <a:gd name="connsiteY1" fmla="*/ 59871 h 656771"/>
              <a:gd name="connsiteX2" fmla="*/ 21772 w 781957"/>
              <a:gd name="connsiteY2" fmla="*/ 332014 h 656771"/>
              <a:gd name="connsiteX3" fmla="*/ 152400 w 781957"/>
              <a:gd name="connsiteY3" fmla="*/ 582386 h 656771"/>
              <a:gd name="connsiteX4" fmla="*/ 430542 w 781957"/>
              <a:gd name="connsiteY4" fmla="*/ 647700 h 656771"/>
              <a:gd name="connsiteX5" fmla="*/ 707572 w 781957"/>
              <a:gd name="connsiteY5" fmla="*/ 527957 h 656771"/>
              <a:gd name="connsiteX6" fmla="*/ 762000 w 781957"/>
              <a:gd name="connsiteY6" fmla="*/ 266700 h 656771"/>
              <a:gd name="connsiteX7" fmla="*/ 587829 w 781957"/>
              <a:gd name="connsiteY7" fmla="*/ 38100 h 656771"/>
              <a:gd name="connsiteX8" fmla="*/ 740229 w 781957"/>
              <a:gd name="connsiteY8" fmla="*/ 38100 h 656771"/>
              <a:gd name="connsiteX0" fmla="*/ 0 w 770927"/>
              <a:gd name="connsiteY0" fmla="*/ 70757 h 648816"/>
              <a:gd name="connsiteX1" fmla="*/ 119743 w 770927"/>
              <a:gd name="connsiteY1" fmla="*/ 59871 h 648816"/>
              <a:gd name="connsiteX2" fmla="*/ 21772 w 770927"/>
              <a:gd name="connsiteY2" fmla="*/ 332014 h 648816"/>
              <a:gd name="connsiteX3" fmla="*/ 152400 w 770927"/>
              <a:gd name="connsiteY3" fmla="*/ 582386 h 648816"/>
              <a:gd name="connsiteX4" fmla="*/ 430542 w 770927"/>
              <a:gd name="connsiteY4" fmla="*/ 647700 h 648816"/>
              <a:gd name="connsiteX5" fmla="*/ 641391 w 770927"/>
              <a:gd name="connsiteY5" fmla="*/ 575692 h 648816"/>
              <a:gd name="connsiteX6" fmla="*/ 762000 w 770927"/>
              <a:gd name="connsiteY6" fmla="*/ 266700 h 648816"/>
              <a:gd name="connsiteX7" fmla="*/ 587829 w 770927"/>
              <a:gd name="connsiteY7" fmla="*/ 38100 h 648816"/>
              <a:gd name="connsiteX8" fmla="*/ 740229 w 770927"/>
              <a:gd name="connsiteY8" fmla="*/ 38100 h 648816"/>
              <a:gd name="connsiteX0" fmla="*/ 0 w 740229"/>
              <a:gd name="connsiteY0" fmla="*/ 74250 h 652309"/>
              <a:gd name="connsiteX1" fmla="*/ 119743 w 740229"/>
              <a:gd name="connsiteY1" fmla="*/ 63364 h 652309"/>
              <a:gd name="connsiteX2" fmla="*/ 21772 w 740229"/>
              <a:gd name="connsiteY2" fmla="*/ 335507 h 652309"/>
              <a:gd name="connsiteX3" fmla="*/ 152400 w 740229"/>
              <a:gd name="connsiteY3" fmla="*/ 585879 h 652309"/>
              <a:gd name="connsiteX4" fmla="*/ 430542 w 740229"/>
              <a:gd name="connsiteY4" fmla="*/ 651193 h 652309"/>
              <a:gd name="connsiteX5" fmla="*/ 641391 w 740229"/>
              <a:gd name="connsiteY5" fmla="*/ 579185 h 652309"/>
              <a:gd name="connsiteX6" fmla="*/ 711674 w 740229"/>
              <a:gd name="connsiteY6" fmla="*/ 291153 h 652309"/>
              <a:gd name="connsiteX7" fmla="*/ 587829 w 740229"/>
              <a:gd name="connsiteY7" fmla="*/ 41593 h 652309"/>
              <a:gd name="connsiteX8" fmla="*/ 740229 w 740229"/>
              <a:gd name="connsiteY8" fmla="*/ 41593 h 652309"/>
              <a:gd name="connsiteX0" fmla="*/ 0 w 740229"/>
              <a:gd name="connsiteY0" fmla="*/ 54429 h 632488"/>
              <a:gd name="connsiteX1" fmla="*/ 119743 w 740229"/>
              <a:gd name="connsiteY1" fmla="*/ 43543 h 632488"/>
              <a:gd name="connsiteX2" fmla="*/ 21772 w 740229"/>
              <a:gd name="connsiteY2" fmla="*/ 315686 h 632488"/>
              <a:gd name="connsiteX3" fmla="*/ 152400 w 740229"/>
              <a:gd name="connsiteY3" fmla="*/ 566058 h 632488"/>
              <a:gd name="connsiteX4" fmla="*/ 430542 w 740229"/>
              <a:gd name="connsiteY4" fmla="*/ 631372 h 632488"/>
              <a:gd name="connsiteX5" fmla="*/ 641391 w 740229"/>
              <a:gd name="connsiteY5" fmla="*/ 559364 h 632488"/>
              <a:gd name="connsiteX6" fmla="*/ 711674 w 740229"/>
              <a:gd name="connsiteY6" fmla="*/ 271332 h 632488"/>
              <a:gd name="connsiteX7" fmla="*/ 571109 w 740229"/>
              <a:gd name="connsiteY7" fmla="*/ 55309 h 632488"/>
              <a:gd name="connsiteX8" fmla="*/ 740229 w 740229"/>
              <a:gd name="connsiteY8" fmla="*/ 21772 h 632488"/>
              <a:gd name="connsiteX0" fmla="*/ 0 w 723388"/>
              <a:gd name="connsiteY0" fmla="*/ 90179 h 668238"/>
              <a:gd name="connsiteX1" fmla="*/ 119743 w 723388"/>
              <a:gd name="connsiteY1" fmla="*/ 79293 h 668238"/>
              <a:gd name="connsiteX2" fmla="*/ 21772 w 723388"/>
              <a:gd name="connsiteY2" fmla="*/ 351436 h 668238"/>
              <a:gd name="connsiteX3" fmla="*/ 152400 w 723388"/>
              <a:gd name="connsiteY3" fmla="*/ 601808 h 668238"/>
              <a:gd name="connsiteX4" fmla="*/ 430542 w 723388"/>
              <a:gd name="connsiteY4" fmla="*/ 667122 h 668238"/>
              <a:gd name="connsiteX5" fmla="*/ 641391 w 723388"/>
              <a:gd name="connsiteY5" fmla="*/ 595114 h 668238"/>
              <a:gd name="connsiteX6" fmla="*/ 711674 w 723388"/>
              <a:gd name="connsiteY6" fmla="*/ 307082 h 668238"/>
              <a:gd name="connsiteX7" fmla="*/ 571109 w 723388"/>
              <a:gd name="connsiteY7" fmla="*/ 91059 h 668238"/>
              <a:gd name="connsiteX8" fmla="*/ 711675 w 723388"/>
              <a:gd name="connsiteY8" fmla="*/ 19050 h 668238"/>
              <a:gd name="connsiteX0" fmla="*/ 0 w 723388"/>
              <a:gd name="connsiteY0" fmla="*/ 54429 h 632488"/>
              <a:gd name="connsiteX1" fmla="*/ 119743 w 723388"/>
              <a:gd name="connsiteY1" fmla="*/ 43543 h 632488"/>
              <a:gd name="connsiteX2" fmla="*/ 21772 w 723388"/>
              <a:gd name="connsiteY2" fmla="*/ 315686 h 632488"/>
              <a:gd name="connsiteX3" fmla="*/ 152400 w 723388"/>
              <a:gd name="connsiteY3" fmla="*/ 566058 h 632488"/>
              <a:gd name="connsiteX4" fmla="*/ 430542 w 723388"/>
              <a:gd name="connsiteY4" fmla="*/ 631372 h 632488"/>
              <a:gd name="connsiteX5" fmla="*/ 641391 w 723388"/>
              <a:gd name="connsiteY5" fmla="*/ 559364 h 632488"/>
              <a:gd name="connsiteX6" fmla="*/ 711674 w 723388"/>
              <a:gd name="connsiteY6" fmla="*/ 271332 h 632488"/>
              <a:gd name="connsiteX7" fmla="*/ 571109 w 723388"/>
              <a:gd name="connsiteY7" fmla="*/ 55309 h 632488"/>
              <a:gd name="connsiteX8" fmla="*/ 711674 w 723388"/>
              <a:gd name="connsiteY8" fmla="*/ 55308 h 632488"/>
              <a:gd name="connsiteX0" fmla="*/ 0 w 723388"/>
              <a:gd name="connsiteY0" fmla="*/ 42664 h 620723"/>
              <a:gd name="connsiteX1" fmla="*/ 149411 w 723388"/>
              <a:gd name="connsiteY1" fmla="*/ 43543 h 620723"/>
              <a:gd name="connsiteX2" fmla="*/ 21772 w 723388"/>
              <a:gd name="connsiteY2" fmla="*/ 303921 h 620723"/>
              <a:gd name="connsiteX3" fmla="*/ 152400 w 723388"/>
              <a:gd name="connsiteY3" fmla="*/ 554293 h 620723"/>
              <a:gd name="connsiteX4" fmla="*/ 430542 w 723388"/>
              <a:gd name="connsiteY4" fmla="*/ 619607 h 620723"/>
              <a:gd name="connsiteX5" fmla="*/ 641391 w 723388"/>
              <a:gd name="connsiteY5" fmla="*/ 547599 h 620723"/>
              <a:gd name="connsiteX6" fmla="*/ 711674 w 723388"/>
              <a:gd name="connsiteY6" fmla="*/ 259567 h 620723"/>
              <a:gd name="connsiteX7" fmla="*/ 571109 w 723388"/>
              <a:gd name="connsiteY7" fmla="*/ 43544 h 620723"/>
              <a:gd name="connsiteX8" fmla="*/ 711674 w 723388"/>
              <a:gd name="connsiteY8" fmla="*/ 43543 h 62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388" h="620723">
                <a:moveTo>
                  <a:pt x="0" y="42664"/>
                </a:moveTo>
                <a:cubicBezTo>
                  <a:pt x="58057" y="15449"/>
                  <a:pt x="145782" y="0"/>
                  <a:pt x="149411" y="43543"/>
                </a:cubicBezTo>
                <a:cubicBezTo>
                  <a:pt x="153040" y="87086"/>
                  <a:pt x="21274" y="218796"/>
                  <a:pt x="21772" y="303921"/>
                </a:cubicBezTo>
                <a:cubicBezTo>
                  <a:pt x="22270" y="389046"/>
                  <a:pt x="84272" y="501679"/>
                  <a:pt x="152400" y="554293"/>
                </a:cubicBezTo>
                <a:cubicBezTo>
                  <a:pt x="220528" y="606907"/>
                  <a:pt x="349044" y="620723"/>
                  <a:pt x="430542" y="619607"/>
                </a:cubicBezTo>
                <a:cubicBezTo>
                  <a:pt x="512041" y="618491"/>
                  <a:pt x="594536" y="607606"/>
                  <a:pt x="641391" y="547599"/>
                </a:cubicBezTo>
                <a:cubicBezTo>
                  <a:pt x="688246" y="487592"/>
                  <a:pt x="723388" y="343576"/>
                  <a:pt x="711674" y="259567"/>
                </a:cubicBezTo>
                <a:cubicBezTo>
                  <a:pt x="699960" y="175558"/>
                  <a:pt x="571109" y="79548"/>
                  <a:pt x="571109" y="43544"/>
                </a:cubicBezTo>
                <a:cubicBezTo>
                  <a:pt x="571109" y="7540"/>
                  <a:pt x="633660" y="24493"/>
                  <a:pt x="711674" y="43543"/>
                </a:cubicBezTo>
              </a:path>
            </a:pathLst>
          </a:cu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/>
          <p:cNvGrpSpPr/>
          <p:nvPr/>
        </p:nvGrpSpPr>
        <p:grpSpPr>
          <a:xfrm>
            <a:off x="2267744" y="2420888"/>
            <a:ext cx="4320480" cy="369332"/>
            <a:chOff x="2267744" y="2420888"/>
            <a:chExt cx="4320480" cy="369332"/>
          </a:xfrm>
        </p:grpSpPr>
        <p:sp>
          <p:nvSpPr>
            <p:cNvPr id="38" name="TextBox 37"/>
            <p:cNvSpPr txBox="1"/>
            <p:nvPr/>
          </p:nvSpPr>
          <p:spPr>
            <a:xfrm>
              <a:off x="2267744" y="242088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/>
                <a:t>+</a:t>
              </a:r>
              <a:endParaRPr lang="ko-KR" alt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35896" y="242088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/>
                <a:t>+</a:t>
              </a:r>
              <a:endParaRPr lang="ko-KR" altLang="en-US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860032" y="242088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/>
                <a:t>+</a:t>
              </a:r>
              <a:endParaRPr lang="ko-KR" alt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156176" y="242088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/>
                <a:t>=</a:t>
              </a:r>
              <a:endParaRPr lang="ko-KR" altLang="en-US" dirty="0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084168" y="116632"/>
            <a:ext cx="295232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How many terms in the</a:t>
            </a: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expansion of (</a:t>
            </a:r>
            <a:r>
              <a:rPr lang="en-US" altLang="ko-KR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ko-KR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ko-KR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ko-KR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ko-KR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084167" y="98745"/>
            <a:ext cx="2880321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564590"/>
              </p:ext>
            </p:extLst>
          </p:nvPr>
        </p:nvGraphicFramePr>
        <p:xfrm>
          <a:off x="2228850" y="4868863"/>
          <a:ext cx="44386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3" name="수식" r:id="rId5" imgW="2323800" imgH="228600" progId="Equation.3">
                  <p:embed/>
                </p:oleObj>
              </mc:Choice>
              <mc:Fallback>
                <p:oleObj name="수식" r:id="rId5" imgW="2323800" imgH="228600" progId="Equation.3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4868863"/>
                        <a:ext cx="4438650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882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내용 개체 틀 1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1657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(</a:t>
            </a:r>
            <a:r>
              <a:rPr lang="en-US" altLang="ko-KR" sz="2000" i="1" dirty="0" smtClean="0"/>
              <a:t>Ex</a:t>
            </a:r>
            <a:r>
              <a:rPr lang="en-US" altLang="ko-KR" sz="2000" dirty="0" smtClean="0"/>
              <a:t>. 1)  Consider the following program segment, where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/>
              <a:t>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/>
              <a:t>, and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/>
              <a:t> are integer variables. How many times is the </a:t>
            </a:r>
            <a:r>
              <a:rPr lang="en-US" altLang="ko-KR" sz="2000" b="1" dirty="0" smtClean="0"/>
              <a:t>print</a:t>
            </a:r>
            <a:r>
              <a:rPr lang="en-US" altLang="ko-KR" sz="2000" dirty="0" smtClean="0"/>
              <a:t> statement executed?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		</a:t>
            </a:r>
            <a:r>
              <a:rPr lang="en-US" altLang="ko-KR" sz="2000" b="1" dirty="0" smtClean="0"/>
              <a:t>for</a:t>
            </a:r>
            <a:r>
              <a:rPr lang="en-US" altLang="ko-KR" sz="2000" dirty="0" smtClean="0"/>
              <a:t>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= 1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to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do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	    </a:t>
            </a:r>
            <a:r>
              <a:rPr lang="en-US" altLang="ko-KR" sz="2000" b="1" dirty="0" smtClean="0"/>
              <a:t>for</a:t>
            </a:r>
            <a:r>
              <a:rPr lang="en-US" altLang="ko-KR" sz="2000" dirty="0" smtClean="0"/>
              <a:t>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= 1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to</a:t>
            </a:r>
            <a:r>
              <a:rPr lang="en-US" altLang="ko-KR" sz="2000" dirty="0" smtClean="0"/>
              <a:t>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do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	        </a:t>
            </a:r>
            <a:r>
              <a:rPr lang="en-US" altLang="ko-KR" sz="2000" b="1" dirty="0" smtClean="0"/>
              <a:t>for</a:t>
            </a:r>
            <a:r>
              <a:rPr lang="en-US" altLang="ko-KR" sz="2000" dirty="0" smtClean="0"/>
              <a:t>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= 1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to</a:t>
            </a:r>
            <a:r>
              <a:rPr lang="en-US" altLang="ko-KR" sz="2000" dirty="0" smtClean="0"/>
              <a:t>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do		</a:t>
            </a:r>
            <a:r>
              <a:rPr lang="en-US" altLang="ko-KR" sz="2000" dirty="0" smtClean="0"/>
              <a:t>xx	       x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		</a:t>
            </a:r>
            <a:r>
              <a:rPr lang="en-US" altLang="ko-KR" sz="2000" b="1" dirty="0" smtClean="0"/>
              <a:t>print</a:t>
            </a:r>
            <a:r>
              <a:rPr lang="en-US" altLang="ko-KR" sz="1000" b="1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/>
              <a:t> *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/>
              <a:t> +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sz="2000" dirty="0" smtClean="0"/>
              <a:t>;		        x  	       </a:t>
            </a:r>
            <a:r>
              <a:rPr lang="en-US" altLang="ko-KR" sz="2000" dirty="0" err="1" smtClean="0"/>
              <a:t>x</a:t>
            </a:r>
            <a:r>
              <a:rPr lang="en-US" altLang="ko-KR" sz="2000" dirty="0" smtClean="0"/>
              <a:t>      </a:t>
            </a:r>
            <a:r>
              <a:rPr lang="en-US" altLang="ko-KR" sz="2000" dirty="0" err="1" smtClean="0"/>
              <a:t>x</a:t>
            </a:r>
            <a:endParaRPr lang="en-US" altLang="ko-KR" sz="2000" dirty="0" smtClean="0"/>
          </a:p>
          <a:p>
            <a:pPr>
              <a:lnSpc>
                <a:spcPct val="5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None/>
            </a:pPr>
            <a:r>
              <a:rPr lang="en-US" altLang="ko-KR" sz="2000" dirty="0" smtClean="0"/>
              <a:t>	</a:t>
            </a:r>
            <a:r>
              <a:rPr lang="en-US" altLang="ko-KR" sz="2000" i="1" dirty="0" smtClean="0"/>
              <a:t>Answer </a:t>
            </a:r>
            <a:r>
              <a:rPr lang="en-US" altLang="ko-KR" sz="2000" dirty="0" smtClean="0"/>
              <a:t>:</a:t>
            </a:r>
            <a:r>
              <a:rPr lang="en-US" altLang="ko-KR" sz="2000" dirty="0" smtClean="0">
                <a:sym typeface="Symbol" pitchFamily="18" charset="2"/>
              </a:rPr>
              <a:t> </a:t>
            </a:r>
            <a:r>
              <a:rPr lang="en-US" altLang="ko-KR" sz="2000" dirty="0" smtClean="0">
                <a:solidFill>
                  <a:srgbClr val="0000FF"/>
                </a:solidFill>
                <a:sym typeface="Symbol" pitchFamily="18" charset="2"/>
              </a:rPr>
              <a:t>The selection of </a:t>
            </a:r>
            <a:r>
              <a:rPr lang="en-US" altLang="ko-KR" sz="2000" i="1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>
                <a:solidFill>
                  <a:srgbClr val="0000FF"/>
                </a:solidFill>
              </a:rPr>
              <a:t>, </a:t>
            </a:r>
            <a:r>
              <a:rPr lang="en-US" altLang="ko-KR" sz="20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>
                <a:solidFill>
                  <a:srgbClr val="0000FF"/>
                </a:solidFill>
              </a:rPr>
              <a:t>, and </a:t>
            </a:r>
            <a:r>
              <a:rPr lang="en-US" altLang="ko-KR" sz="20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ko-KR" sz="2000" dirty="0" smtClean="0">
                <a:sym typeface="Symbol" pitchFamily="18" charset="2"/>
              </a:rPr>
              <a:t>where the </a:t>
            </a:r>
            <a:r>
              <a:rPr lang="en-US" altLang="ko-KR" sz="2000" b="1" dirty="0" smtClean="0">
                <a:sym typeface="Symbol" pitchFamily="18" charset="2"/>
              </a:rPr>
              <a:t>print</a:t>
            </a:r>
            <a:r>
              <a:rPr lang="en-US" altLang="ko-KR" sz="2000" dirty="0" smtClean="0">
                <a:sym typeface="Symbol" pitchFamily="18" charset="2"/>
              </a:rPr>
              <a:t> statement is executed </a:t>
            </a:r>
            <a:r>
              <a:rPr lang="en-US" altLang="ko-KR" sz="2000" dirty="0" smtClean="0">
                <a:solidFill>
                  <a:srgbClr val="0000FF"/>
                </a:solidFill>
                <a:sym typeface="Symbol" pitchFamily="18" charset="2"/>
              </a:rPr>
              <a:t>satisfies the condition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 ≤</a:t>
            </a:r>
            <a:r>
              <a:rPr lang="en-US" altLang="ko-KR" sz="20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≤</a:t>
            </a:r>
            <a:r>
              <a:rPr lang="en-US" altLang="ko-KR" sz="20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j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≤</a:t>
            </a:r>
            <a:r>
              <a:rPr lang="en-US" altLang="ko-KR" sz="20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i="1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≤ 20</a:t>
            </a:r>
            <a:r>
              <a:rPr lang="en-US" altLang="ko-KR" sz="2000" dirty="0" smtClean="0">
                <a:sym typeface="Symbol" pitchFamily="18" charset="2"/>
              </a:rPr>
              <a:t>. In fact, any selection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≥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≥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sym typeface="Symbol" pitchFamily="18" charset="2"/>
              </a:rPr>
              <a:t>of size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ko-KR" sz="2000" dirty="0" smtClean="0">
                <a:sym typeface="Symbol" pitchFamily="18" charset="2"/>
              </a:rPr>
              <a:t>, with repetitions allowed, from the list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1, 2,…, 20</a:t>
            </a:r>
            <a:r>
              <a:rPr lang="en-US" altLang="ko-KR" sz="2000" dirty="0" smtClean="0">
                <a:sym typeface="Symbol" pitchFamily="18" charset="2"/>
              </a:rPr>
              <a:t> results in one of the correct selections, here,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sym typeface="Symbol" pitchFamily="18" charset="2"/>
              </a:rPr>
              <a:t>. Consequently the </a:t>
            </a:r>
            <a:r>
              <a:rPr lang="en-US" altLang="ko-KR" sz="2000" b="1" dirty="0" smtClean="0">
                <a:sym typeface="Symbol" pitchFamily="18" charset="2"/>
              </a:rPr>
              <a:t>print</a:t>
            </a:r>
            <a:r>
              <a:rPr lang="en-US" altLang="ko-KR" sz="2000" dirty="0" smtClean="0">
                <a:sym typeface="Symbol" pitchFamily="18" charset="2"/>
              </a:rPr>
              <a:t> statement is executed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128850-4002-4468-BE1D-F11F2473B669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620963" y="5403850"/>
          <a:ext cx="293211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9" name="수식" r:id="rId3" imgW="1638000" imgH="457200" progId="Equation.3">
                  <p:embed/>
                </p:oleObj>
              </mc:Choice>
              <mc:Fallback>
                <p:oleObj name="수식" r:id="rId3" imgW="16380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5403850"/>
                        <a:ext cx="2932112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0688" y="5572125"/>
            <a:ext cx="8572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 dirty="0">
                <a:latin typeface="+mn-lt"/>
              </a:rPr>
              <a:t>times.</a:t>
            </a:r>
            <a:endParaRPr lang="ko-KR" altLang="en-US" sz="2000" dirty="0">
              <a:latin typeface="+mn-lt"/>
            </a:endParaRPr>
          </a:p>
        </p:txBody>
      </p:sp>
      <p:grpSp>
        <p:nvGrpSpPr>
          <p:cNvPr id="2" name="그룹 12"/>
          <p:cNvGrpSpPr>
            <a:grpSpLocks/>
          </p:cNvGrpSpPr>
          <p:nvPr/>
        </p:nvGrpSpPr>
        <p:grpSpPr bwMode="auto">
          <a:xfrm>
            <a:off x="4500563" y="2214563"/>
            <a:ext cx="3643312" cy="357187"/>
            <a:chOff x="4500562" y="2214554"/>
            <a:chExt cx="3643338" cy="357190"/>
          </a:xfrm>
        </p:grpSpPr>
        <p:sp>
          <p:nvSpPr>
            <p:cNvPr id="7" name="직사각형 6"/>
            <p:cNvSpPr/>
            <p:nvPr/>
          </p:nvSpPr>
          <p:spPr>
            <a:xfrm>
              <a:off x="4500562" y="2214554"/>
              <a:ext cx="428628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/>
                <a:t>1</a:t>
              </a:r>
              <a:endParaRPr lang="ko-KR" altLang="en-US" sz="1600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000628" y="2214554"/>
              <a:ext cx="428628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/>
                <a:t>2</a:t>
              </a:r>
              <a:endParaRPr lang="ko-KR" altLang="en-US" sz="1600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500694" y="2214554"/>
              <a:ext cx="428628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/>
                <a:t>3</a:t>
              </a:r>
              <a:endParaRPr lang="ko-KR" altLang="en-US" sz="1600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357950" y="2214554"/>
              <a:ext cx="428628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/>
                <a:t>12</a:t>
              </a:r>
              <a:endParaRPr lang="ko-KR" altLang="en-US" sz="1600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858016" y="2214554"/>
              <a:ext cx="428628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/>
                <a:t>13</a:t>
              </a:r>
              <a:endParaRPr lang="ko-KR" altLang="en-US" sz="1600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7715272" y="2214554"/>
              <a:ext cx="428628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/>
                <a:t>20</a:t>
              </a:r>
              <a:endParaRPr lang="ko-KR" altLang="en-US" sz="1600" dirty="0"/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4427984" y="1988840"/>
            <a:ext cx="4032448" cy="1285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500"/>
              </a:spcBef>
              <a:defRPr/>
            </a:pPr>
            <a:r>
              <a:rPr lang="en-US" altLang="ko-KR" sz="2000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1  2 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2  2 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 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3  3 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3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 3  3 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 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4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</a:t>
            </a:r>
            <a:endParaRPr lang="en-US" altLang="ko-KR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500"/>
              </a:spcBef>
              <a:defRPr/>
            </a:pPr>
            <a:r>
              <a:rPr lang="en-US" altLang="ko-KR" sz="20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1  1  2 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2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1  2 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3 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3  3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1  2  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</a:t>
            </a:r>
            <a:endParaRPr lang="en-US" altLang="ko-KR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500"/>
              </a:spcBef>
              <a:defRPr/>
            </a:pPr>
            <a:r>
              <a:rPr lang="en-US" altLang="ko-KR" sz="20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1  1  1  2  1  1  2  1  2  3  1  1  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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11860" y="4212377"/>
            <a:ext cx="2520280" cy="5847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ko-KR" altLang="en-US" sz="32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20,  </a:t>
            </a:r>
            <a:r>
              <a:rPr lang="en-US" altLang="ko-KR" sz="3200" i="1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3200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ko-KR" altLang="en-US" sz="32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42910" y="3501009"/>
            <a:ext cx="8001056" cy="2856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내용 개체 틀 1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165725"/>
          </a:xfrm>
        </p:spPr>
        <p:txBody>
          <a:bodyPr/>
          <a:lstStyle/>
          <a:p>
            <a:pPr>
              <a:buNone/>
            </a:pPr>
            <a:r>
              <a:rPr lang="en-US" altLang="ko-KR" sz="2000" dirty="0" smtClean="0"/>
              <a:t>	In general,   the answer   is   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ko-KR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1,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3)</a:t>
            </a:r>
            <a:r>
              <a:rPr lang="en-US" altLang="ko-KR" sz="2000" dirty="0" smtClean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		</a:t>
            </a:r>
            <a:r>
              <a:rPr lang="en-US" altLang="ko-KR" sz="2000" b="1" dirty="0" smtClean="0"/>
              <a:t>for</a:t>
            </a:r>
            <a:r>
              <a:rPr lang="en-US" altLang="ko-KR" sz="2000" dirty="0" smtClean="0"/>
              <a:t>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en-US" altLang="ko-KR" sz="2000" b="1" dirty="0" smtClean="0"/>
              <a:t>to</a:t>
            </a:r>
            <a:r>
              <a:rPr lang="en-US" altLang="ko-KR" sz="2000" dirty="0" smtClean="0"/>
              <a:t> </a:t>
            </a:r>
            <a:r>
              <a:rPr lang="en-US" altLang="ko-KR" sz="2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do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	    </a:t>
            </a:r>
            <a:r>
              <a:rPr lang="en-US" altLang="ko-KR" sz="2000" b="1" dirty="0" smtClean="0"/>
              <a:t>for</a:t>
            </a:r>
            <a:r>
              <a:rPr lang="en-US" altLang="ko-KR" sz="2000" dirty="0" smtClean="0"/>
              <a:t>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= 1 </a:t>
            </a:r>
            <a:r>
              <a:rPr lang="en-US" altLang="ko-KR" sz="2000" b="1" dirty="0" smtClean="0"/>
              <a:t>to</a:t>
            </a:r>
            <a:r>
              <a:rPr lang="en-US" altLang="ko-KR" sz="2000" dirty="0" smtClean="0"/>
              <a:t>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do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	        </a:t>
            </a:r>
            <a:r>
              <a:rPr lang="en-US" altLang="ko-KR" sz="2000" b="1" dirty="0" smtClean="0"/>
              <a:t>for</a:t>
            </a:r>
            <a:r>
              <a:rPr lang="en-US" altLang="ko-KR" sz="2000" dirty="0" smtClean="0"/>
              <a:t>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= 1 </a:t>
            </a:r>
            <a:r>
              <a:rPr lang="en-US" altLang="ko-KR" sz="2000" b="1" dirty="0" smtClean="0"/>
              <a:t>to</a:t>
            </a:r>
            <a:r>
              <a:rPr lang="en-US" altLang="ko-KR" sz="2000" dirty="0" smtClean="0"/>
              <a:t>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/>
              <a:t>do</a:t>
            </a:r>
            <a:endParaRPr lang="en-US" altLang="ko-KR" sz="2000" dirty="0" smtClean="0"/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		</a:t>
            </a:r>
            <a:r>
              <a:rPr lang="en-US" altLang="ko-KR" sz="2000" b="1" dirty="0" smtClean="0"/>
              <a:t>print</a:t>
            </a:r>
            <a:r>
              <a:rPr lang="en-US" altLang="ko-KR" sz="1000" b="1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000" dirty="0" smtClean="0"/>
              <a:t> *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000" dirty="0" smtClean="0"/>
              <a:t> +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sz="2000" dirty="0" smtClean="0"/>
              <a:t>;</a:t>
            </a:r>
          </a:p>
          <a:p>
            <a:pPr>
              <a:lnSpc>
                <a:spcPct val="5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1000" dirty="0" smtClean="0"/>
          </a:p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	</a:t>
            </a:r>
            <a:r>
              <a:rPr lang="en-US" altLang="ko-KR" sz="2000" i="1" dirty="0" smtClean="0"/>
              <a:t>Another Approach </a:t>
            </a:r>
            <a:r>
              <a:rPr lang="en-US" altLang="ko-KR" sz="2000" dirty="0" smtClean="0"/>
              <a:t>:</a:t>
            </a:r>
            <a:endParaRPr lang="en-US" altLang="ko-KR" sz="2000" dirty="0" smtClean="0">
              <a:sym typeface="Symbol" pitchFamily="18" charset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EAD76C-85E1-45C9-8653-823841939C0D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1460649" y="3969420"/>
          <a:ext cx="6135687" cy="154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4" name="수식" r:id="rId3" imgW="3429000" imgH="863280" progId="Equation.3">
                  <p:embed/>
                </p:oleObj>
              </mc:Choice>
              <mc:Fallback>
                <p:oleObj name="수식" r:id="rId3" imgW="3429000" imgH="8632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649" y="3969420"/>
                        <a:ext cx="6135687" cy="1547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4429125" y="1785938"/>
          <a:ext cx="40687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5" name="수식" r:id="rId5" imgW="2273040" imgH="457200" progId="Equation.3">
                  <p:embed/>
                </p:oleObj>
              </mc:Choice>
              <mc:Fallback>
                <p:oleObj name="수식" r:id="rId5" imgW="227304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1785938"/>
                        <a:ext cx="4068763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/>
          <p:cNvSpPr/>
          <p:nvPr/>
        </p:nvSpPr>
        <p:spPr>
          <a:xfrm>
            <a:off x="4000496" y="1000108"/>
            <a:ext cx="4643470" cy="2071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827584" y="3284984"/>
            <a:ext cx="7387754" cy="25202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내용 개체 틀 1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1657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(</a:t>
            </a:r>
            <a:r>
              <a:rPr lang="en-US" altLang="ko-KR" sz="2000" i="1" dirty="0" smtClean="0"/>
              <a:t>Ex</a:t>
            </a:r>
            <a:r>
              <a:rPr lang="en-US" altLang="ko-KR" sz="2000" dirty="0" smtClean="0"/>
              <a:t>. 2) In how many ways can we distribute seven bananas and six oranges among four children so that each child receives at least one banana?</a:t>
            </a:r>
          </a:p>
          <a:p>
            <a:pPr>
              <a:buNone/>
            </a:pPr>
            <a:r>
              <a:rPr lang="en-US" altLang="ko-KR" sz="2000" dirty="0" smtClean="0"/>
              <a:t>	</a:t>
            </a:r>
            <a:r>
              <a:rPr lang="en-US" altLang="ko-KR" sz="2000" i="1" dirty="0" smtClean="0"/>
              <a:t>Answer</a:t>
            </a:r>
            <a:r>
              <a:rPr lang="en-US" altLang="ko-KR" sz="2000" dirty="0" smtClean="0"/>
              <a:t>: (1) ways of banana distribution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= 4,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= 3):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(4 + 3 </a:t>
            </a:r>
            <a:r>
              <a:rPr lang="ko-KR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1, 3)</a:t>
            </a:r>
            <a:r>
              <a:rPr lang="en-US" altLang="ko-KR" sz="2000" dirty="0" smtClean="0"/>
              <a:t>, (2) ways of orange distribution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= 4,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= 6):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(4 + 6</a:t>
            </a:r>
            <a:r>
              <a:rPr lang="ko-KR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–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1, 6)</a:t>
            </a:r>
            <a:r>
              <a:rPr lang="en-US" altLang="ko-KR" sz="2000" dirty="0" smtClean="0">
                <a:sym typeface="Symbol" pitchFamily="18" charset="2"/>
              </a:rPr>
              <a:t> By the rule of product, the total # of ways is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(6,3)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(9,6) = 1,680</a:t>
            </a:r>
            <a:r>
              <a:rPr lang="en-US" altLang="ko-KR" sz="20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altLang="ko-KR" sz="1200" dirty="0" smtClean="0"/>
          </a:p>
          <a:p>
            <a:pPr>
              <a:buNone/>
            </a:pPr>
            <a:r>
              <a:rPr lang="en-US" altLang="ko-KR" sz="2000" dirty="0" smtClean="0"/>
              <a:t>(</a:t>
            </a:r>
            <a:r>
              <a:rPr lang="en-US" altLang="ko-KR" sz="2000" i="1" dirty="0" smtClean="0"/>
              <a:t>Ex</a:t>
            </a:r>
            <a:r>
              <a:rPr lang="en-US" altLang="ko-KR" sz="2000" dirty="0" smtClean="0"/>
              <a:t>. 3) A message is made up of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altLang="ko-KR" sz="2000" dirty="0" smtClean="0"/>
              <a:t> different symbols and is to be transmitted through a communication channel. In addition to the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altLang="ko-KR" sz="2000" dirty="0" smtClean="0"/>
              <a:t> symbols, the transmitter will also send a total of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45</a:t>
            </a:r>
            <a:r>
              <a:rPr lang="en-US" altLang="ko-KR" sz="2000" dirty="0" smtClean="0"/>
              <a:t> (blank) spaces between the symbols, with at least three spaces between each pair of consecutive symbols. In how many ways can the transmitter send such a message?   Answer: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12!</a:t>
            </a:r>
            <a:r>
              <a:rPr lang="ko-KR" altLang="ko-KR" sz="2000" dirty="0" smtClean="0">
                <a:cs typeface="Times New Roman" pitchFamily="18" charset="0"/>
                <a:sym typeface="Symbol" pitchFamily="18" charset="2"/>
              </a:rPr>
              <a:t> </a:t>
            </a:r>
            <a:r>
              <a:rPr lang="ko-KR" altLang="en-US" sz="2000" dirty="0" smtClean="0">
                <a:cs typeface="Times New Roman" pitchFamily="18" charset="0"/>
                <a:sym typeface="Symbol"/>
              </a:rPr>
              <a:t>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(11 + 12 – 1,12)</a:t>
            </a:r>
            <a:r>
              <a:rPr lang="en-US" altLang="ko-KR" sz="2000" dirty="0" smtClean="0"/>
              <a:t>.</a:t>
            </a:r>
            <a:endParaRPr lang="ko-KR" altLang="en-US" sz="20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8C9157-1074-4104-845F-3B42E35BE1BB}" type="slidenum">
              <a:rPr lang="en-US" altLang="ko-KR" smtClean="0"/>
              <a:pPr>
                <a:defRPr/>
              </a:pPr>
              <a:t>6</a:t>
            </a:fld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571500" y="2214563"/>
            <a:ext cx="7929563" cy="1214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uiExpand="1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571472" y="1428736"/>
          <a:ext cx="7929618" cy="4572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1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04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Order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lt"/>
                        </a:rPr>
                        <a:t>R</a:t>
                      </a:r>
                      <a:r>
                        <a:rPr lang="en-US" altLang="ko-KR" sz="1600" dirty="0" smtClean="0">
                          <a:latin typeface="+mn-lt"/>
                        </a:rPr>
                        <a:t>epetitions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Type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Formula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Yes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No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Permutation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Yes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Yes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Permutation with</a:t>
                      </a:r>
                      <a:r>
                        <a:rPr lang="en-US" altLang="ko-KR" baseline="0" dirty="0" smtClean="0">
                          <a:latin typeface="+mn-lt"/>
                        </a:rPr>
                        <a:t> repetition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No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No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Combination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No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Yes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Combination with repetition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71504"/>
          </a:xfrm>
        </p:spPr>
        <p:txBody>
          <a:bodyPr/>
          <a:lstStyle/>
          <a:p>
            <a:pPr>
              <a:buNone/>
            </a:pPr>
            <a:r>
              <a:rPr lang="en-US" altLang="ko-KR" sz="2800" dirty="0" smtClean="0"/>
              <a:t>Summary</a:t>
            </a:r>
            <a:endParaRPr lang="ko-KR" altLang="en-US" sz="2800" dirty="0"/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>
            <p:extLst/>
          </p:nvPr>
        </p:nvGraphicFramePr>
        <p:xfrm>
          <a:off x="4596110" y="5301208"/>
          <a:ext cx="8080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86" name="수식" r:id="rId3" imgW="419040" imgH="228600" progId="Equation.3">
                  <p:embed/>
                </p:oleObj>
              </mc:Choice>
              <mc:Fallback>
                <p:oleObj name="수식" r:id="rId3" imgW="419040" imgH="228600" progId="Equation.3">
                  <p:embed/>
                  <p:pic>
                    <p:nvPicPr>
                      <p:cNvPr id="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6110" y="5301208"/>
                        <a:ext cx="808037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그룹 13"/>
          <p:cNvGrpSpPr/>
          <p:nvPr/>
        </p:nvGrpSpPr>
        <p:grpSpPr>
          <a:xfrm>
            <a:off x="4581236" y="2224088"/>
            <a:ext cx="3735388" cy="3682248"/>
            <a:chOff x="4653036" y="2205616"/>
            <a:chExt cx="3735388" cy="3682248"/>
          </a:xfrm>
        </p:grpSpPr>
        <p:graphicFrame>
          <p:nvGraphicFramePr>
            <p:cNvPr id="6" name="개체 5"/>
            <p:cNvGraphicFramePr>
              <a:graphicFrameLocks noChangeAspect="1"/>
            </p:cNvGraphicFramePr>
            <p:nvPr>
              <p:extLst/>
            </p:nvPr>
          </p:nvGraphicFramePr>
          <p:xfrm>
            <a:off x="4653036" y="4109864"/>
            <a:ext cx="3735388" cy="777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87" name="수식" r:id="rId5" imgW="2197100" imgH="457200" progId="Equation.3">
                    <p:embed/>
                  </p:oleObj>
                </mc:Choice>
                <mc:Fallback>
                  <p:oleObj name="수식" r:id="rId5" imgW="2197100" imgH="457200" progId="Equation.3">
                    <p:embed/>
                    <p:pic>
                      <p:nvPicPr>
                        <p:cNvPr id="6" name="개체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3036" y="4109864"/>
                          <a:ext cx="3735388" cy="777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개체 6"/>
            <p:cNvGraphicFramePr>
              <a:graphicFrameLocks noChangeAspect="1"/>
            </p:cNvGraphicFramePr>
            <p:nvPr>
              <p:extLst/>
            </p:nvPr>
          </p:nvGraphicFramePr>
          <p:xfrm>
            <a:off x="5051788" y="2205616"/>
            <a:ext cx="2936875" cy="712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88" name="수식" r:id="rId7" imgW="1726920" imgH="419040" progId="Equation.3">
                    <p:embed/>
                  </p:oleObj>
                </mc:Choice>
                <mc:Fallback>
                  <p:oleObj name="수식" r:id="rId7" imgW="1726920" imgH="419040" progId="Equation.3">
                    <p:embed/>
                    <p:pic>
                      <p:nvPicPr>
                        <p:cNvPr id="7" name="개체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1788" y="2205616"/>
                          <a:ext cx="2936875" cy="712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개체 7"/>
            <p:cNvGraphicFramePr>
              <a:graphicFrameLocks noChangeAspect="1"/>
            </p:cNvGraphicFramePr>
            <p:nvPr>
              <p:extLst/>
            </p:nvPr>
          </p:nvGraphicFramePr>
          <p:xfrm>
            <a:off x="5147856" y="3295476"/>
            <a:ext cx="1339850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89" name="수식" r:id="rId9" imgW="787400" imgH="228600" progId="Equation.3">
                    <p:embed/>
                  </p:oleObj>
                </mc:Choice>
                <mc:Fallback>
                  <p:oleObj name="수식" r:id="rId9" imgW="787400" imgH="228600" progId="Equation.3">
                    <p:embed/>
                    <p:pic>
                      <p:nvPicPr>
                        <p:cNvPr id="8" name="개체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7856" y="3295476"/>
                          <a:ext cx="1339850" cy="388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개체 9"/>
            <p:cNvGraphicFramePr>
              <a:graphicFrameLocks noChangeAspect="1"/>
            </p:cNvGraphicFramePr>
            <p:nvPr>
              <p:extLst/>
            </p:nvPr>
          </p:nvGraphicFramePr>
          <p:xfrm>
            <a:off x="5461074" y="5109989"/>
            <a:ext cx="2138362" cy="777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90" name="수식" r:id="rId11" imgW="1257300" imgH="457200" progId="Equation.3">
                    <p:embed/>
                  </p:oleObj>
                </mc:Choice>
                <mc:Fallback>
                  <p:oleObj name="수식" r:id="rId11" imgW="1257300" imgH="457200" progId="Equation.3">
                    <p:embed/>
                    <p:pic>
                      <p:nvPicPr>
                        <p:cNvPr id="10" name="개체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074" y="5109989"/>
                          <a:ext cx="2138362" cy="777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직사각형 2"/>
          <p:cNvSpPr/>
          <p:nvPr/>
        </p:nvSpPr>
        <p:spPr>
          <a:xfrm>
            <a:off x="467544" y="3068960"/>
            <a:ext cx="8136904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67544" y="4059316"/>
            <a:ext cx="8136904" cy="936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67544" y="4995420"/>
            <a:ext cx="8136904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316767"/>
              </p:ext>
            </p:extLst>
          </p:nvPr>
        </p:nvGraphicFramePr>
        <p:xfrm>
          <a:off x="575927" y="1421741"/>
          <a:ext cx="7929618" cy="4572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1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04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Order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lt"/>
                        </a:rPr>
                        <a:t>R</a:t>
                      </a:r>
                      <a:r>
                        <a:rPr lang="en-US" altLang="ko-KR" sz="1600" dirty="0" smtClean="0">
                          <a:latin typeface="+mn-lt"/>
                        </a:rPr>
                        <a:t>epetitions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Type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Formula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Yes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No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Permutation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Yes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Yes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Permutation with</a:t>
                      </a:r>
                      <a:r>
                        <a:rPr lang="en-US" altLang="ko-KR" baseline="0" dirty="0" smtClean="0">
                          <a:latin typeface="+mn-lt"/>
                        </a:rPr>
                        <a:t> repetition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No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No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Combination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No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Yes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lt"/>
                        </a:rPr>
                        <a:t>Combination with repetition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9" name="그룹 28"/>
          <p:cNvGrpSpPr/>
          <p:nvPr/>
        </p:nvGrpSpPr>
        <p:grpSpPr>
          <a:xfrm>
            <a:off x="4585691" y="2217093"/>
            <a:ext cx="3735388" cy="3682248"/>
            <a:chOff x="4653036" y="2205616"/>
            <a:chExt cx="3735388" cy="3682248"/>
          </a:xfrm>
        </p:grpSpPr>
        <p:graphicFrame>
          <p:nvGraphicFramePr>
            <p:cNvPr id="30" name="개체 29"/>
            <p:cNvGraphicFramePr>
              <a:graphicFrameLocks noChangeAspect="1"/>
            </p:cNvGraphicFramePr>
            <p:nvPr>
              <p:extLst/>
            </p:nvPr>
          </p:nvGraphicFramePr>
          <p:xfrm>
            <a:off x="4653036" y="4109864"/>
            <a:ext cx="3735388" cy="777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91" name="수식" r:id="rId5" imgW="2197100" imgH="457200" progId="Equation.3">
                    <p:embed/>
                  </p:oleObj>
                </mc:Choice>
                <mc:Fallback>
                  <p:oleObj name="수식" r:id="rId5" imgW="2197100" imgH="457200" progId="Equation.3">
                    <p:embed/>
                    <p:pic>
                      <p:nvPicPr>
                        <p:cNvPr id="6" name="개체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3036" y="4109864"/>
                          <a:ext cx="3735388" cy="777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개체 30"/>
            <p:cNvGraphicFramePr>
              <a:graphicFrameLocks noChangeAspect="1"/>
            </p:cNvGraphicFramePr>
            <p:nvPr>
              <p:extLst/>
            </p:nvPr>
          </p:nvGraphicFramePr>
          <p:xfrm>
            <a:off x="5051788" y="2205616"/>
            <a:ext cx="2936875" cy="712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92" name="수식" r:id="rId13" imgW="1726920" imgH="419040" progId="Equation.3">
                    <p:embed/>
                  </p:oleObj>
                </mc:Choice>
                <mc:Fallback>
                  <p:oleObj name="수식" r:id="rId13" imgW="1726920" imgH="419040" progId="Equation.3">
                    <p:embed/>
                    <p:pic>
                      <p:nvPicPr>
                        <p:cNvPr id="7" name="개체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1788" y="2205616"/>
                          <a:ext cx="2936875" cy="712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개체 31"/>
            <p:cNvGraphicFramePr>
              <a:graphicFrameLocks noChangeAspect="1"/>
            </p:cNvGraphicFramePr>
            <p:nvPr>
              <p:extLst/>
            </p:nvPr>
          </p:nvGraphicFramePr>
          <p:xfrm>
            <a:off x="5147856" y="3295476"/>
            <a:ext cx="1339850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93" name="수식" r:id="rId9" imgW="787400" imgH="228600" progId="Equation.3">
                    <p:embed/>
                  </p:oleObj>
                </mc:Choice>
                <mc:Fallback>
                  <p:oleObj name="수식" r:id="rId9" imgW="787400" imgH="228600" progId="Equation.3">
                    <p:embed/>
                    <p:pic>
                      <p:nvPicPr>
                        <p:cNvPr id="8" name="개체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7856" y="3295476"/>
                          <a:ext cx="1339850" cy="388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개체 32"/>
            <p:cNvGraphicFramePr>
              <a:graphicFrameLocks noChangeAspect="1"/>
            </p:cNvGraphicFramePr>
            <p:nvPr>
              <p:extLst/>
            </p:nvPr>
          </p:nvGraphicFramePr>
          <p:xfrm>
            <a:off x="5461074" y="5109989"/>
            <a:ext cx="2138362" cy="777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94" name="수식" r:id="rId11" imgW="1257300" imgH="457200" progId="Equation.3">
                    <p:embed/>
                  </p:oleObj>
                </mc:Choice>
                <mc:Fallback>
                  <p:oleObj name="수식" r:id="rId11" imgW="1257300" imgH="457200" progId="Equation.3">
                    <p:embed/>
                    <p:pic>
                      <p:nvPicPr>
                        <p:cNvPr id="10" name="개체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074" y="5109989"/>
                          <a:ext cx="2138362" cy="777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Box 12"/>
          <p:cNvSpPr txBox="1"/>
          <p:nvPr/>
        </p:nvSpPr>
        <p:spPr>
          <a:xfrm>
            <a:off x="7189862" y="2771636"/>
            <a:ext cx="1846634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objects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89862" y="3563724"/>
            <a:ext cx="1846634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table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7812360" y="3217046"/>
            <a:ext cx="504056" cy="302433"/>
            <a:chOff x="5652120" y="2708920"/>
            <a:chExt cx="1080120" cy="648072"/>
          </a:xfrm>
        </p:grpSpPr>
        <p:sp>
          <p:nvSpPr>
            <p:cNvPr id="23" name="타원 22"/>
            <p:cNvSpPr/>
            <p:nvPr/>
          </p:nvSpPr>
          <p:spPr>
            <a:xfrm>
              <a:off x="5652120" y="3068960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228184" y="2708920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5940152" y="292494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5652120" y="2708920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/>
            <p:cNvSpPr/>
            <p:nvPr/>
          </p:nvSpPr>
          <p:spPr>
            <a:xfrm>
              <a:off x="6444208" y="2996952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7189862" y="4854586"/>
            <a:ext cx="1846634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Binomial theorem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89862" y="5805264"/>
            <a:ext cx="1846634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</a:t>
            </a: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objects,</a:t>
            </a:r>
          </a:p>
          <a:p>
            <a:pPr algn="ctr"/>
            <a:r>
              <a:rPr lang="en-US" altLang="ko-K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selection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21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"/>
                            </p:stCondLst>
                            <p:childTnLst>
                              <p:par>
                                <p:cTn id="57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  <p:bldP spid="13" grpId="1" animBg="1"/>
      <p:bldP spid="21" grpId="0" animBg="1"/>
      <p:bldP spid="21" grpId="1" animBg="1"/>
      <p:bldP spid="34" grpId="0" animBg="1"/>
      <p:bldP spid="34" grpId="1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Catalan Number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0246" name="내용 개체 틀 5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8085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000" dirty="0" smtClean="0"/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ko-KR" dirty="0" smtClean="0"/>
              <a:t>	H</a:t>
            </a:r>
            <a:r>
              <a:rPr lang="en-US" altLang="ko-KR" sz="2000" dirty="0" smtClean="0"/>
              <a:t>ow many paths from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(0,0)</a:t>
            </a:r>
            <a:r>
              <a:rPr lang="en-US" altLang="ko-KR" sz="2000" dirty="0" smtClean="0"/>
              <a:t> to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(3,3)</a:t>
            </a:r>
            <a:r>
              <a:rPr lang="en-US" altLang="ko-KR" sz="2000" dirty="0" smtClean="0"/>
              <a:t> without rising above the line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sz="2000" dirty="0" smtClean="0"/>
              <a:t> are in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altLang="ko-KR" sz="2000" dirty="0" smtClean="0"/>
              <a:t>-plane?</a:t>
            </a:r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endParaRPr lang="en-US" altLang="ko-KR" dirty="0" smtClean="0"/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endParaRPr lang="en-US" altLang="ko-KR" dirty="0" smtClean="0"/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endParaRPr lang="en-US" altLang="ko-KR" dirty="0" smtClean="0"/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endParaRPr lang="en-US" altLang="ko-KR" dirty="0" smtClean="0"/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endParaRPr lang="en-US" altLang="ko-KR" sz="1800" dirty="0" smtClean="0"/>
          </a:p>
          <a:p>
            <a:r>
              <a:rPr lang="en-US" altLang="ko-KR" dirty="0" smtClean="0">
                <a:solidFill>
                  <a:srgbClr val="C00000"/>
                </a:solidFill>
              </a:rPr>
              <a:t>Catalan Number</a:t>
            </a:r>
            <a:r>
              <a:rPr lang="en-US" altLang="ko-KR" dirty="0" smtClean="0"/>
              <a:t> :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ko-KR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/>
              <a:t> </a:t>
            </a: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515389"/>
              </p:ext>
            </p:extLst>
          </p:nvPr>
        </p:nvGraphicFramePr>
        <p:xfrm>
          <a:off x="1357313" y="4444529"/>
          <a:ext cx="5926137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9" name="수식" r:id="rId3" imgW="2920680" imgH="457200" progId="Equation.3">
                  <p:embed/>
                </p:oleObj>
              </mc:Choice>
              <mc:Fallback>
                <p:oleObj name="수식" r:id="rId3" imgW="292068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4444529"/>
                        <a:ext cx="5926137" cy="9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063860"/>
              </p:ext>
            </p:extLst>
          </p:nvPr>
        </p:nvGraphicFramePr>
        <p:xfrm>
          <a:off x="3275856" y="2632075"/>
          <a:ext cx="14589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0" name="수식" r:id="rId5" imgW="838080" imgH="457200" progId="Equation.3">
                  <p:embed/>
                </p:oleObj>
              </mc:Choice>
              <mc:Fallback>
                <p:oleObj name="수식" r:id="rId5" imgW="83808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2632075"/>
                        <a:ext cx="1458912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099079"/>
              </p:ext>
            </p:extLst>
          </p:nvPr>
        </p:nvGraphicFramePr>
        <p:xfrm>
          <a:off x="1365250" y="5592663"/>
          <a:ext cx="60642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1" name="수식" r:id="rId7" imgW="3238200" imgH="228600" progId="Equation.3">
                  <p:embed/>
                </p:oleObj>
              </mc:Choice>
              <mc:Fallback>
                <p:oleObj name="수식" r:id="rId7" imgW="3238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5592663"/>
                        <a:ext cx="60642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756472" y="2785688"/>
            <a:ext cx="785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+mn-lt"/>
              </a:rPr>
              <a:t>ways</a:t>
            </a:r>
            <a:endParaRPr lang="ko-KR" altLang="en-US" sz="2000" dirty="0">
              <a:latin typeface="+mn-lt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6516216" y="2132856"/>
            <a:ext cx="2016224" cy="2016224"/>
            <a:chOff x="6516216" y="2348880"/>
            <a:chExt cx="2016224" cy="2016224"/>
          </a:xfrm>
        </p:grpSpPr>
        <p:sp>
          <p:nvSpPr>
            <p:cNvPr id="29" name="TextBox 28"/>
            <p:cNvSpPr txBox="1"/>
            <p:nvPr/>
          </p:nvSpPr>
          <p:spPr>
            <a:xfrm>
              <a:off x="8172400" y="3964994"/>
              <a:ext cx="3600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ko-KR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588224" y="2348880"/>
              <a:ext cx="3600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i="1" dirty="0" smtClean="0">
                  <a:latin typeface="Times New Roman" pitchFamily="18" charset="0"/>
                  <a:cs typeface="Times New Roman" pitchFamily="18" charset="0"/>
                </a:rPr>
                <a:t>y</a:t>
              </a:r>
              <a:endParaRPr lang="ko-KR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2" name="그룹 31"/>
            <p:cNvGrpSpPr/>
            <p:nvPr/>
          </p:nvGrpSpPr>
          <p:grpSpPr>
            <a:xfrm>
              <a:off x="6588224" y="2636912"/>
              <a:ext cx="1571625" cy="1573212"/>
              <a:chOff x="2571735" y="4429132"/>
              <a:chExt cx="1571625" cy="1573212"/>
            </a:xfrm>
          </p:grpSpPr>
          <p:cxnSp>
            <p:nvCxnSpPr>
              <p:cNvPr id="33" name="직선 연결선 32"/>
              <p:cNvCxnSpPr/>
              <p:nvPr/>
            </p:nvCxnSpPr>
            <p:spPr bwMode="auto">
              <a:xfrm rot="5400000">
                <a:off x="2571736" y="4643446"/>
                <a:ext cx="1357322" cy="1357322"/>
              </a:xfrm>
              <a:prstGeom prst="line">
                <a:avLst/>
              </a:prstGeom>
              <a:ln w="9525">
                <a:solidFill>
                  <a:srgbClr val="FF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auto">
              <a:xfrm rot="16200000" flipH="1">
                <a:off x="1786716" y="5214151"/>
                <a:ext cx="1571625" cy="1588"/>
              </a:xfrm>
              <a:prstGeom prst="line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auto">
              <a:xfrm rot="5400000">
                <a:off x="2213756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 bwMode="auto">
              <a:xfrm rot="5400000">
                <a:off x="2501096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 bwMode="auto">
              <a:xfrm rot="5400000">
                <a:off x="2786841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 bwMode="auto">
              <a:xfrm rot="5400000">
                <a:off x="3071013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 bwMode="auto">
              <a:xfrm>
                <a:off x="2574910" y="6000757"/>
                <a:ext cx="1568450" cy="1587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 bwMode="auto">
              <a:xfrm>
                <a:off x="2573323" y="571501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 bwMode="auto">
              <a:xfrm>
                <a:off x="2573323" y="542767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 bwMode="auto">
              <a:xfrm>
                <a:off x="2573323" y="5143507"/>
                <a:ext cx="1284287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auto">
              <a:xfrm>
                <a:off x="2571735" y="4857760"/>
                <a:ext cx="128428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타원 45"/>
            <p:cNvSpPr/>
            <p:nvPr/>
          </p:nvSpPr>
          <p:spPr>
            <a:xfrm>
              <a:off x="7380312" y="3274020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/>
            <p:cNvSpPr/>
            <p:nvPr/>
          </p:nvSpPr>
          <p:spPr>
            <a:xfrm>
              <a:off x="6516216" y="4138116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3429024"/>
          </a:xfrm>
        </p:spPr>
        <p:txBody>
          <a:bodyPr/>
          <a:lstStyle/>
          <a:p>
            <a:pPr>
              <a:buNone/>
            </a:pPr>
            <a:r>
              <a:rPr lang="en-US" altLang="ko-KR" dirty="0" smtClean="0">
                <a:solidFill>
                  <a:srgbClr val="0000FF"/>
                </a:solidFill>
              </a:rPr>
              <a:t>Why ?</a:t>
            </a:r>
          </a:p>
          <a:p>
            <a:pPr lvl="1"/>
            <a:r>
              <a:rPr lang="en-US" altLang="ko-KR" dirty="0" smtClean="0">
                <a:solidFill>
                  <a:srgbClr val="C00000"/>
                </a:solidFill>
              </a:rPr>
              <a:t>R</a:t>
            </a:r>
            <a:r>
              <a:rPr lang="en-US" altLang="ko-KR" dirty="0" smtClean="0"/>
              <a:t> : one unit move to the right,    </a:t>
            </a:r>
            <a:r>
              <a:rPr lang="en-US" altLang="ko-KR" dirty="0" smtClean="0">
                <a:solidFill>
                  <a:srgbClr val="C00000"/>
                </a:solidFill>
              </a:rPr>
              <a:t>U</a:t>
            </a:r>
            <a:r>
              <a:rPr lang="en-US" altLang="ko-KR" dirty="0" smtClean="0"/>
              <a:t> : one unit move up</a:t>
            </a:r>
          </a:p>
          <a:p>
            <a:pPr lvl="1"/>
            <a:r>
              <a:rPr lang="en-US" altLang="ko-KR" dirty="0" smtClean="0"/>
              <a:t>Path from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(0,0)</a:t>
            </a:r>
            <a:r>
              <a:rPr lang="en-US" altLang="ko-KR" dirty="0" smtClean="0"/>
              <a:t> to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(3,3)</a:t>
            </a:r>
            <a:r>
              <a:rPr lang="en-US" altLang="ko-KR" dirty="0" smtClean="0"/>
              <a:t> : </a:t>
            </a:r>
            <a:r>
              <a:rPr lang="en-US" altLang="ko-KR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(6,3)</a:t>
            </a:r>
            <a:r>
              <a:rPr lang="en-US" altLang="ko-KR" dirty="0" smtClean="0"/>
              <a:t> ways for three R’s and three U’s</a:t>
            </a:r>
          </a:p>
          <a:p>
            <a:pPr lvl="1"/>
            <a:r>
              <a:rPr lang="en-US" altLang="ko-KR" dirty="0" smtClean="0"/>
              <a:t>Path with rising above the line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dirty="0" smtClean="0"/>
              <a:t> : How many ways?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ko-KR" dirty="0" smtClean="0"/>
              <a:t>	If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ko-KR" dirty="0" smtClean="0"/>
              <a:t> ways, then the answer is </a:t>
            </a:r>
            <a:r>
              <a:rPr lang="en-US" altLang="ko-KR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(6,3)</a:t>
            </a:r>
            <a:r>
              <a:rPr lang="en-US" altLang="ko-KR" dirty="0" smtClean="0">
                <a:solidFill>
                  <a:srgbClr val="0000FF"/>
                </a:solidFill>
              </a:rPr>
              <a:t> – </a:t>
            </a:r>
            <a:r>
              <a:rPr lang="en-US" altLang="ko-KR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ko-KR" dirty="0" smtClean="0"/>
              <a:t>  </a:t>
            </a:r>
          </a:p>
          <a:p>
            <a:pPr lvl="1"/>
            <a:r>
              <a:rPr lang="en-US" altLang="ko-KR" dirty="0" smtClean="0"/>
              <a:t>A path with two R’s and four U’s reaches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(2,4)</a:t>
            </a:r>
            <a:r>
              <a:rPr lang="en-US" altLang="ko-KR" dirty="0" smtClean="0"/>
              <a:t> and always goes above the line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dirty="0" smtClean="0"/>
              <a:t>. The above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ko-KR" dirty="0" smtClean="0"/>
              <a:t> is equal to the ways from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(0,0)</a:t>
            </a:r>
            <a:r>
              <a:rPr lang="en-US" altLang="ko-KR" dirty="0" smtClean="0"/>
              <a:t> to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(2,4), </a:t>
            </a:r>
            <a:r>
              <a:rPr lang="en-US" altLang="ko-KR" dirty="0" smtClean="0"/>
              <a:t> that is, </a:t>
            </a:r>
            <a:r>
              <a:rPr lang="en-US" altLang="ko-KR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ko-KR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ko-KR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(6,2)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grpSp>
        <p:nvGrpSpPr>
          <p:cNvPr id="43" name="그룹 42"/>
          <p:cNvGrpSpPr/>
          <p:nvPr/>
        </p:nvGrpSpPr>
        <p:grpSpPr>
          <a:xfrm>
            <a:off x="1643053" y="4498994"/>
            <a:ext cx="1571625" cy="1573212"/>
            <a:chOff x="2571735" y="4429132"/>
            <a:chExt cx="1571625" cy="1573212"/>
          </a:xfrm>
        </p:grpSpPr>
        <p:cxnSp>
          <p:nvCxnSpPr>
            <p:cNvPr id="6" name="직선 연결선 5"/>
            <p:cNvCxnSpPr/>
            <p:nvPr/>
          </p:nvCxnSpPr>
          <p:spPr bwMode="auto">
            <a:xfrm rot="5400000">
              <a:off x="2571736" y="4643446"/>
              <a:ext cx="1357322" cy="1357322"/>
            </a:xfrm>
            <a:prstGeom prst="line">
              <a:avLst/>
            </a:prstGeom>
            <a:ln w="9525">
              <a:solidFill>
                <a:srgbClr val="FF00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 bwMode="auto">
            <a:xfrm rot="16200000" flipH="1">
              <a:off x="1786716" y="5214151"/>
              <a:ext cx="1571625" cy="1588"/>
            </a:xfrm>
            <a:prstGeom prst="line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 bwMode="auto">
            <a:xfrm rot="5400000">
              <a:off x="2213756" y="5357026"/>
              <a:ext cx="1285875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 bwMode="auto">
            <a:xfrm rot="5400000">
              <a:off x="2501096" y="5357026"/>
              <a:ext cx="1285875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auto">
            <a:xfrm rot="5400000">
              <a:off x="2786841" y="5357026"/>
              <a:ext cx="1285875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auto">
            <a:xfrm rot="5400000">
              <a:off x="3071013" y="5357026"/>
              <a:ext cx="1285875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auto">
            <a:xfrm>
              <a:off x="2574910" y="6000757"/>
              <a:ext cx="1568450" cy="1587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auto">
            <a:xfrm>
              <a:off x="2573323" y="5715016"/>
              <a:ext cx="1284287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auto">
            <a:xfrm>
              <a:off x="2573323" y="5427676"/>
              <a:ext cx="1284287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auto">
            <a:xfrm>
              <a:off x="2573323" y="5143507"/>
              <a:ext cx="1284287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auto">
            <a:xfrm>
              <a:off x="2571735" y="4857760"/>
              <a:ext cx="1284288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자유형 55"/>
          <p:cNvSpPr/>
          <p:nvPr/>
        </p:nvSpPr>
        <p:spPr>
          <a:xfrm>
            <a:off x="1648877" y="5214796"/>
            <a:ext cx="860080" cy="851026"/>
          </a:xfrm>
          <a:custGeom>
            <a:avLst/>
            <a:gdLst>
              <a:gd name="connsiteX0" fmla="*/ 0 w 860080"/>
              <a:gd name="connsiteY0" fmla="*/ 851026 h 851026"/>
              <a:gd name="connsiteX1" fmla="*/ 289711 w 860080"/>
              <a:gd name="connsiteY1" fmla="*/ 851026 h 851026"/>
              <a:gd name="connsiteX2" fmla="*/ 289711 w 860080"/>
              <a:gd name="connsiteY2" fmla="*/ 289711 h 851026"/>
              <a:gd name="connsiteX3" fmla="*/ 851026 w 860080"/>
              <a:gd name="connsiteY3" fmla="*/ 289711 h 851026"/>
              <a:gd name="connsiteX4" fmla="*/ 860080 w 860080"/>
              <a:gd name="connsiteY4" fmla="*/ 0 h 85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0080" h="851026">
                <a:moveTo>
                  <a:pt x="0" y="851026"/>
                </a:moveTo>
                <a:lnTo>
                  <a:pt x="289711" y="851026"/>
                </a:lnTo>
                <a:lnTo>
                  <a:pt x="289711" y="289711"/>
                </a:lnTo>
                <a:lnTo>
                  <a:pt x="851026" y="289711"/>
                </a:lnTo>
                <a:lnTo>
                  <a:pt x="860080" y="0"/>
                </a:ln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86"/>
          <p:cNvGrpSpPr/>
          <p:nvPr/>
        </p:nvGrpSpPr>
        <p:grpSpPr>
          <a:xfrm>
            <a:off x="6136783" y="4504622"/>
            <a:ext cx="1578490" cy="1570252"/>
            <a:chOff x="6136783" y="4504622"/>
            <a:chExt cx="1578490" cy="1570252"/>
          </a:xfrm>
        </p:grpSpPr>
        <p:grpSp>
          <p:nvGrpSpPr>
            <p:cNvPr id="44" name="그룹 43"/>
            <p:cNvGrpSpPr/>
            <p:nvPr/>
          </p:nvGrpSpPr>
          <p:grpSpPr>
            <a:xfrm>
              <a:off x="6136783" y="4504622"/>
              <a:ext cx="1578490" cy="1567584"/>
              <a:chOff x="2571735" y="4429132"/>
              <a:chExt cx="1571625" cy="1573212"/>
            </a:xfrm>
          </p:grpSpPr>
          <p:cxnSp>
            <p:nvCxnSpPr>
              <p:cNvPr id="45" name="직선 연결선 44"/>
              <p:cNvCxnSpPr/>
              <p:nvPr/>
            </p:nvCxnSpPr>
            <p:spPr bwMode="auto">
              <a:xfrm rot="5400000">
                <a:off x="2571736" y="4643446"/>
                <a:ext cx="1357322" cy="1357322"/>
              </a:xfrm>
              <a:prstGeom prst="line">
                <a:avLst/>
              </a:prstGeom>
              <a:ln w="9525">
                <a:solidFill>
                  <a:srgbClr val="FF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auto">
              <a:xfrm rot="16200000" flipH="1">
                <a:off x="1786716" y="5214151"/>
                <a:ext cx="1571625" cy="1588"/>
              </a:xfrm>
              <a:prstGeom prst="line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 bwMode="auto">
              <a:xfrm rot="5400000">
                <a:off x="2213756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 bwMode="auto">
              <a:xfrm rot="5400000">
                <a:off x="2501096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auto">
              <a:xfrm rot="5400000">
                <a:off x="2786841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auto">
              <a:xfrm rot="5400000">
                <a:off x="3071013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auto">
              <a:xfrm>
                <a:off x="2574910" y="6000757"/>
                <a:ext cx="1568450" cy="1587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auto">
              <a:xfrm>
                <a:off x="2573323" y="571501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 bwMode="auto">
              <a:xfrm>
                <a:off x="2573323" y="542767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 bwMode="auto">
              <a:xfrm>
                <a:off x="2573323" y="5143507"/>
                <a:ext cx="1284287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 bwMode="auto">
              <a:xfrm>
                <a:off x="2571735" y="4857760"/>
                <a:ext cx="128428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자유형 56"/>
            <p:cNvSpPr/>
            <p:nvPr/>
          </p:nvSpPr>
          <p:spPr>
            <a:xfrm>
              <a:off x="6143636" y="4929197"/>
              <a:ext cx="581953" cy="1145677"/>
            </a:xfrm>
            <a:custGeom>
              <a:avLst/>
              <a:gdLst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9711 w 579422"/>
                <a:gd name="connsiteY2" fmla="*/ 579422 h 1149790"/>
                <a:gd name="connsiteX3" fmla="*/ 289711 w 579422"/>
                <a:gd name="connsiteY3" fmla="*/ 0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289711 w 579422"/>
                <a:gd name="connsiteY3" fmla="*/ 0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289711 w 579422"/>
                <a:gd name="connsiteY3" fmla="*/ 0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289711 w 579422"/>
                <a:gd name="connsiteY3" fmla="*/ 0 h 1149790"/>
                <a:gd name="connsiteX4" fmla="*/ 579422 w 579422"/>
                <a:gd name="connsiteY4" fmla="*/ 0 h 1149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422" h="1149790">
                  <a:moveTo>
                    <a:pt x="0" y="1149790"/>
                  </a:moveTo>
                  <a:lnTo>
                    <a:pt x="280658" y="1140737"/>
                  </a:lnTo>
                  <a:cubicBezTo>
                    <a:pt x="281512" y="952364"/>
                    <a:pt x="282367" y="763990"/>
                    <a:pt x="283221" y="575617"/>
                  </a:cubicBezTo>
                  <a:cubicBezTo>
                    <a:pt x="285384" y="383745"/>
                    <a:pt x="287548" y="191872"/>
                    <a:pt x="289711" y="0"/>
                  </a:cubicBezTo>
                  <a:lnTo>
                    <a:pt x="579422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643306" y="5143512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+mn-lt"/>
              </a:rPr>
              <a:t>R U </a:t>
            </a:r>
            <a:r>
              <a:rPr lang="en-US" altLang="ko-KR" b="1" dirty="0" err="1" smtClean="0">
                <a:solidFill>
                  <a:srgbClr val="FF00FF"/>
                </a:solidFill>
                <a:latin typeface="+mn-lt"/>
              </a:rPr>
              <a:t>U</a:t>
            </a:r>
            <a:r>
              <a:rPr lang="en-US" altLang="ko-KR" dirty="0" smtClean="0">
                <a:latin typeface="+mn-lt"/>
              </a:rPr>
              <a:t> </a:t>
            </a:r>
            <a:r>
              <a:rPr lang="en-US" altLang="ko-KR" dirty="0" smtClean="0">
                <a:solidFill>
                  <a:srgbClr val="C00000"/>
                </a:solidFill>
                <a:latin typeface="+mn-lt"/>
              </a:rPr>
              <a:t>R </a:t>
            </a:r>
            <a:r>
              <a:rPr lang="en-US" altLang="ko-KR" dirty="0" err="1" smtClean="0">
                <a:solidFill>
                  <a:srgbClr val="C00000"/>
                </a:solidFill>
                <a:latin typeface="+mn-lt"/>
              </a:rPr>
              <a:t>R</a:t>
            </a:r>
            <a:r>
              <a:rPr lang="en-US" altLang="ko-KR" dirty="0" smtClean="0">
                <a:solidFill>
                  <a:srgbClr val="C00000"/>
                </a:solidFill>
                <a:latin typeface="+mn-lt"/>
              </a:rPr>
              <a:t> U</a:t>
            </a:r>
          </a:p>
        </p:txBody>
      </p:sp>
      <p:grpSp>
        <p:nvGrpSpPr>
          <p:cNvPr id="90" name="그룹 89"/>
          <p:cNvGrpSpPr/>
          <p:nvPr/>
        </p:nvGrpSpPr>
        <p:grpSpPr>
          <a:xfrm>
            <a:off x="3643306" y="5572140"/>
            <a:ext cx="1785950" cy="642942"/>
            <a:chOff x="3643306" y="5572140"/>
            <a:chExt cx="1785950" cy="642942"/>
          </a:xfrm>
        </p:grpSpPr>
        <p:sp>
          <p:nvSpPr>
            <p:cNvPr id="84" name="TextBox 83"/>
            <p:cNvSpPr txBox="1"/>
            <p:nvPr/>
          </p:nvSpPr>
          <p:spPr>
            <a:xfrm>
              <a:off x="3643306" y="5845750"/>
              <a:ext cx="1785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>
                  <a:solidFill>
                    <a:srgbClr val="000000"/>
                  </a:solidFill>
                  <a:latin typeface="Arial"/>
                </a:rPr>
                <a:t>R U </a:t>
              </a:r>
              <a:r>
                <a:rPr lang="en-US" altLang="ko-KR" b="1" dirty="0" err="1" smtClean="0">
                  <a:solidFill>
                    <a:srgbClr val="FF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 R</a:t>
              </a:r>
              <a:endParaRPr lang="ko-KR" altLang="en-US" dirty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86" name="아래쪽 화살표 85"/>
            <p:cNvSpPr/>
            <p:nvPr/>
          </p:nvSpPr>
          <p:spPr>
            <a:xfrm>
              <a:off x="4429124" y="5572140"/>
              <a:ext cx="214314" cy="273610"/>
            </a:xfrm>
            <a:prstGeom prst="down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3786182" y="4572008"/>
            <a:ext cx="1500198" cy="400110"/>
          </a:xfrm>
          <a:prstGeom prst="rect">
            <a:avLst/>
          </a:prstGeom>
          <a:solidFill>
            <a:srgbClr val="3366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solidFill>
                  <a:schemeClr val="bg1"/>
                </a:solidFill>
                <a:latin typeface="+mn-lt"/>
              </a:rPr>
              <a:t>1:1 &amp; onto</a:t>
            </a:r>
            <a:endParaRPr lang="ko-KR" altLang="en-US" sz="2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그룹 112"/>
          <p:cNvGrpSpPr/>
          <p:nvPr/>
        </p:nvGrpSpPr>
        <p:grpSpPr>
          <a:xfrm>
            <a:off x="1643053" y="928670"/>
            <a:ext cx="6072219" cy="1575881"/>
            <a:chOff x="1643053" y="924425"/>
            <a:chExt cx="6072219" cy="1575881"/>
          </a:xfrm>
        </p:grpSpPr>
        <p:grpSp>
          <p:nvGrpSpPr>
            <p:cNvPr id="30" name="그룹 29"/>
            <p:cNvGrpSpPr/>
            <p:nvPr/>
          </p:nvGrpSpPr>
          <p:grpSpPr>
            <a:xfrm>
              <a:off x="1643053" y="924425"/>
              <a:ext cx="1571625" cy="1573212"/>
              <a:chOff x="2571735" y="4429132"/>
              <a:chExt cx="1571625" cy="1573212"/>
            </a:xfrm>
          </p:grpSpPr>
          <p:cxnSp>
            <p:nvCxnSpPr>
              <p:cNvPr id="31" name="직선 연결선 30"/>
              <p:cNvCxnSpPr/>
              <p:nvPr/>
            </p:nvCxnSpPr>
            <p:spPr bwMode="auto">
              <a:xfrm rot="5400000">
                <a:off x="2571736" y="4643446"/>
                <a:ext cx="1357322" cy="1357322"/>
              </a:xfrm>
              <a:prstGeom prst="line">
                <a:avLst/>
              </a:prstGeom>
              <a:ln w="9525">
                <a:solidFill>
                  <a:srgbClr val="FF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 bwMode="auto">
              <a:xfrm rot="16200000" flipH="1">
                <a:off x="1786716" y="5214151"/>
                <a:ext cx="1571625" cy="1588"/>
              </a:xfrm>
              <a:prstGeom prst="line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 bwMode="auto">
              <a:xfrm rot="5400000">
                <a:off x="2213756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auto">
              <a:xfrm rot="5400000">
                <a:off x="2501096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auto">
              <a:xfrm rot="5400000">
                <a:off x="2786841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 bwMode="auto">
              <a:xfrm rot="5400000">
                <a:off x="3071013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 bwMode="auto">
              <a:xfrm>
                <a:off x="2574910" y="6000757"/>
                <a:ext cx="1568450" cy="1587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 bwMode="auto">
              <a:xfrm>
                <a:off x="2573323" y="571501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 bwMode="auto">
              <a:xfrm>
                <a:off x="2573323" y="542767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 bwMode="auto">
              <a:xfrm>
                <a:off x="2573323" y="5143507"/>
                <a:ext cx="1284287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 bwMode="auto">
              <a:xfrm>
                <a:off x="2571735" y="4857760"/>
                <a:ext cx="128428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그룹 41"/>
            <p:cNvGrpSpPr/>
            <p:nvPr/>
          </p:nvGrpSpPr>
          <p:grpSpPr>
            <a:xfrm>
              <a:off x="6143647" y="924425"/>
              <a:ext cx="1571625" cy="1573212"/>
              <a:chOff x="2571735" y="4429132"/>
              <a:chExt cx="1571625" cy="1573212"/>
            </a:xfrm>
          </p:grpSpPr>
          <p:cxnSp>
            <p:nvCxnSpPr>
              <p:cNvPr id="43" name="직선 연결선 42"/>
              <p:cNvCxnSpPr/>
              <p:nvPr/>
            </p:nvCxnSpPr>
            <p:spPr bwMode="auto">
              <a:xfrm rot="5400000">
                <a:off x="2571736" y="4643446"/>
                <a:ext cx="1357322" cy="1357322"/>
              </a:xfrm>
              <a:prstGeom prst="line">
                <a:avLst/>
              </a:prstGeom>
              <a:ln w="9525">
                <a:solidFill>
                  <a:srgbClr val="FF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auto">
              <a:xfrm rot="16200000" flipH="1">
                <a:off x="1786716" y="5214151"/>
                <a:ext cx="1571625" cy="1588"/>
              </a:xfrm>
              <a:prstGeom prst="line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auto">
              <a:xfrm rot="5400000">
                <a:off x="2213756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auto">
              <a:xfrm rot="5400000">
                <a:off x="2501096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 bwMode="auto">
              <a:xfrm rot="5400000">
                <a:off x="2786841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 bwMode="auto">
              <a:xfrm rot="5400000">
                <a:off x="3071013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auto">
              <a:xfrm>
                <a:off x="2574910" y="6000757"/>
                <a:ext cx="1568450" cy="1587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auto">
              <a:xfrm>
                <a:off x="2573323" y="571501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auto">
              <a:xfrm>
                <a:off x="2573323" y="542767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auto">
              <a:xfrm>
                <a:off x="2573323" y="5143507"/>
                <a:ext cx="1284287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 bwMode="auto">
              <a:xfrm>
                <a:off x="2571735" y="4857760"/>
                <a:ext cx="128428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자유형 53"/>
            <p:cNvSpPr/>
            <p:nvPr/>
          </p:nvSpPr>
          <p:spPr>
            <a:xfrm>
              <a:off x="1648877" y="1640227"/>
              <a:ext cx="860080" cy="851026"/>
            </a:xfrm>
            <a:custGeom>
              <a:avLst/>
              <a:gdLst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89711 w 860080"/>
                <a:gd name="connsiteY2" fmla="*/ 289711 h 851026"/>
                <a:gd name="connsiteX3" fmla="*/ 851026 w 860080"/>
                <a:gd name="connsiteY3" fmla="*/ 289711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89711 w 860080"/>
                <a:gd name="connsiteY2" fmla="*/ 289711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89711 w 860080"/>
                <a:gd name="connsiteY2" fmla="*/ 289711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8575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8575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8575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8575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8575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8575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8575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8575 h 851026"/>
                <a:gd name="connsiteX3" fmla="*/ 279917 w 860080"/>
                <a:gd name="connsiteY3" fmla="*/ 2823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2823 h 851026"/>
                <a:gd name="connsiteX3" fmla="*/ 860080 w 860080"/>
                <a:gd name="connsiteY3" fmla="*/ 0 h 851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080" h="851026">
                  <a:moveTo>
                    <a:pt x="0" y="851026"/>
                  </a:moveTo>
                  <a:lnTo>
                    <a:pt x="289711" y="851026"/>
                  </a:lnTo>
                  <a:lnTo>
                    <a:pt x="279917" y="2823"/>
                  </a:lnTo>
                  <a:lnTo>
                    <a:pt x="860080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자유형 54"/>
            <p:cNvSpPr/>
            <p:nvPr/>
          </p:nvSpPr>
          <p:spPr>
            <a:xfrm>
              <a:off x="6146167" y="1350516"/>
              <a:ext cx="579422" cy="1149790"/>
            </a:xfrm>
            <a:custGeom>
              <a:avLst/>
              <a:gdLst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9711 w 579422"/>
                <a:gd name="connsiteY2" fmla="*/ 579422 h 1149790"/>
                <a:gd name="connsiteX3" fmla="*/ 289711 w 579422"/>
                <a:gd name="connsiteY3" fmla="*/ 0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289711 w 579422"/>
                <a:gd name="connsiteY3" fmla="*/ 0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289711 w 579422"/>
                <a:gd name="connsiteY3" fmla="*/ 0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289711 w 579422"/>
                <a:gd name="connsiteY3" fmla="*/ 0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568973 w 579422"/>
                <a:gd name="connsiteY3" fmla="*/ 578286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568973 w 579422"/>
                <a:gd name="connsiteY3" fmla="*/ 578286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568973 w 579422"/>
                <a:gd name="connsiteY3" fmla="*/ 578286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568973 w 579422"/>
                <a:gd name="connsiteY3" fmla="*/ 578286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568973 w 579422"/>
                <a:gd name="connsiteY3" fmla="*/ 578286 h 1149790"/>
                <a:gd name="connsiteX4" fmla="*/ 579422 w 579422"/>
                <a:gd name="connsiteY4" fmla="*/ 0 h 1149790"/>
                <a:gd name="connsiteX0" fmla="*/ 0 w 579422"/>
                <a:gd name="connsiteY0" fmla="*/ 1149790 h 1149790"/>
                <a:gd name="connsiteX1" fmla="*/ 280658 w 579422"/>
                <a:gd name="connsiteY1" fmla="*/ 1140737 h 1149790"/>
                <a:gd name="connsiteX2" fmla="*/ 283221 w 579422"/>
                <a:gd name="connsiteY2" fmla="*/ 575617 h 1149790"/>
                <a:gd name="connsiteX3" fmla="*/ 568973 w 579422"/>
                <a:gd name="connsiteY3" fmla="*/ 578286 h 1149790"/>
                <a:gd name="connsiteX4" fmla="*/ 579422 w 579422"/>
                <a:gd name="connsiteY4" fmla="*/ 0 h 1149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422" h="1149790">
                  <a:moveTo>
                    <a:pt x="0" y="1149790"/>
                  </a:moveTo>
                  <a:lnTo>
                    <a:pt x="280658" y="1140737"/>
                  </a:lnTo>
                  <a:cubicBezTo>
                    <a:pt x="281512" y="952364"/>
                    <a:pt x="282367" y="763990"/>
                    <a:pt x="283221" y="575617"/>
                  </a:cubicBezTo>
                  <a:cubicBezTo>
                    <a:pt x="428812" y="579538"/>
                    <a:pt x="499559" y="572296"/>
                    <a:pt x="568973" y="578286"/>
                  </a:cubicBezTo>
                  <a:lnTo>
                    <a:pt x="579422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643306" y="1211753"/>
              <a:ext cx="178595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>
                  <a:latin typeface="+mn-lt"/>
                </a:rPr>
                <a:t>R U </a:t>
              </a:r>
              <a:r>
                <a:rPr lang="en-US" altLang="ko-KR" b="1" dirty="0" err="1" smtClean="0">
                  <a:solidFill>
                    <a:srgbClr val="FF00FF"/>
                  </a:solidFill>
                  <a:latin typeface="+mn-lt"/>
                </a:rPr>
                <a:t>U</a:t>
              </a:r>
              <a:r>
                <a:rPr lang="en-US" altLang="ko-KR" dirty="0" smtClean="0">
                  <a:latin typeface="+mn-lt"/>
                </a:rPr>
                <a:t> </a:t>
              </a:r>
              <a:r>
                <a:rPr lang="en-US" altLang="ko-KR" dirty="0" err="1" smtClean="0">
                  <a:solidFill>
                    <a:srgbClr val="C00000"/>
                  </a:solidFill>
                  <a:latin typeface="+mn-lt"/>
                </a:rPr>
                <a:t>U</a:t>
              </a:r>
              <a:r>
                <a:rPr lang="en-US" altLang="ko-KR" dirty="0" smtClean="0">
                  <a:solidFill>
                    <a:srgbClr val="C00000"/>
                  </a:solidFill>
                  <a:latin typeface="+mn-lt"/>
                </a:rPr>
                <a:t> R </a:t>
              </a:r>
              <a:r>
                <a:rPr lang="en-US" altLang="ko-KR" dirty="0" err="1" smtClean="0">
                  <a:solidFill>
                    <a:srgbClr val="C00000"/>
                  </a:solidFill>
                  <a:latin typeface="+mn-lt"/>
                </a:rPr>
                <a:t>R</a:t>
              </a:r>
              <a:endParaRPr lang="en-US" altLang="ko-KR" dirty="0" smtClean="0">
                <a:solidFill>
                  <a:srgbClr val="C00000"/>
                </a:solidFill>
                <a:latin typeface="+mn-lt"/>
              </a:endParaRPr>
            </a:p>
            <a:p>
              <a:pPr algn="ctr"/>
              <a:endParaRPr lang="en-US" altLang="ko-KR" sz="800" dirty="0" smtClean="0">
                <a:latin typeface="+mn-lt"/>
                <a:sym typeface="Symbol"/>
              </a:endParaRPr>
            </a:p>
            <a:p>
              <a:pPr algn="ctr"/>
              <a:r>
                <a:rPr lang="en-US" altLang="ko-KR" dirty="0" smtClean="0">
                  <a:latin typeface="+mn-lt"/>
                  <a:sym typeface="Symbol"/>
                </a:rPr>
                <a:t></a:t>
              </a:r>
            </a:p>
            <a:p>
              <a:pPr algn="ctr"/>
              <a:endParaRPr lang="en-US" altLang="ko-KR" sz="800" dirty="0" smtClean="0">
                <a:latin typeface="+mn-lt"/>
              </a:endParaRPr>
            </a:p>
            <a:p>
              <a:pPr algn="ctr"/>
              <a:r>
                <a:rPr lang="en-US" altLang="ko-KR" dirty="0" smtClean="0">
                  <a:solidFill>
                    <a:srgbClr val="000000"/>
                  </a:solidFill>
                  <a:latin typeface="Arial"/>
                </a:rPr>
                <a:t>R U </a:t>
              </a:r>
              <a:r>
                <a:rPr lang="en-US" altLang="ko-KR" b="1" dirty="0" err="1" smtClean="0">
                  <a:solidFill>
                    <a:srgbClr val="FF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R U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U</a:t>
              </a:r>
              <a:endParaRPr lang="ko-KR" altLang="en-US" dirty="0">
                <a:solidFill>
                  <a:srgbClr val="0000FF"/>
                </a:solidFill>
                <a:latin typeface="+mn-lt"/>
              </a:endParaRP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1643043" y="2647427"/>
            <a:ext cx="6072229" cy="1573212"/>
            <a:chOff x="1643043" y="2714620"/>
            <a:chExt cx="6072229" cy="1573212"/>
          </a:xfrm>
        </p:grpSpPr>
        <p:grpSp>
          <p:nvGrpSpPr>
            <p:cNvPr id="57" name="그룹 56"/>
            <p:cNvGrpSpPr/>
            <p:nvPr/>
          </p:nvGrpSpPr>
          <p:grpSpPr>
            <a:xfrm>
              <a:off x="1643053" y="2714620"/>
              <a:ext cx="1571625" cy="1573212"/>
              <a:chOff x="2571735" y="4429132"/>
              <a:chExt cx="1571625" cy="1573212"/>
            </a:xfrm>
          </p:grpSpPr>
          <p:cxnSp>
            <p:nvCxnSpPr>
              <p:cNvPr id="58" name="직선 연결선 57"/>
              <p:cNvCxnSpPr/>
              <p:nvPr/>
            </p:nvCxnSpPr>
            <p:spPr bwMode="auto">
              <a:xfrm rot="5400000">
                <a:off x="2571736" y="4643446"/>
                <a:ext cx="1357322" cy="1357322"/>
              </a:xfrm>
              <a:prstGeom prst="line">
                <a:avLst/>
              </a:prstGeom>
              <a:ln w="9525">
                <a:solidFill>
                  <a:srgbClr val="FF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 bwMode="auto">
              <a:xfrm rot="16200000" flipH="1">
                <a:off x="1786716" y="5214151"/>
                <a:ext cx="1571625" cy="1588"/>
              </a:xfrm>
              <a:prstGeom prst="line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 bwMode="auto">
              <a:xfrm rot="5400000">
                <a:off x="2213756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 bwMode="auto">
              <a:xfrm rot="5400000">
                <a:off x="2501096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 bwMode="auto">
              <a:xfrm rot="5400000">
                <a:off x="2786841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/>
              <p:cNvCxnSpPr/>
              <p:nvPr/>
            </p:nvCxnSpPr>
            <p:spPr bwMode="auto">
              <a:xfrm rot="5400000">
                <a:off x="3071013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 bwMode="auto">
              <a:xfrm>
                <a:off x="2574910" y="6000757"/>
                <a:ext cx="1568450" cy="1587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 bwMode="auto">
              <a:xfrm>
                <a:off x="2573323" y="571501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 bwMode="auto">
              <a:xfrm>
                <a:off x="2573323" y="542767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 bwMode="auto">
              <a:xfrm>
                <a:off x="2573323" y="5143507"/>
                <a:ext cx="1284287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 bwMode="auto">
              <a:xfrm>
                <a:off x="2571735" y="4857760"/>
                <a:ext cx="128428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그룹 68"/>
            <p:cNvGrpSpPr/>
            <p:nvPr/>
          </p:nvGrpSpPr>
          <p:grpSpPr>
            <a:xfrm>
              <a:off x="6143647" y="2714620"/>
              <a:ext cx="1571625" cy="1573212"/>
              <a:chOff x="2571735" y="4429132"/>
              <a:chExt cx="1571625" cy="1573212"/>
            </a:xfrm>
          </p:grpSpPr>
          <p:cxnSp>
            <p:nvCxnSpPr>
              <p:cNvPr id="70" name="직선 연결선 69"/>
              <p:cNvCxnSpPr/>
              <p:nvPr/>
            </p:nvCxnSpPr>
            <p:spPr bwMode="auto">
              <a:xfrm rot="5400000">
                <a:off x="2571736" y="4643446"/>
                <a:ext cx="1357322" cy="1357322"/>
              </a:xfrm>
              <a:prstGeom prst="line">
                <a:avLst/>
              </a:prstGeom>
              <a:ln w="9525">
                <a:solidFill>
                  <a:srgbClr val="FF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/>
              <p:cNvCxnSpPr/>
              <p:nvPr/>
            </p:nvCxnSpPr>
            <p:spPr bwMode="auto">
              <a:xfrm rot="16200000" flipH="1">
                <a:off x="1786716" y="5214151"/>
                <a:ext cx="1571625" cy="1588"/>
              </a:xfrm>
              <a:prstGeom prst="line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 bwMode="auto">
              <a:xfrm rot="5400000">
                <a:off x="2213756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 bwMode="auto">
              <a:xfrm rot="5400000">
                <a:off x="2501096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/>
              <p:cNvCxnSpPr/>
              <p:nvPr/>
            </p:nvCxnSpPr>
            <p:spPr bwMode="auto">
              <a:xfrm rot="5400000">
                <a:off x="2786841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 bwMode="auto">
              <a:xfrm rot="5400000">
                <a:off x="3071013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 bwMode="auto">
              <a:xfrm>
                <a:off x="2574910" y="6000757"/>
                <a:ext cx="1568450" cy="1587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/>
              <p:cNvCxnSpPr/>
              <p:nvPr/>
            </p:nvCxnSpPr>
            <p:spPr bwMode="auto">
              <a:xfrm>
                <a:off x="2573323" y="571501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/>
              <p:nvPr/>
            </p:nvCxnSpPr>
            <p:spPr bwMode="auto">
              <a:xfrm>
                <a:off x="2573323" y="542767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/>
              <p:cNvCxnSpPr/>
              <p:nvPr/>
            </p:nvCxnSpPr>
            <p:spPr bwMode="auto">
              <a:xfrm>
                <a:off x="2573323" y="5143507"/>
                <a:ext cx="1284287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 bwMode="auto">
              <a:xfrm>
                <a:off x="2571735" y="4857760"/>
                <a:ext cx="128428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자유형 80"/>
            <p:cNvSpPr/>
            <p:nvPr/>
          </p:nvSpPr>
          <p:spPr>
            <a:xfrm>
              <a:off x="1643043" y="3430422"/>
              <a:ext cx="865914" cy="851026"/>
            </a:xfrm>
            <a:custGeom>
              <a:avLst/>
              <a:gdLst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89711 w 860080"/>
                <a:gd name="connsiteY2" fmla="*/ 289711 h 851026"/>
                <a:gd name="connsiteX3" fmla="*/ 851026 w 860080"/>
                <a:gd name="connsiteY3" fmla="*/ 289711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570082 h 851026"/>
                <a:gd name="connsiteX3" fmla="*/ 851026 w 860080"/>
                <a:gd name="connsiteY3" fmla="*/ 289711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570082 h 851026"/>
                <a:gd name="connsiteX3" fmla="*/ 565669 w 860080"/>
                <a:gd name="connsiteY3" fmla="*/ 570082 h 851026"/>
                <a:gd name="connsiteX4" fmla="*/ 860080 w 860080"/>
                <a:gd name="connsiteY4" fmla="*/ 0 h 851026"/>
                <a:gd name="connsiteX0" fmla="*/ 0 w 860080"/>
                <a:gd name="connsiteY0" fmla="*/ 852448 h 852448"/>
                <a:gd name="connsiteX1" fmla="*/ 289711 w 860080"/>
                <a:gd name="connsiteY1" fmla="*/ 852448 h 852448"/>
                <a:gd name="connsiteX2" fmla="*/ 279917 w 860080"/>
                <a:gd name="connsiteY2" fmla="*/ 571504 h 852448"/>
                <a:gd name="connsiteX3" fmla="*/ 565669 w 860080"/>
                <a:gd name="connsiteY3" fmla="*/ 571504 h 852448"/>
                <a:gd name="connsiteX4" fmla="*/ 565669 w 860080"/>
                <a:gd name="connsiteY4" fmla="*/ 0 h 852448"/>
                <a:gd name="connsiteX5" fmla="*/ 860080 w 860080"/>
                <a:gd name="connsiteY5" fmla="*/ 1422 h 852448"/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79917 w 860080"/>
                <a:gd name="connsiteY2" fmla="*/ 570082 h 851026"/>
                <a:gd name="connsiteX3" fmla="*/ 565669 w 860080"/>
                <a:gd name="connsiteY3" fmla="*/ 570082 h 851026"/>
                <a:gd name="connsiteX4" fmla="*/ 860080 w 860080"/>
                <a:gd name="connsiteY4" fmla="*/ 0 h 851026"/>
                <a:gd name="connsiteX0" fmla="*/ 0 w 860080"/>
                <a:gd name="connsiteY0" fmla="*/ 851026 h 855834"/>
                <a:gd name="connsiteX1" fmla="*/ 279917 w 860080"/>
                <a:gd name="connsiteY1" fmla="*/ 855834 h 855834"/>
                <a:gd name="connsiteX2" fmla="*/ 279917 w 860080"/>
                <a:gd name="connsiteY2" fmla="*/ 570082 h 855834"/>
                <a:gd name="connsiteX3" fmla="*/ 565669 w 860080"/>
                <a:gd name="connsiteY3" fmla="*/ 570082 h 855834"/>
                <a:gd name="connsiteX4" fmla="*/ 860080 w 860080"/>
                <a:gd name="connsiteY4" fmla="*/ 0 h 855834"/>
                <a:gd name="connsiteX0" fmla="*/ 0 w 860080"/>
                <a:gd name="connsiteY0" fmla="*/ 851026 h 851026"/>
                <a:gd name="connsiteX1" fmla="*/ 279917 w 860080"/>
                <a:gd name="connsiteY1" fmla="*/ 570082 h 851026"/>
                <a:gd name="connsiteX2" fmla="*/ 565669 w 860080"/>
                <a:gd name="connsiteY2" fmla="*/ 570082 h 851026"/>
                <a:gd name="connsiteX3" fmla="*/ 860080 w 860080"/>
                <a:gd name="connsiteY3" fmla="*/ 0 h 851026"/>
                <a:gd name="connsiteX0" fmla="*/ 5835 w 865915"/>
                <a:gd name="connsiteY0" fmla="*/ 851026 h 851026"/>
                <a:gd name="connsiteX1" fmla="*/ 0 w 865915"/>
                <a:gd name="connsiteY1" fmla="*/ 570082 h 851026"/>
                <a:gd name="connsiteX2" fmla="*/ 571504 w 865915"/>
                <a:gd name="connsiteY2" fmla="*/ 570082 h 851026"/>
                <a:gd name="connsiteX3" fmla="*/ 865915 w 865915"/>
                <a:gd name="connsiteY3" fmla="*/ 0 h 851026"/>
                <a:gd name="connsiteX0" fmla="*/ 5835 w 865915"/>
                <a:gd name="connsiteY0" fmla="*/ 851026 h 851026"/>
                <a:gd name="connsiteX1" fmla="*/ 0 w 865915"/>
                <a:gd name="connsiteY1" fmla="*/ 570082 h 851026"/>
                <a:gd name="connsiteX2" fmla="*/ 857257 w 865915"/>
                <a:gd name="connsiteY2" fmla="*/ 570082 h 851026"/>
                <a:gd name="connsiteX3" fmla="*/ 865915 w 865915"/>
                <a:gd name="connsiteY3" fmla="*/ 0 h 851026"/>
                <a:gd name="connsiteX0" fmla="*/ 5834 w 865914"/>
                <a:gd name="connsiteY0" fmla="*/ 851026 h 851026"/>
                <a:gd name="connsiteX1" fmla="*/ 0 w 865914"/>
                <a:gd name="connsiteY1" fmla="*/ 570082 h 851026"/>
                <a:gd name="connsiteX2" fmla="*/ 857256 w 865914"/>
                <a:gd name="connsiteY2" fmla="*/ 570082 h 851026"/>
                <a:gd name="connsiteX3" fmla="*/ 865914 w 865914"/>
                <a:gd name="connsiteY3" fmla="*/ 0 h 851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5914" h="851026">
                  <a:moveTo>
                    <a:pt x="5834" y="851026"/>
                  </a:moveTo>
                  <a:lnTo>
                    <a:pt x="0" y="570082"/>
                  </a:lnTo>
                  <a:lnTo>
                    <a:pt x="857256" y="570082"/>
                  </a:lnTo>
                  <a:lnTo>
                    <a:pt x="86591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643306" y="3001948"/>
              <a:ext cx="178595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FF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C00000"/>
                  </a:solidFill>
                  <a:latin typeface="+mn-lt"/>
                </a:rPr>
                <a:t> R </a:t>
              </a:r>
              <a:r>
                <a:rPr lang="en-US" altLang="ko-KR" dirty="0" err="1" smtClean="0">
                  <a:solidFill>
                    <a:srgbClr val="C00000"/>
                  </a:solidFill>
                  <a:latin typeface="+mn-lt"/>
                </a:rPr>
                <a:t>R</a:t>
              </a:r>
              <a:r>
                <a:rPr lang="en-US" altLang="ko-KR" dirty="0" smtClean="0">
                  <a:solidFill>
                    <a:srgbClr val="C00000"/>
                  </a:solidFill>
                  <a:latin typeface="+mn-lt"/>
                </a:rPr>
                <a:t> </a:t>
              </a:r>
              <a:r>
                <a:rPr lang="en-US" altLang="ko-KR" dirty="0" smtClean="0">
                  <a:solidFill>
                    <a:srgbClr val="C00000"/>
                  </a:solidFill>
                  <a:latin typeface="Arial"/>
                </a:rPr>
                <a:t>R</a:t>
              </a:r>
              <a:r>
                <a:rPr lang="en-US" altLang="ko-KR" dirty="0" smtClean="0">
                  <a:solidFill>
                    <a:srgbClr val="C00000"/>
                  </a:solidFill>
                  <a:latin typeface="+mn-lt"/>
                </a:rPr>
                <a:t> U </a:t>
              </a:r>
              <a:r>
                <a:rPr lang="en-US" altLang="ko-KR" dirty="0" err="1" smtClean="0">
                  <a:solidFill>
                    <a:srgbClr val="C00000"/>
                  </a:solidFill>
                  <a:latin typeface="+mn-lt"/>
                </a:rPr>
                <a:t>U</a:t>
              </a:r>
              <a:endParaRPr lang="en-US" altLang="ko-KR" dirty="0" smtClean="0">
                <a:solidFill>
                  <a:srgbClr val="C00000"/>
                </a:solidFill>
                <a:latin typeface="+mn-lt"/>
              </a:endParaRPr>
            </a:p>
            <a:p>
              <a:pPr algn="ctr"/>
              <a:endParaRPr lang="en-US" altLang="ko-KR" sz="800" dirty="0" smtClean="0">
                <a:latin typeface="+mn-lt"/>
                <a:sym typeface="Symbol"/>
              </a:endParaRPr>
            </a:p>
            <a:p>
              <a:pPr algn="ctr"/>
              <a:r>
                <a:rPr lang="en-US" altLang="ko-KR" dirty="0" smtClean="0">
                  <a:sym typeface="Symbol"/>
                </a:rPr>
                <a:t></a:t>
              </a:r>
            </a:p>
            <a:p>
              <a:pPr algn="ctr"/>
              <a:endParaRPr lang="en-US" altLang="ko-KR" sz="800" dirty="0" smtClean="0">
                <a:latin typeface="+mn-lt"/>
              </a:endParaRPr>
            </a:p>
            <a:p>
              <a:pPr algn="ctr"/>
              <a:r>
                <a:rPr lang="en-US" altLang="ko-KR" b="1" dirty="0" smtClean="0">
                  <a:solidFill>
                    <a:srgbClr val="FF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 R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R</a:t>
              </a:r>
              <a:endParaRPr lang="ko-KR" altLang="en-US" dirty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111" name="자유형 110"/>
            <p:cNvSpPr/>
            <p:nvPr/>
          </p:nvSpPr>
          <p:spPr>
            <a:xfrm>
              <a:off x="6143635" y="3141552"/>
              <a:ext cx="574035" cy="1140737"/>
            </a:xfrm>
            <a:custGeom>
              <a:avLst/>
              <a:gdLst>
                <a:gd name="connsiteX0" fmla="*/ 0 w 570368"/>
                <a:gd name="connsiteY0" fmla="*/ 1140737 h 1149791"/>
                <a:gd name="connsiteX1" fmla="*/ 280657 w 570368"/>
                <a:gd name="connsiteY1" fmla="*/ 1149791 h 1149791"/>
                <a:gd name="connsiteX2" fmla="*/ 289711 w 570368"/>
                <a:gd name="connsiteY2" fmla="*/ 869133 h 1149791"/>
                <a:gd name="connsiteX3" fmla="*/ 570368 w 570368"/>
                <a:gd name="connsiteY3" fmla="*/ 869133 h 1149791"/>
                <a:gd name="connsiteX4" fmla="*/ 570368 w 570368"/>
                <a:gd name="connsiteY4" fmla="*/ 0 h 1149791"/>
                <a:gd name="connsiteX0" fmla="*/ 0 w 570368"/>
                <a:gd name="connsiteY0" fmla="*/ 1140737 h 1140737"/>
                <a:gd name="connsiteX1" fmla="*/ 289711 w 570368"/>
                <a:gd name="connsiteY1" fmla="*/ 869133 h 1140737"/>
                <a:gd name="connsiteX2" fmla="*/ 570368 w 570368"/>
                <a:gd name="connsiteY2" fmla="*/ 869133 h 1140737"/>
                <a:gd name="connsiteX3" fmla="*/ 570368 w 570368"/>
                <a:gd name="connsiteY3" fmla="*/ 0 h 1140737"/>
                <a:gd name="connsiteX0" fmla="*/ 0 w 570368"/>
                <a:gd name="connsiteY0" fmla="*/ 1140737 h 1140737"/>
                <a:gd name="connsiteX1" fmla="*/ 289711 w 570368"/>
                <a:gd name="connsiteY1" fmla="*/ 869133 h 1140737"/>
                <a:gd name="connsiteX2" fmla="*/ 570368 w 570368"/>
                <a:gd name="connsiteY2" fmla="*/ 0 h 1140737"/>
                <a:gd name="connsiteX0" fmla="*/ 3667 w 574035"/>
                <a:gd name="connsiteY0" fmla="*/ 1140737 h 1140737"/>
                <a:gd name="connsiteX1" fmla="*/ 0 w 574035"/>
                <a:gd name="connsiteY1" fmla="*/ 1696 h 1140737"/>
                <a:gd name="connsiteX2" fmla="*/ 574035 w 574035"/>
                <a:gd name="connsiteY2" fmla="*/ 0 h 114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4035" h="1140737">
                  <a:moveTo>
                    <a:pt x="3667" y="1140737"/>
                  </a:moveTo>
                  <a:cubicBezTo>
                    <a:pt x="2445" y="761057"/>
                    <a:pt x="1222" y="381376"/>
                    <a:pt x="0" y="1696"/>
                  </a:cubicBezTo>
                  <a:lnTo>
                    <a:pt x="574035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1643041" y="4357694"/>
            <a:ext cx="6072231" cy="1573212"/>
            <a:chOff x="1643041" y="4498994"/>
            <a:chExt cx="6072231" cy="1573212"/>
          </a:xfrm>
        </p:grpSpPr>
        <p:grpSp>
          <p:nvGrpSpPr>
            <p:cNvPr id="84" name="그룹 83"/>
            <p:cNvGrpSpPr/>
            <p:nvPr/>
          </p:nvGrpSpPr>
          <p:grpSpPr>
            <a:xfrm>
              <a:off x="1643053" y="4498994"/>
              <a:ext cx="1571625" cy="1573212"/>
              <a:chOff x="2571735" y="4429132"/>
              <a:chExt cx="1571625" cy="1573212"/>
            </a:xfrm>
          </p:grpSpPr>
          <p:cxnSp>
            <p:nvCxnSpPr>
              <p:cNvPr id="85" name="직선 연결선 84"/>
              <p:cNvCxnSpPr/>
              <p:nvPr/>
            </p:nvCxnSpPr>
            <p:spPr bwMode="auto">
              <a:xfrm rot="5400000">
                <a:off x="2571736" y="4643446"/>
                <a:ext cx="1357322" cy="1357322"/>
              </a:xfrm>
              <a:prstGeom prst="line">
                <a:avLst/>
              </a:prstGeom>
              <a:ln w="9525">
                <a:solidFill>
                  <a:srgbClr val="FF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 bwMode="auto">
              <a:xfrm rot="16200000" flipH="1">
                <a:off x="1786716" y="5214151"/>
                <a:ext cx="1571625" cy="1588"/>
              </a:xfrm>
              <a:prstGeom prst="line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 bwMode="auto">
              <a:xfrm rot="5400000">
                <a:off x="2213756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 bwMode="auto">
              <a:xfrm rot="5400000">
                <a:off x="2501096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 bwMode="auto">
              <a:xfrm rot="5400000">
                <a:off x="2786841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 bwMode="auto">
              <a:xfrm rot="5400000">
                <a:off x="3071013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 bwMode="auto">
              <a:xfrm>
                <a:off x="2574910" y="6000757"/>
                <a:ext cx="1568450" cy="1587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 bwMode="auto">
              <a:xfrm>
                <a:off x="2573323" y="571501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 bwMode="auto">
              <a:xfrm>
                <a:off x="2573323" y="542767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 bwMode="auto">
              <a:xfrm>
                <a:off x="2573323" y="5143507"/>
                <a:ext cx="1284287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 bwMode="auto">
              <a:xfrm>
                <a:off x="2571735" y="4857760"/>
                <a:ext cx="128428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그룹 95"/>
            <p:cNvGrpSpPr/>
            <p:nvPr/>
          </p:nvGrpSpPr>
          <p:grpSpPr>
            <a:xfrm>
              <a:off x="6143647" y="4498994"/>
              <a:ext cx="1571625" cy="1573212"/>
              <a:chOff x="2571735" y="4429132"/>
              <a:chExt cx="1571625" cy="1573212"/>
            </a:xfrm>
          </p:grpSpPr>
          <p:cxnSp>
            <p:nvCxnSpPr>
              <p:cNvPr id="97" name="직선 연결선 96"/>
              <p:cNvCxnSpPr/>
              <p:nvPr/>
            </p:nvCxnSpPr>
            <p:spPr bwMode="auto">
              <a:xfrm rot="5400000">
                <a:off x="2571736" y="4643446"/>
                <a:ext cx="1357322" cy="1357322"/>
              </a:xfrm>
              <a:prstGeom prst="line">
                <a:avLst/>
              </a:prstGeom>
              <a:ln w="9525">
                <a:solidFill>
                  <a:srgbClr val="FF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 bwMode="auto">
              <a:xfrm rot="16200000" flipH="1">
                <a:off x="1786716" y="5214151"/>
                <a:ext cx="1571625" cy="1588"/>
              </a:xfrm>
              <a:prstGeom prst="line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 bwMode="auto">
              <a:xfrm rot="5400000">
                <a:off x="2213756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 bwMode="auto">
              <a:xfrm rot="5400000">
                <a:off x="2501096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 bwMode="auto">
              <a:xfrm rot="5400000">
                <a:off x="2786841" y="5357026"/>
                <a:ext cx="128587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 bwMode="auto">
              <a:xfrm rot="5400000">
                <a:off x="3071013" y="5357026"/>
                <a:ext cx="12858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 bwMode="auto">
              <a:xfrm>
                <a:off x="2574910" y="6000757"/>
                <a:ext cx="1568450" cy="1587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 bwMode="auto">
              <a:xfrm>
                <a:off x="2573323" y="571501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 bwMode="auto">
              <a:xfrm>
                <a:off x="2573323" y="5427676"/>
                <a:ext cx="12842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 bwMode="auto">
              <a:xfrm>
                <a:off x="2573323" y="5143507"/>
                <a:ext cx="1284287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 bwMode="auto">
              <a:xfrm>
                <a:off x="2571735" y="4857760"/>
                <a:ext cx="128428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자유형 107"/>
            <p:cNvSpPr/>
            <p:nvPr/>
          </p:nvSpPr>
          <p:spPr>
            <a:xfrm>
              <a:off x="1643041" y="5214796"/>
              <a:ext cx="865915" cy="851026"/>
            </a:xfrm>
            <a:custGeom>
              <a:avLst/>
              <a:gdLst>
                <a:gd name="connsiteX0" fmla="*/ 0 w 860080"/>
                <a:gd name="connsiteY0" fmla="*/ 851026 h 851026"/>
                <a:gd name="connsiteX1" fmla="*/ 289711 w 860080"/>
                <a:gd name="connsiteY1" fmla="*/ 851026 h 851026"/>
                <a:gd name="connsiteX2" fmla="*/ 289711 w 860080"/>
                <a:gd name="connsiteY2" fmla="*/ 289711 h 851026"/>
                <a:gd name="connsiteX3" fmla="*/ 851026 w 860080"/>
                <a:gd name="connsiteY3" fmla="*/ 289711 h 851026"/>
                <a:gd name="connsiteX4" fmla="*/ 860080 w 860080"/>
                <a:gd name="connsiteY4" fmla="*/ 0 h 851026"/>
                <a:gd name="connsiteX0" fmla="*/ 0 w 860080"/>
                <a:gd name="connsiteY0" fmla="*/ 851026 h 851026"/>
                <a:gd name="connsiteX1" fmla="*/ 289711 w 860080"/>
                <a:gd name="connsiteY1" fmla="*/ 289711 h 851026"/>
                <a:gd name="connsiteX2" fmla="*/ 851026 w 860080"/>
                <a:gd name="connsiteY2" fmla="*/ 289711 h 851026"/>
                <a:gd name="connsiteX3" fmla="*/ 860080 w 860080"/>
                <a:gd name="connsiteY3" fmla="*/ 0 h 851026"/>
                <a:gd name="connsiteX0" fmla="*/ 0 w 860080"/>
                <a:gd name="connsiteY0" fmla="*/ 851026 h 851026"/>
                <a:gd name="connsiteX1" fmla="*/ 289711 w 860080"/>
                <a:gd name="connsiteY1" fmla="*/ 289711 h 851026"/>
                <a:gd name="connsiteX2" fmla="*/ 860080 w 860080"/>
                <a:gd name="connsiteY2" fmla="*/ 0 h 851026"/>
                <a:gd name="connsiteX0" fmla="*/ 5835 w 865915"/>
                <a:gd name="connsiteY0" fmla="*/ 851026 h 851026"/>
                <a:gd name="connsiteX1" fmla="*/ 0 w 865915"/>
                <a:gd name="connsiteY1" fmla="*/ 154 h 851026"/>
                <a:gd name="connsiteX2" fmla="*/ 865915 w 865915"/>
                <a:gd name="connsiteY2" fmla="*/ 0 h 851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5915" h="851026">
                  <a:moveTo>
                    <a:pt x="5835" y="851026"/>
                  </a:moveTo>
                  <a:lnTo>
                    <a:pt x="0" y="154"/>
                  </a:lnTo>
                  <a:lnTo>
                    <a:pt x="865915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643306" y="4786322"/>
              <a:ext cx="178595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FF00FF"/>
                  </a:solidFill>
                  <a:latin typeface="+mn-lt"/>
                </a:rPr>
                <a:t>U</a:t>
              </a:r>
              <a:r>
                <a:rPr lang="en-US" altLang="ko-KR" dirty="0" smtClean="0">
                  <a:latin typeface="+mn-lt"/>
                </a:rPr>
                <a:t> </a:t>
              </a:r>
              <a:r>
                <a:rPr lang="en-US" altLang="ko-KR" dirty="0" err="1" smtClean="0">
                  <a:solidFill>
                    <a:srgbClr val="C00000"/>
                  </a:solidFill>
                  <a:latin typeface="+mn-lt"/>
                </a:rPr>
                <a:t>U</a:t>
              </a:r>
              <a:r>
                <a:rPr lang="en-US" altLang="ko-KR" dirty="0" smtClean="0">
                  <a:solidFill>
                    <a:srgbClr val="C00000"/>
                  </a:solidFill>
                  <a:latin typeface="+mn-lt"/>
                </a:rPr>
                <a:t> </a:t>
              </a:r>
              <a:r>
                <a:rPr lang="en-US" altLang="ko-KR" dirty="0" err="1" smtClean="0">
                  <a:solidFill>
                    <a:srgbClr val="C00000"/>
                  </a:solidFill>
                  <a:latin typeface="+mn-lt"/>
                </a:rPr>
                <a:t>U</a:t>
              </a:r>
              <a:r>
                <a:rPr lang="en-US" altLang="ko-KR" dirty="0" smtClean="0">
                  <a:latin typeface="+mn-lt"/>
                </a:rPr>
                <a:t> </a:t>
              </a:r>
              <a:r>
                <a:rPr lang="en-US" altLang="ko-KR" dirty="0" smtClean="0">
                  <a:solidFill>
                    <a:srgbClr val="C00000"/>
                  </a:solidFill>
                  <a:latin typeface="+mn-lt"/>
                </a:rPr>
                <a:t>R </a:t>
              </a:r>
              <a:r>
                <a:rPr lang="en-US" altLang="ko-KR" dirty="0" err="1" smtClean="0">
                  <a:solidFill>
                    <a:srgbClr val="C00000"/>
                  </a:solidFill>
                  <a:latin typeface="+mn-lt"/>
                </a:rPr>
                <a:t>R</a:t>
              </a:r>
              <a:r>
                <a:rPr lang="en-US" altLang="ko-KR" dirty="0" smtClean="0">
                  <a:solidFill>
                    <a:srgbClr val="C00000"/>
                  </a:solidFill>
                  <a:latin typeface="+mn-lt"/>
                </a:rPr>
                <a:t> </a:t>
              </a:r>
              <a:r>
                <a:rPr lang="en-US" altLang="ko-KR" dirty="0" err="1" smtClean="0">
                  <a:solidFill>
                    <a:srgbClr val="C00000"/>
                  </a:solidFill>
                  <a:latin typeface="+mn-lt"/>
                </a:rPr>
                <a:t>R</a:t>
              </a:r>
              <a:endParaRPr lang="en-US" altLang="ko-KR" dirty="0" smtClean="0">
                <a:solidFill>
                  <a:srgbClr val="C00000"/>
                </a:solidFill>
                <a:latin typeface="+mn-lt"/>
              </a:endParaRPr>
            </a:p>
            <a:p>
              <a:pPr algn="ctr"/>
              <a:endParaRPr lang="en-US" altLang="ko-KR" sz="800" dirty="0" smtClean="0">
                <a:latin typeface="+mn-lt"/>
                <a:sym typeface="Symbol"/>
              </a:endParaRPr>
            </a:p>
            <a:p>
              <a:pPr algn="ctr"/>
              <a:r>
                <a:rPr lang="en-US" altLang="ko-KR" dirty="0" smtClean="0">
                  <a:sym typeface="Symbol"/>
                </a:rPr>
                <a:t></a:t>
              </a:r>
            </a:p>
            <a:p>
              <a:pPr algn="ctr"/>
              <a:endParaRPr lang="en-US" altLang="ko-KR" sz="800" dirty="0" smtClean="0">
                <a:latin typeface="+mn-lt"/>
              </a:endParaRPr>
            </a:p>
            <a:p>
              <a:pPr algn="ctr"/>
              <a:r>
                <a:rPr lang="en-US" altLang="ko-KR" b="1" dirty="0" smtClean="0">
                  <a:solidFill>
                    <a:srgbClr val="FF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R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R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 U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U</a:t>
              </a:r>
              <a:r>
                <a:rPr lang="en-US" altLang="ko-KR" dirty="0" smtClean="0">
                  <a:solidFill>
                    <a:srgbClr val="0000FF"/>
                  </a:solidFill>
                  <a:latin typeface="Arial"/>
                </a:rPr>
                <a:t> </a:t>
              </a:r>
              <a:r>
                <a:rPr lang="en-US" altLang="ko-KR" dirty="0" err="1" smtClean="0">
                  <a:solidFill>
                    <a:srgbClr val="0000FF"/>
                  </a:solidFill>
                  <a:latin typeface="Arial"/>
                </a:rPr>
                <a:t>U</a:t>
              </a:r>
              <a:endParaRPr lang="ko-KR" altLang="en-US" dirty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112" name="자유형 111"/>
            <p:cNvSpPr/>
            <p:nvPr/>
          </p:nvSpPr>
          <p:spPr>
            <a:xfrm>
              <a:off x="6143636" y="4922415"/>
              <a:ext cx="570368" cy="1140737"/>
            </a:xfrm>
            <a:custGeom>
              <a:avLst/>
              <a:gdLst>
                <a:gd name="connsiteX0" fmla="*/ 0 w 570368"/>
                <a:gd name="connsiteY0" fmla="*/ 1140737 h 1149791"/>
                <a:gd name="connsiteX1" fmla="*/ 280657 w 570368"/>
                <a:gd name="connsiteY1" fmla="*/ 1149791 h 1149791"/>
                <a:gd name="connsiteX2" fmla="*/ 289711 w 570368"/>
                <a:gd name="connsiteY2" fmla="*/ 869133 h 1149791"/>
                <a:gd name="connsiteX3" fmla="*/ 570368 w 570368"/>
                <a:gd name="connsiteY3" fmla="*/ 869133 h 1149791"/>
                <a:gd name="connsiteX4" fmla="*/ 570368 w 570368"/>
                <a:gd name="connsiteY4" fmla="*/ 0 h 1149791"/>
                <a:gd name="connsiteX0" fmla="*/ 0 w 570368"/>
                <a:gd name="connsiteY0" fmla="*/ 1140737 h 1140737"/>
                <a:gd name="connsiteX1" fmla="*/ 289711 w 570368"/>
                <a:gd name="connsiteY1" fmla="*/ 869133 h 1140737"/>
                <a:gd name="connsiteX2" fmla="*/ 570368 w 570368"/>
                <a:gd name="connsiteY2" fmla="*/ 869133 h 1140737"/>
                <a:gd name="connsiteX3" fmla="*/ 570368 w 570368"/>
                <a:gd name="connsiteY3" fmla="*/ 0 h 1140737"/>
                <a:gd name="connsiteX0" fmla="*/ 0 w 570368"/>
                <a:gd name="connsiteY0" fmla="*/ 1140737 h 1140737"/>
                <a:gd name="connsiteX1" fmla="*/ 0 w 570368"/>
                <a:gd name="connsiteY1" fmla="*/ 864039 h 1140737"/>
                <a:gd name="connsiteX2" fmla="*/ 570368 w 570368"/>
                <a:gd name="connsiteY2" fmla="*/ 869133 h 1140737"/>
                <a:gd name="connsiteX3" fmla="*/ 570368 w 570368"/>
                <a:gd name="connsiteY3" fmla="*/ 0 h 114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368" h="1140737">
                  <a:moveTo>
                    <a:pt x="0" y="1140737"/>
                  </a:moveTo>
                  <a:lnTo>
                    <a:pt x="0" y="864039"/>
                  </a:lnTo>
                  <a:lnTo>
                    <a:pt x="570368" y="869133"/>
                  </a:lnTo>
                  <a:lnTo>
                    <a:pt x="570368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내용 개체 틀 5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1657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dirty="0" smtClean="0"/>
              <a:t>(O</a:t>
            </a:r>
            <a:r>
              <a:rPr lang="en-US" altLang="ko-KR" sz="2000" dirty="0" smtClean="0"/>
              <a:t>ther </a:t>
            </a:r>
            <a:r>
              <a:rPr lang="en-US" altLang="ko-KR" dirty="0" smtClean="0"/>
              <a:t>E</a:t>
            </a:r>
            <a:r>
              <a:rPr lang="en-US" altLang="ko-KR" sz="2000" dirty="0" smtClean="0"/>
              <a:t>xamples related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to the Catalan number</a:t>
            </a:r>
            <a:r>
              <a:rPr lang="en-US" altLang="ko-KR" dirty="0" smtClean="0"/>
              <a:t>)</a:t>
            </a:r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endParaRPr lang="en-US" altLang="ko-KR" dirty="0" smtClean="0"/>
          </a:p>
          <a:p>
            <a:pPr>
              <a:buFont typeface="Wingdings" pitchFamily="2" charset="2"/>
              <a:buNone/>
            </a:pPr>
            <a:r>
              <a:rPr lang="en-US" altLang="ko-KR" dirty="0" smtClean="0"/>
              <a:t>I</a:t>
            </a:r>
            <a:r>
              <a:rPr lang="en-US" altLang="ko-KR" sz="2000" dirty="0" smtClean="0"/>
              <a:t>n how many ways can one parenthesize the product                 ?</a:t>
            </a:r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r>
              <a:rPr lang="en-US" altLang="ko-KR" dirty="0" smtClean="0"/>
              <a:t>I</a:t>
            </a:r>
            <a:r>
              <a:rPr lang="en-US" altLang="ko-KR" sz="2000" dirty="0" smtClean="0"/>
              <a:t>n how many ways can one arrange three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2000" dirty="0" smtClean="0"/>
              <a:t>’s and three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en-US" altLang="ko-KR" sz="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 smtClean="0"/>
              <a:t>’s so that all six partial sums (starting with the first summand) are nonnegative?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6572250" y="1827213"/>
          <a:ext cx="10715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5" name="수식" r:id="rId3" imgW="533160" imgH="228600" progId="Equation.3">
                  <p:embed/>
                </p:oleObj>
              </mc:Choice>
              <mc:Fallback>
                <p:oleObj name="수식" r:id="rId3" imgW="5331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1827213"/>
                        <a:ext cx="1071563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1643063" y="4668838"/>
          <a:ext cx="56642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" name="수식" r:id="rId5" imgW="2819160" imgH="431640" progId="Equation.3">
                  <p:embed/>
                </p:oleObj>
              </mc:Choice>
              <mc:Fallback>
                <p:oleObj name="수식" r:id="rId5" imgW="281916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4668838"/>
                        <a:ext cx="5664200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945334"/>
              </p:ext>
            </p:extLst>
          </p:nvPr>
        </p:nvGraphicFramePr>
        <p:xfrm>
          <a:off x="1625748" y="2492896"/>
          <a:ext cx="59705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7" name="수식" r:id="rId7" imgW="2971800" imgH="457200" progId="Equation.3">
                  <p:embed/>
                </p:oleObj>
              </mc:Choice>
              <mc:Fallback>
                <p:oleObj name="수식" r:id="rId7" imgW="29718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748" y="2492896"/>
                        <a:ext cx="5970588" cy="917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내용 개체 틀 1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715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mtClean="0"/>
              <a:t>(Note)</a:t>
            </a:r>
            <a:endParaRPr lang="ko-KR" altLang="en-US" smtClean="0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664714"/>
              </p:ext>
            </p:extLst>
          </p:nvPr>
        </p:nvGraphicFramePr>
        <p:xfrm>
          <a:off x="4572000" y="3651251"/>
          <a:ext cx="1173163" cy="229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3" name="수식" r:id="rId3" imgW="583920" imgH="1143000" progId="Equation.3">
                  <p:embed/>
                </p:oleObj>
              </mc:Choice>
              <mc:Fallback>
                <p:oleObj name="수식" r:id="rId3" imgW="583920" imgH="114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651251"/>
                        <a:ext cx="1173163" cy="2293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588174"/>
              </p:ext>
            </p:extLst>
          </p:nvPr>
        </p:nvGraphicFramePr>
        <p:xfrm>
          <a:off x="6516216" y="1046163"/>
          <a:ext cx="1606550" cy="224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4" name="수식" r:id="rId5" imgW="799920" imgH="1117440" progId="Equation.3">
                  <p:embed/>
                </p:oleObj>
              </mc:Choice>
              <mc:Fallback>
                <p:oleObj name="수식" r:id="rId5" imgW="799920" imgH="11174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1046163"/>
                        <a:ext cx="1606550" cy="2243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301331"/>
              </p:ext>
            </p:extLst>
          </p:nvPr>
        </p:nvGraphicFramePr>
        <p:xfrm>
          <a:off x="6515050" y="3711575"/>
          <a:ext cx="1657350" cy="224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5" name="수식" r:id="rId7" imgW="825480" imgH="1117440" progId="Equation.3">
                  <p:embed/>
                </p:oleObj>
              </mc:Choice>
              <mc:Fallback>
                <p:oleObj name="수식" r:id="rId7" imgW="825480" imgH="11174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050" y="3711575"/>
                        <a:ext cx="1657350" cy="224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7" name="그룹 26"/>
          <p:cNvGrpSpPr>
            <a:grpSpLocks/>
          </p:cNvGrpSpPr>
          <p:nvPr/>
        </p:nvGrpSpPr>
        <p:grpSpPr bwMode="auto">
          <a:xfrm>
            <a:off x="4000496" y="1428736"/>
            <a:ext cx="1643062" cy="1643062"/>
            <a:chOff x="7072330" y="1214422"/>
            <a:chExt cx="1643074" cy="1643071"/>
          </a:xfrm>
        </p:grpSpPr>
        <p:cxnSp>
          <p:nvCxnSpPr>
            <p:cNvPr id="10" name="직선 연결선 9"/>
            <p:cNvCxnSpPr>
              <a:endCxn id="19" idx="7"/>
            </p:cNvCxnSpPr>
            <p:nvPr/>
          </p:nvCxnSpPr>
          <p:spPr>
            <a:xfrm rot="10800000" flipV="1">
              <a:off x="7194568" y="1500174"/>
              <a:ext cx="1235084" cy="1235082"/>
            </a:xfrm>
            <a:prstGeom prst="line">
              <a:avLst/>
            </a:prstGeom>
            <a:ln w="19050">
              <a:solidFill>
                <a:srgbClr val="66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auto">
            <a:xfrm rot="16200000" flipH="1">
              <a:off x="6358744" y="1999445"/>
              <a:ext cx="1571634" cy="1588"/>
            </a:xfrm>
            <a:prstGeom prst="line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auto">
            <a:xfrm rot="5400000">
              <a:off x="6717522" y="2142321"/>
              <a:ext cx="1285882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auto">
            <a:xfrm rot="5400000">
              <a:off x="6931836" y="2142321"/>
              <a:ext cx="1285882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auto">
            <a:xfrm rot="5400000">
              <a:off x="7144563" y="2142321"/>
              <a:ext cx="1285882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auto">
            <a:xfrm rot="5400000">
              <a:off x="7358876" y="2142321"/>
              <a:ext cx="1285882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auto">
            <a:xfrm rot="5400000">
              <a:off x="7573191" y="2142321"/>
              <a:ext cx="1285882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auto">
            <a:xfrm rot="5400000">
              <a:off x="7789092" y="2142321"/>
              <a:ext cx="1285882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auto">
            <a:xfrm>
              <a:off x="7146943" y="2786056"/>
              <a:ext cx="1568461" cy="1587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 18"/>
            <p:cNvSpPr/>
            <p:nvPr/>
          </p:nvSpPr>
          <p:spPr bwMode="auto">
            <a:xfrm>
              <a:off x="7072330" y="2714617"/>
              <a:ext cx="142876" cy="14287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 bwMode="auto">
            <a:xfrm>
              <a:off x="7715272" y="2071677"/>
              <a:ext cx="142876" cy="14287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21" name="직선 연결선 20"/>
            <p:cNvCxnSpPr/>
            <p:nvPr/>
          </p:nvCxnSpPr>
          <p:spPr bwMode="auto">
            <a:xfrm>
              <a:off x="7145356" y="2571741"/>
              <a:ext cx="128429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auto">
            <a:xfrm>
              <a:off x="7145356" y="2357428"/>
              <a:ext cx="1284296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 bwMode="auto">
            <a:xfrm>
              <a:off x="7145356" y="2143114"/>
              <a:ext cx="128429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 bwMode="auto">
            <a:xfrm>
              <a:off x="7145356" y="1928801"/>
              <a:ext cx="1284296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 bwMode="auto">
            <a:xfrm>
              <a:off x="7143768" y="1714487"/>
              <a:ext cx="1284297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 bwMode="auto">
            <a:xfrm>
              <a:off x="7143768" y="1500174"/>
              <a:ext cx="1284297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500166" y="857232"/>
          <a:ext cx="21177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6" name="수식" r:id="rId9" imgW="1117440" imgH="457200" progId="Equation.3">
                  <p:embed/>
                </p:oleObj>
              </mc:Choice>
              <mc:Fallback>
                <p:oleObj name="수식" r:id="rId9" imgW="111744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857232"/>
                        <a:ext cx="2117725" cy="86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그룹 26"/>
          <p:cNvGrpSpPr/>
          <p:nvPr/>
        </p:nvGrpSpPr>
        <p:grpSpPr>
          <a:xfrm>
            <a:off x="2195736" y="3643314"/>
            <a:ext cx="1871633" cy="2305965"/>
            <a:chOff x="2195736" y="3643314"/>
            <a:chExt cx="1871633" cy="2305965"/>
          </a:xfrm>
        </p:grpSpPr>
        <p:sp>
          <p:nvSpPr>
            <p:cNvPr id="3" name="직사각형 2"/>
            <p:cNvSpPr/>
            <p:nvPr/>
          </p:nvSpPr>
          <p:spPr>
            <a:xfrm>
              <a:off x="3347864" y="4149080"/>
              <a:ext cx="719505" cy="360040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2290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5597062"/>
                </p:ext>
              </p:extLst>
            </p:nvPr>
          </p:nvGraphicFramePr>
          <p:xfrm>
            <a:off x="2281424" y="3643314"/>
            <a:ext cx="1760538" cy="2293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97" name="수식" r:id="rId11" imgW="876240" imgH="1143000" progId="Equation.3">
                    <p:embed/>
                  </p:oleObj>
                </mc:Choice>
                <mc:Fallback>
                  <p:oleObj name="수식" r:id="rId11" imgW="876240" imgH="11430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1424" y="3643314"/>
                          <a:ext cx="1760538" cy="22939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직사각형 4"/>
            <p:cNvSpPr/>
            <p:nvPr/>
          </p:nvSpPr>
          <p:spPr>
            <a:xfrm>
              <a:off x="2195736" y="3645024"/>
              <a:ext cx="1871633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195736" y="5072050"/>
              <a:ext cx="1871633" cy="877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8" name="직선 화살표 연결선 7"/>
          <p:cNvCxnSpPr/>
          <p:nvPr/>
        </p:nvCxnSpPr>
        <p:spPr>
          <a:xfrm>
            <a:off x="4173946" y="4797152"/>
            <a:ext cx="326046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2195736" y="4572001"/>
            <a:ext cx="1871633" cy="5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764704"/>
            <a:ext cx="8435280" cy="1071071"/>
          </a:xfrm>
        </p:spPr>
        <p:txBody>
          <a:bodyPr/>
          <a:lstStyle/>
          <a:p>
            <a:pPr>
              <a:buNone/>
            </a:pPr>
            <a:r>
              <a:rPr lang="en-US" altLang="ko-KR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ow many different ways of dividing a polygon with 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0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+2)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sides into </a:t>
            </a:r>
            <a:r>
              <a:rPr lang="en-US" altLang="ko-KR" sz="20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triangles ?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2885630" y="2063526"/>
            <a:ext cx="1329180" cy="1438770"/>
            <a:chOff x="2885630" y="1928802"/>
            <a:chExt cx="1329180" cy="1438770"/>
          </a:xfrm>
        </p:grpSpPr>
        <p:sp>
          <p:nvSpPr>
            <p:cNvPr id="6" name="자유형 5"/>
            <p:cNvSpPr/>
            <p:nvPr/>
          </p:nvSpPr>
          <p:spPr>
            <a:xfrm>
              <a:off x="2897252" y="1928802"/>
              <a:ext cx="1310326" cy="546755"/>
            </a:xfrm>
            <a:custGeom>
              <a:avLst/>
              <a:gdLst>
                <a:gd name="connsiteX0" fmla="*/ 612742 w 1310326"/>
                <a:gd name="connsiteY0" fmla="*/ 0 h 546755"/>
                <a:gd name="connsiteX1" fmla="*/ 0 w 1310326"/>
                <a:gd name="connsiteY1" fmla="*/ 546755 h 546755"/>
                <a:gd name="connsiteX2" fmla="*/ 1310326 w 1310326"/>
                <a:gd name="connsiteY2" fmla="*/ 329938 h 546755"/>
                <a:gd name="connsiteX3" fmla="*/ 612742 w 1310326"/>
                <a:gd name="connsiteY3" fmla="*/ 0 h 546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26" h="546755">
                  <a:moveTo>
                    <a:pt x="612742" y="0"/>
                  </a:moveTo>
                  <a:lnTo>
                    <a:pt x="0" y="546755"/>
                  </a:lnTo>
                  <a:lnTo>
                    <a:pt x="1310326" y="329938"/>
                  </a:lnTo>
                  <a:lnTo>
                    <a:pt x="612742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 6"/>
            <p:cNvSpPr/>
            <p:nvPr/>
          </p:nvSpPr>
          <p:spPr>
            <a:xfrm>
              <a:off x="2897252" y="2500306"/>
              <a:ext cx="1140643" cy="867266"/>
            </a:xfrm>
            <a:custGeom>
              <a:avLst/>
              <a:gdLst>
                <a:gd name="connsiteX0" fmla="*/ 0 w 1140643"/>
                <a:gd name="connsiteY0" fmla="*/ 0 h 867266"/>
                <a:gd name="connsiteX1" fmla="*/ 452487 w 1140643"/>
                <a:gd name="connsiteY1" fmla="*/ 867266 h 867266"/>
                <a:gd name="connsiteX2" fmla="*/ 1140643 w 1140643"/>
                <a:gd name="connsiteY2" fmla="*/ 414779 h 867266"/>
                <a:gd name="connsiteX3" fmla="*/ 0 w 1140643"/>
                <a:gd name="connsiteY3" fmla="*/ 0 h 86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643" h="867266">
                  <a:moveTo>
                    <a:pt x="0" y="0"/>
                  </a:moveTo>
                  <a:lnTo>
                    <a:pt x="452487" y="867266"/>
                  </a:lnTo>
                  <a:lnTo>
                    <a:pt x="1140643" y="414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자유형 7"/>
            <p:cNvSpPr/>
            <p:nvPr/>
          </p:nvSpPr>
          <p:spPr>
            <a:xfrm>
              <a:off x="2885630" y="2262433"/>
              <a:ext cx="1329180" cy="650449"/>
            </a:xfrm>
            <a:custGeom>
              <a:avLst/>
              <a:gdLst>
                <a:gd name="connsiteX0" fmla="*/ 1329180 w 1329180"/>
                <a:gd name="connsiteY0" fmla="*/ 0 h 650449"/>
                <a:gd name="connsiteX1" fmla="*/ 0 w 1329180"/>
                <a:gd name="connsiteY1" fmla="*/ 226243 h 650449"/>
                <a:gd name="connsiteX2" fmla="*/ 1159497 w 1329180"/>
                <a:gd name="connsiteY2" fmla="*/ 650449 h 650449"/>
                <a:gd name="connsiteX3" fmla="*/ 1329180 w 1329180"/>
                <a:gd name="connsiteY3" fmla="*/ 0 h 6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9180" h="650449">
                  <a:moveTo>
                    <a:pt x="1329180" y="0"/>
                  </a:moveTo>
                  <a:lnTo>
                    <a:pt x="0" y="226243"/>
                  </a:lnTo>
                  <a:lnTo>
                    <a:pt x="1159497" y="650449"/>
                  </a:lnTo>
                  <a:lnTo>
                    <a:pt x="1329180" y="0"/>
                  </a:lnTo>
                  <a:close/>
                </a:path>
              </a:pathLst>
            </a:cu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4704866" y="2063526"/>
            <a:ext cx="1340525" cy="1423448"/>
            <a:chOff x="4704866" y="1928802"/>
            <a:chExt cx="1340525" cy="1423448"/>
          </a:xfrm>
        </p:grpSpPr>
        <p:sp>
          <p:nvSpPr>
            <p:cNvPr id="9" name="자유형 8"/>
            <p:cNvSpPr/>
            <p:nvPr/>
          </p:nvSpPr>
          <p:spPr>
            <a:xfrm>
              <a:off x="4704866" y="1928802"/>
              <a:ext cx="641023" cy="1423448"/>
            </a:xfrm>
            <a:custGeom>
              <a:avLst/>
              <a:gdLst>
                <a:gd name="connsiteX0" fmla="*/ 641023 w 641023"/>
                <a:gd name="connsiteY0" fmla="*/ 0 h 1423448"/>
                <a:gd name="connsiteX1" fmla="*/ 0 w 641023"/>
                <a:gd name="connsiteY1" fmla="*/ 556182 h 1423448"/>
                <a:gd name="connsiteX2" fmla="*/ 471340 w 641023"/>
                <a:gd name="connsiteY2" fmla="*/ 1423448 h 1423448"/>
                <a:gd name="connsiteX3" fmla="*/ 641023 w 641023"/>
                <a:gd name="connsiteY3" fmla="*/ 0 h 1423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1023" h="1423448">
                  <a:moveTo>
                    <a:pt x="641023" y="0"/>
                  </a:moveTo>
                  <a:lnTo>
                    <a:pt x="0" y="556182"/>
                  </a:lnTo>
                  <a:lnTo>
                    <a:pt x="471340" y="1423448"/>
                  </a:lnTo>
                  <a:lnTo>
                    <a:pt x="641023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자유형 9"/>
            <p:cNvSpPr/>
            <p:nvPr/>
          </p:nvSpPr>
          <p:spPr>
            <a:xfrm>
              <a:off x="5178570" y="1928802"/>
              <a:ext cx="669304" cy="1423448"/>
            </a:xfrm>
            <a:custGeom>
              <a:avLst/>
              <a:gdLst>
                <a:gd name="connsiteX0" fmla="*/ 169683 w 669304"/>
                <a:gd name="connsiteY0" fmla="*/ 0 h 1423448"/>
                <a:gd name="connsiteX1" fmla="*/ 0 w 669304"/>
                <a:gd name="connsiteY1" fmla="*/ 1423448 h 1423448"/>
                <a:gd name="connsiteX2" fmla="*/ 669304 w 669304"/>
                <a:gd name="connsiteY2" fmla="*/ 970961 h 1423448"/>
                <a:gd name="connsiteX3" fmla="*/ 169683 w 669304"/>
                <a:gd name="connsiteY3" fmla="*/ 0 h 1423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304" h="1423448">
                  <a:moveTo>
                    <a:pt x="169683" y="0"/>
                  </a:moveTo>
                  <a:lnTo>
                    <a:pt x="0" y="1423448"/>
                  </a:lnTo>
                  <a:lnTo>
                    <a:pt x="669304" y="970961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 10"/>
            <p:cNvSpPr/>
            <p:nvPr/>
          </p:nvSpPr>
          <p:spPr>
            <a:xfrm>
              <a:off x="5347808" y="1928802"/>
              <a:ext cx="697583" cy="970961"/>
            </a:xfrm>
            <a:custGeom>
              <a:avLst/>
              <a:gdLst>
                <a:gd name="connsiteX0" fmla="*/ 0 w 697583"/>
                <a:gd name="connsiteY0" fmla="*/ 0 h 970961"/>
                <a:gd name="connsiteX1" fmla="*/ 490194 w 697583"/>
                <a:gd name="connsiteY1" fmla="*/ 970961 h 970961"/>
                <a:gd name="connsiteX2" fmla="*/ 697583 w 697583"/>
                <a:gd name="connsiteY2" fmla="*/ 329938 h 970961"/>
                <a:gd name="connsiteX3" fmla="*/ 0 w 697583"/>
                <a:gd name="connsiteY3" fmla="*/ 0 h 97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583" h="970961">
                  <a:moveTo>
                    <a:pt x="0" y="0"/>
                  </a:moveTo>
                  <a:lnTo>
                    <a:pt x="490194" y="970961"/>
                  </a:lnTo>
                  <a:lnTo>
                    <a:pt x="697583" y="329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572264" y="2063526"/>
            <a:ext cx="1295894" cy="1428760"/>
            <a:chOff x="6572264" y="1928802"/>
            <a:chExt cx="1295894" cy="1428760"/>
          </a:xfrm>
        </p:grpSpPr>
        <p:sp>
          <p:nvSpPr>
            <p:cNvPr id="12" name="자유형 11"/>
            <p:cNvSpPr/>
            <p:nvPr/>
          </p:nvSpPr>
          <p:spPr>
            <a:xfrm>
              <a:off x="6572264" y="1928802"/>
              <a:ext cx="612742" cy="1423448"/>
            </a:xfrm>
            <a:custGeom>
              <a:avLst/>
              <a:gdLst>
                <a:gd name="connsiteX0" fmla="*/ 433633 w 612742"/>
                <a:gd name="connsiteY0" fmla="*/ 1423448 h 1423448"/>
                <a:gd name="connsiteX1" fmla="*/ 612742 w 612742"/>
                <a:gd name="connsiteY1" fmla="*/ 0 h 1423448"/>
                <a:gd name="connsiteX2" fmla="*/ 0 w 612742"/>
                <a:gd name="connsiteY2" fmla="*/ 556182 h 1423448"/>
                <a:gd name="connsiteX3" fmla="*/ 433633 w 612742"/>
                <a:gd name="connsiteY3" fmla="*/ 1423448 h 1423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742" h="1423448">
                  <a:moveTo>
                    <a:pt x="433633" y="1423448"/>
                  </a:moveTo>
                  <a:lnTo>
                    <a:pt x="612742" y="0"/>
                  </a:lnTo>
                  <a:lnTo>
                    <a:pt x="0" y="556182"/>
                  </a:lnTo>
                  <a:lnTo>
                    <a:pt x="433633" y="142344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자유형 13"/>
            <p:cNvSpPr/>
            <p:nvPr/>
          </p:nvSpPr>
          <p:spPr>
            <a:xfrm>
              <a:off x="7000892" y="1934114"/>
              <a:ext cx="867266" cy="1423448"/>
            </a:xfrm>
            <a:custGeom>
              <a:avLst/>
              <a:gdLst>
                <a:gd name="connsiteX0" fmla="*/ 0 w 867266"/>
                <a:gd name="connsiteY0" fmla="*/ 1423448 h 1423448"/>
                <a:gd name="connsiteX1" fmla="*/ 867266 w 867266"/>
                <a:gd name="connsiteY1" fmla="*/ 329938 h 1423448"/>
                <a:gd name="connsiteX2" fmla="*/ 179109 w 867266"/>
                <a:gd name="connsiteY2" fmla="*/ 0 h 1423448"/>
                <a:gd name="connsiteX3" fmla="*/ 0 w 867266"/>
                <a:gd name="connsiteY3" fmla="*/ 1423448 h 1423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7266" h="1423448">
                  <a:moveTo>
                    <a:pt x="0" y="1423448"/>
                  </a:moveTo>
                  <a:lnTo>
                    <a:pt x="867266" y="329938"/>
                  </a:lnTo>
                  <a:lnTo>
                    <a:pt x="179109" y="0"/>
                  </a:lnTo>
                  <a:lnTo>
                    <a:pt x="0" y="1423448"/>
                  </a:lnTo>
                  <a:close/>
                </a:path>
              </a:pathLst>
            </a:cu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>
              <a:off x="7000892" y="2264052"/>
              <a:ext cx="867266" cy="1093510"/>
            </a:xfrm>
            <a:custGeom>
              <a:avLst/>
              <a:gdLst>
                <a:gd name="connsiteX0" fmla="*/ 0 w 867266"/>
                <a:gd name="connsiteY0" fmla="*/ 1093510 h 1093510"/>
                <a:gd name="connsiteX1" fmla="*/ 867266 w 867266"/>
                <a:gd name="connsiteY1" fmla="*/ 0 h 1093510"/>
                <a:gd name="connsiteX2" fmla="*/ 669303 w 867266"/>
                <a:gd name="connsiteY2" fmla="*/ 650450 h 1093510"/>
                <a:gd name="connsiteX3" fmla="*/ 0 w 867266"/>
                <a:gd name="connsiteY3" fmla="*/ 1093510 h 1093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7266" h="1093510">
                  <a:moveTo>
                    <a:pt x="0" y="1093510"/>
                  </a:moveTo>
                  <a:lnTo>
                    <a:pt x="867266" y="0"/>
                  </a:lnTo>
                  <a:lnTo>
                    <a:pt x="669303" y="650450"/>
                  </a:lnTo>
                  <a:lnTo>
                    <a:pt x="0" y="109351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3633296" y="4367212"/>
            <a:ext cx="1340525" cy="1409599"/>
            <a:chOff x="3633296" y="3143248"/>
            <a:chExt cx="1340525" cy="1409599"/>
          </a:xfrm>
        </p:grpSpPr>
        <p:sp>
          <p:nvSpPr>
            <p:cNvPr id="17" name="자유형 16"/>
            <p:cNvSpPr/>
            <p:nvPr/>
          </p:nvSpPr>
          <p:spPr>
            <a:xfrm>
              <a:off x="3633296" y="3685581"/>
              <a:ext cx="1140643" cy="867266"/>
            </a:xfrm>
            <a:custGeom>
              <a:avLst/>
              <a:gdLst>
                <a:gd name="connsiteX0" fmla="*/ 1140643 w 1140643"/>
                <a:gd name="connsiteY0" fmla="*/ 424206 h 867266"/>
                <a:gd name="connsiteX1" fmla="*/ 0 w 1140643"/>
                <a:gd name="connsiteY1" fmla="*/ 0 h 867266"/>
                <a:gd name="connsiteX2" fmla="*/ 443060 w 1140643"/>
                <a:gd name="connsiteY2" fmla="*/ 867266 h 867266"/>
                <a:gd name="connsiteX3" fmla="*/ 1140643 w 1140643"/>
                <a:gd name="connsiteY3" fmla="*/ 424206 h 86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643" h="867266">
                  <a:moveTo>
                    <a:pt x="1140643" y="424206"/>
                  </a:moveTo>
                  <a:lnTo>
                    <a:pt x="0" y="0"/>
                  </a:lnTo>
                  <a:lnTo>
                    <a:pt x="443060" y="867266"/>
                  </a:lnTo>
                  <a:lnTo>
                    <a:pt x="1140643" y="424206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자유형 17"/>
            <p:cNvSpPr/>
            <p:nvPr/>
          </p:nvSpPr>
          <p:spPr>
            <a:xfrm>
              <a:off x="4276238" y="3143248"/>
              <a:ext cx="697583" cy="970961"/>
            </a:xfrm>
            <a:custGeom>
              <a:avLst/>
              <a:gdLst>
                <a:gd name="connsiteX0" fmla="*/ 0 w 697583"/>
                <a:gd name="connsiteY0" fmla="*/ 0 h 970961"/>
                <a:gd name="connsiteX1" fmla="*/ 490194 w 697583"/>
                <a:gd name="connsiteY1" fmla="*/ 970961 h 970961"/>
                <a:gd name="connsiteX2" fmla="*/ 697583 w 697583"/>
                <a:gd name="connsiteY2" fmla="*/ 329938 h 970961"/>
                <a:gd name="connsiteX3" fmla="*/ 0 w 697583"/>
                <a:gd name="connsiteY3" fmla="*/ 0 h 97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583" h="970961">
                  <a:moveTo>
                    <a:pt x="0" y="0"/>
                  </a:moveTo>
                  <a:lnTo>
                    <a:pt x="490194" y="970961"/>
                  </a:lnTo>
                  <a:lnTo>
                    <a:pt x="697583" y="329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자유형 18"/>
            <p:cNvSpPr/>
            <p:nvPr/>
          </p:nvSpPr>
          <p:spPr>
            <a:xfrm>
              <a:off x="3654514" y="3143248"/>
              <a:ext cx="1121790" cy="970961"/>
            </a:xfrm>
            <a:custGeom>
              <a:avLst/>
              <a:gdLst>
                <a:gd name="connsiteX0" fmla="*/ 622169 w 1121790"/>
                <a:gd name="connsiteY0" fmla="*/ 0 h 970961"/>
                <a:gd name="connsiteX1" fmla="*/ 0 w 1121790"/>
                <a:gd name="connsiteY1" fmla="*/ 546755 h 970961"/>
                <a:gd name="connsiteX2" fmla="*/ 1121790 w 1121790"/>
                <a:gd name="connsiteY2" fmla="*/ 970961 h 970961"/>
                <a:gd name="connsiteX3" fmla="*/ 622169 w 1121790"/>
                <a:gd name="connsiteY3" fmla="*/ 0 h 97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1790" h="970961">
                  <a:moveTo>
                    <a:pt x="622169" y="0"/>
                  </a:moveTo>
                  <a:lnTo>
                    <a:pt x="0" y="546755"/>
                  </a:lnTo>
                  <a:lnTo>
                    <a:pt x="1121790" y="970961"/>
                  </a:lnTo>
                  <a:lnTo>
                    <a:pt x="622169" y="0"/>
                  </a:lnTo>
                  <a:close/>
                </a:path>
              </a:pathLst>
            </a:cu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5500694" y="4391961"/>
            <a:ext cx="1319752" cy="1404011"/>
            <a:chOff x="5500694" y="3167997"/>
            <a:chExt cx="1319752" cy="1404011"/>
          </a:xfrm>
        </p:grpSpPr>
        <p:sp>
          <p:nvSpPr>
            <p:cNvPr id="20" name="자유형 19"/>
            <p:cNvSpPr/>
            <p:nvPr/>
          </p:nvSpPr>
          <p:spPr>
            <a:xfrm>
              <a:off x="5500694" y="3167997"/>
              <a:ext cx="1310326" cy="546755"/>
            </a:xfrm>
            <a:custGeom>
              <a:avLst/>
              <a:gdLst>
                <a:gd name="connsiteX0" fmla="*/ 612742 w 1310326"/>
                <a:gd name="connsiteY0" fmla="*/ 0 h 546755"/>
                <a:gd name="connsiteX1" fmla="*/ 0 w 1310326"/>
                <a:gd name="connsiteY1" fmla="*/ 546755 h 546755"/>
                <a:gd name="connsiteX2" fmla="*/ 1310326 w 1310326"/>
                <a:gd name="connsiteY2" fmla="*/ 329938 h 546755"/>
                <a:gd name="connsiteX3" fmla="*/ 612742 w 1310326"/>
                <a:gd name="connsiteY3" fmla="*/ 0 h 546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26" h="546755">
                  <a:moveTo>
                    <a:pt x="612742" y="0"/>
                  </a:moveTo>
                  <a:lnTo>
                    <a:pt x="0" y="546755"/>
                  </a:lnTo>
                  <a:lnTo>
                    <a:pt x="1310326" y="329938"/>
                  </a:lnTo>
                  <a:lnTo>
                    <a:pt x="612742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자유형 20"/>
            <p:cNvSpPr/>
            <p:nvPr/>
          </p:nvSpPr>
          <p:spPr>
            <a:xfrm>
              <a:off x="5953180" y="3475689"/>
              <a:ext cx="867266" cy="1093510"/>
            </a:xfrm>
            <a:custGeom>
              <a:avLst/>
              <a:gdLst>
                <a:gd name="connsiteX0" fmla="*/ 0 w 867266"/>
                <a:gd name="connsiteY0" fmla="*/ 1093510 h 1093510"/>
                <a:gd name="connsiteX1" fmla="*/ 867266 w 867266"/>
                <a:gd name="connsiteY1" fmla="*/ 0 h 1093510"/>
                <a:gd name="connsiteX2" fmla="*/ 669303 w 867266"/>
                <a:gd name="connsiteY2" fmla="*/ 650450 h 1093510"/>
                <a:gd name="connsiteX3" fmla="*/ 0 w 867266"/>
                <a:gd name="connsiteY3" fmla="*/ 1093510 h 1093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7266" h="1093510">
                  <a:moveTo>
                    <a:pt x="0" y="1093510"/>
                  </a:moveTo>
                  <a:lnTo>
                    <a:pt x="867266" y="0"/>
                  </a:lnTo>
                  <a:lnTo>
                    <a:pt x="669303" y="650450"/>
                  </a:lnTo>
                  <a:lnTo>
                    <a:pt x="0" y="109351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자유형 21"/>
            <p:cNvSpPr/>
            <p:nvPr/>
          </p:nvSpPr>
          <p:spPr>
            <a:xfrm>
              <a:off x="5500694" y="3478499"/>
              <a:ext cx="1319752" cy="1093509"/>
            </a:xfrm>
            <a:custGeom>
              <a:avLst/>
              <a:gdLst>
                <a:gd name="connsiteX0" fmla="*/ 1319752 w 1319752"/>
                <a:gd name="connsiteY0" fmla="*/ 0 h 1093509"/>
                <a:gd name="connsiteX1" fmla="*/ 0 w 1319752"/>
                <a:gd name="connsiteY1" fmla="*/ 235670 h 1093509"/>
                <a:gd name="connsiteX2" fmla="*/ 443060 w 1319752"/>
                <a:gd name="connsiteY2" fmla="*/ 1093509 h 1093509"/>
                <a:gd name="connsiteX3" fmla="*/ 1319752 w 1319752"/>
                <a:gd name="connsiteY3" fmla="*/ 0 h 1093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9752" h="1093509">
                  <a:moveTo>
                    <a:pt x="1319752" y="0"/>
                  </a:moveTo>
                  <a:lnTo>
                    <a:pt x="0" y="235670"/>
                  </a:lnTo>
                  <a:lnTo>
                    <a:pt x="443060" y="1093509"/>
                  </a:lnTo>
                  <a:lnTo>
                    <a:pt x="1319752" y="0"/>
                  </a:lnTo>
                  <a:close/>
                </a:path>
              </a:pathLst>
            </a:cu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907338" y="2199194"/>
            <a:ext cx="1310326" cy="1404594"/>
            <a:chOff x="907338" y="2064470"/>
            <a:chExt cx="1310326" cy="1404594"/>
          </a:xfrm>
        </p:grpSpPr>
        <p:sp>
          <p:nvSpPr>
            <p:cNvPr id="5" name="자유형 4"/>
            <p:cNvSpPr/>
            <p:nvPr/>
          </p:nvSpPr>
          <p:spPr>
            <a:xfrm>
              <a:off x="907338" y="2064470"/>
              <a:ext cx="1310326" cy="1404594"/>
            </a:xfrm>
            <a:custGeom>
              <a:avLst/>
              <a:gdLst>
                <a:gd name="connsiteX0" fmla="*/ 622169 w 1310326"/>
                <a:gd name="connsiteY0" fmla="*/ 0 h 1404594"/>
                <a:gd name="connsiteX1" fmla="*/ 0 w 1310326"/>
                <a:gd name="connsiteY1" fmla="*/ 537328 h 1404594"/>
                <a:gd name="connsiteX2" fmla="*/ 443060 w 1310326"/>
                <a:gd name="connsiteY2" fmla="*/ 1404594 h 1404594"/>
                <a:gd name="connsiteX3" fmla="*/ 1112363 w 1310326"/>
                <a:gd name="connsiteY3" fmla="*/ 952107 h 1404594"/>
                <a:gd name="connsiteX4" fmla="*/ 1310326 w 1310326"/>
                <a:gd name="connsiteY4" fmla="*/ 320511 h 1404594"/>
                <a:gd name="connsiteX5" fmla="*/ 622169 w 1310326"/>
                <a:gd name="connsiteY5" fmla="*/ 0 h 1404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0326" h="1404594">
                  <a:moveTo>
                    <a:pt x="622169" y="0"/>
                  </a:moveTo>
                  <a:lnTo>
                    <a:pt x="0" y="537328"/>
                  </a:lnTo>
                  <a:lnTo>
                    <a:pt x="443060" y="1404594"/>
                  </a:lnTo>
                  <a:lnTo>
                    <a:pt x="1112363" y="952107"/>
                  </a:lnTo>
                  <a:lnTo>
                    <a:pt x="1310326" y="320511"/>
                  </a:lnTo>
                  <a:lnTo>
                    <a:pt x="622169" y="0"/>
                  </a:ln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87624" y="2555612"/>
              <a:ext cx="792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 = 5</a:t>
              </a:r>
              <a:endParaRPr lang="ko-KR" alt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3203848" y="1907540"/>
            <a:ext cx="1728192" cy="1224136"/>
            <a:chOff x="3203848" y="1772816"/>
            <a:chExt cx="1728192" cy="1224136"/>
          </a:xfrm>
        </p:grpSpPr>
        <p:sp>
          <p:nvSpPr>
            <p:cNvPr id="43" name="TextBox 42"/>
            <p:cNvSpPr txBox="1"/>
            <p:nvPr/>
          </p:nvSpPr>
          <p:spPr>
            <a:xfrm>
              <a:off x="3203848" y="2689175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ko-KR" sz="1400" i="1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1400" baseline="-250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ko-KR" sz="1400" i="1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x</a:t>
              </a:r>
              <a:r>
                <a:rPr lang="en-US" altLang="ko-KR" sz="1400" baseline="-250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endParaRPr lang="ko-KR" altLang="en-US" sz="1400" baseline="-25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03848" y="2204864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((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1400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 x</a:t>
              </a:r>
              <a:r>
                <a:rPr lang="en-US" altLang="ko-KR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707904" y="1772816"/>
              <a:ext cx="12241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1400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((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1400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 x</a:t>
              </a:r>
              <a:r>
                <a:rPr lang="en-US" altLang="ko-KR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))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55576" y="2123564"/>
            <a:ext cx="1800200" cy="1593468"/>
            <a:chOff x="755576" y="1988840"/>
            <a:chExt cx="1800200" cy="1593468"/>
          </a:xfrm>
        </p:grpSpPr>
        <p:sp>
          <p:nvSpPr>
            <p:cNvPr id="33" name="TextBox 32"/>
            <p:cNvSpPr txBox="1"/>
            <p:nvPr/>
          </p:nvSpPr>
          <p:spPr>
            <a:xfrm>
              <a:off x="755576" y="2924944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27584" y="1988840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123728" y="2492896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619672" y="3212976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7" name="직선 연결선 46"/>
            <p:cNvCxnSpPr/>
            <p:nvPr/>
          </p:nvCxnSpPr>
          <p:spPr>
            <a:xfrm>
              <a:off x="1529507" y="2060276"/>
              <a:ext cx="688157" cy="32051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/>
          <p:cNvGrpSpPr/>
          <p:nvPr/>
        </p:nvGrpSpPr>
        <p:grpSpPr>
          <a:xfrm>
            <a:off x="2771800" y="3626440"/>
            <a:ext cx="5256584" cy="2610872"/>
            <a:chOff x="2771800" y="3491716"/>
            <a:chExt cx="5256584" cy="2610872"/>
          </a:xfrm>
        </p:grpSpPr>
        <p:sp>
          <p:nvSpPr>
            <p:cNvPr id="40" name="TextBox 39"/>
            <p:cNvSpPr txBox="1"/>
            <p:nvPr/>
          </p:nvSpPr>
          <p:spPr>
            <a:xfrm>
              <a:off x="2771800" y="3501008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1 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 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))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716016" y="3501008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(((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 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 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516216" y="3491716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))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563888" y="572396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 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 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)) 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436096" y="5733256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1 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)))</a:t>
              </a:r>
              <a:endParaRPr lang="ko-KR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5" name="그룹 31"/>
          <p:cNvGrpSpPr/>
          <p:nvPr/>
        </p:nvGrpSpPr>
        <p:grpSpPr>
          <a:xfrm>
            <a:off x="863151" y="4420980"/>
            <a:ext cx="1404593" cy="1593130"/>
            <a:chOff x="1024267" y="4286256"/>
            <a:chExt cx="1404593" cy="1593130"/>
          </a:xfrm>
        </p:grpSpPr>
        <p:sp>
          <p:nvSpPr>
            <p:cNvPr id="56" name="자유형 55"/>
            <p:cNvSpPr/>
            <p:nvPr/>
          </p:nvSpPr>
          <p:spPr>
            <a:xfrm>
              <a:off x="1024267" y="4286256"/>
              <a:ext cx="1404593" cy="1593130"/>
            </a:xfrm>
            <a:custGeom>
              <a:avLst/>
              <a:gdLst>
                <a:gd name="connsiteX0" fmla="*/ 641022 w 1404593"/>
                <a:gd name="connsiteY0" fmla="*/ 0 h 1593130"/>
                <a:gd name="connsiteX1" fmla="*/ 28280 w 1404593"/>
                <a:gd name="connsiteY1" fmla="*/ 443060 h 1593130"/>
                <a:gd name="connsiteX2" fmla="*/ 0 w 1404593"/>
                <a:gd name="connsiteY2" fmla="*/ 1178350 h 1593130"/>
                <a:gd name="connsiteX3" fmla="*/ 678729 w 1404593"/>
                <a:gd name="connsiteY3" fmla="*/ 1593130 h 1593130"/>
                <a:gd name="connsiteX4" fmla="*/ 1404593 w 1404593"/>
                <a:gd name="connsiteY4" fmla="*/ 1102936 h 1593130"/>
                <a:gd name="connsiteX5" fmla="*/ 1197204 w 1404593"/>
                <a:gd name="connsiteY5" fmla="*/ 377072 h 1593130"/>
                <a:gd name="connsiteX6" fmla="*/ 641022 w 1404593"/>
                <a:gd name="connsiteY6" fmla="*/ 0 h 15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593" h="1593130">
                  <a:moveTo>
                    <a:pt x="641022" y="0"/>
                  </a:moveTo>
                  <a:lnTo>
                    <a:pt x="28280" y="443060"/>
                  </a:lnTo>
                  <a:lnTo>
                    <a:pt x="0" y="1178350"/>
                  </a:lnTo>
                  <a:lnTo>
                    <a:pt x="678729" y="1593130"/>
                  </a:lnTo>
                  <a:lnTo>
                    <a:pt x="1404593" y="1102936"/>
                  </a:lnTo>
                  <a:lnTo>
                    <a:pt x="1197204" y="377072"/>
                  </a:lnTo>
                  <a:lnTo>
                    <a:pt x="641022" y="0"/>
                  </a:ln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04724" y="4931876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 dirty="0" smtClean="0"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altLang="ko-KR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altLang="ko-KR" dirty="0" smtClean="0">
                  <a:latin typeface="Times New Roman" pitchFamily="18" charset="0"/>
                  <a:cs typeface="Times New Roman" pitchFamily="18" charset="0"/>
                </a:rPr>
                <a:t> = 14</a:t>
              </a:r>
              <a:endParaRPr lang="ko-KR" alt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8" name="직사각형 57"/>
          <p:cNvSpPr/>
          <p:nvPr/>
        </p:nvSpPr>
        <p:spPr>
          <a:xfrm>
            <a:off x="1187624" y="2699628"/>
            <a:ext cx="79208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1115616" y="5075892"/>
            <a:ext cx="792088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660934" y="44624"/>
            <a:ext cx="144757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/>
              <a:t>1  2  4</a:t>
            </a:r>
          </a:p>
          <a:p>
            <a:pPr algn="ctr"/>
            <a:r>
              <a:rPr lang="en-US" altLang="ko-KR" sz="2400" dirty="0" smtClean="0"/>
              <a:t>3  5  6</a:t>
            </a:r>
            <a:endParaRPr lang="ko-KR" altLang="en-US" sz="2400" dirty="0"/>
          </a:p>
        </p:txBody>
      </p:sp>
      <p:sp>
        <p:nvSpPr>
          <p:cNvPr id="13" name="직사각형 12"/>
          <p:cNvSpPr/>
          <p:nvPr/>
        </p:nvSpPr>
        <p:spPr>
          <a:xfrm>
            <a:off x="7660934" y="44625"/>
            <a:ext cx="1447570" cy="821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083081" y="467380"/>
            <a:ext cx="152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1,1,-1,1,-1,-1</a:t>
            </a:r>
            <a:endParaRPr lang="ko-KR" alt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083081" y="85306"/>
            <a:ext cx="1585263" cy="713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7596336" y="4049777"/>
            <a:ext cx="136815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/>
              <a:t>1  2  5</a:t>
            </a:r>
          </a:p>
          <a:p>
            <a:pPr algn="ctr"/>
            <a:r>
              <a:rPr lang="en-US" altLang="ko-KR" sz="2000" dirty="0" smtClean="0"/>
              <a:t>3  4  6</a:t>
            </a:r>
            <a:endParaRPr lang="ko-KR" altLang="en-US" sz="2000" dirty="0"/>
          </a:p>
        </p:txBody>
      </p:sp>
      <p:sp>
        <p:nvSpPr>
          <p:cNvPr id="61" name="직사각형 60"/>
          <p:cNvSpPr/>
          <p:nvPr/>
        </p:nvSpPr>
        <p:spPr>
          <a:xfrm>
            <a:off x="7668344" y="4077072"/>
            <a:ext cx="1296144" cy="605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오른쪽 화살표 22"/>
          <p:cNvSpPr/>
          <p:nvPr/>
        </p:nvSpPr>
        <p:spPr>
          <a:xfrm flipH="1">
            <a:off x="8100392" y="3793503"/>
            <a:ext cx="288032" cy="103366"/>
          </a:xfrm>
          <a:prstGeom prst="rightArrow">
            <a:avLst/>
          </a:prstGeom>
          <a:solidFill>
            <a:srgbClr val="FF00FF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13" grpId="0" animBg="1"/>
      <p:bldP spid="60" grpId="0" animBg="1"/>
      <p:bldP spid="61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05272" y="260648"/>
            <a:ext cx="685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(A) 12! / 2     (B) 6! X 6! / 2    (C) b</a:t>
            </a:r>
            <a:r>
              <a:rPr lang="en-US" altLang="ko-KR" sz="1400" baseline="-25000" dirty="0" smtClean="0"/>
              <a:t>6</a:t>
            </a:r>
            <a:r>
              <a:rPr lang="en-US" altLang="ko-KR" sz="1400" dirty="0" smtClean="0"/>
              <a:t> = 132    (D) </a:t>
            </a:r>
            <a:r>
              <a:rPr lang="en-US" altLang="ko-KR" sz="1400" baseline="-25000" dirty="0" smtClean="0"/>
              <a:t>3</a:t>
            </a:r>
            <a:r>
              <a:rPr lang="en-US" altLang="ko-KR" sz="1400" dirty="0" smtClean="0"/>
              <a:t>H</a:t>
            </a:r>
            <a:r>
              <a:rPr lang="en-US" altLang="ko-KR" sz="1400" baseline="-25000" dirty="0" smtClean="0"/>
              <a:t>12</a:t>
            </a:r>
            <a:r>
              <a:rPr lang="en-US" altLang="ko-KR" sz="1400" dirty="0" smtClean="0"/>
              <a:t> = 91   (E) </a:t>
            </a:r>
            <a:r>
              <a:rPr lang="en-US" altLang="ko-KR" sz="1400" baseline="-25000" dirty="0" smtClean="0"/>
              <a:t>4</a:t>
            </a:r>
            <a:r>
              <a:rPr lang="en-US" altLang="ko-KR" sz="1400" dirty="0" smtClean="0"/>
              <a:t>H</a:t>
            </a:r>
            <a:r>
              <a:rPr lang="en-US" altLang="ko-KR" sz="1400" baseline="-25000" dirty="0" smtClean="0"/>
              <a:t>12</a:t>
            </a:r>
            <a:r>
              <a:rPr lang="en-US" altLang="ko-KR" sz="1400" dirty="0" smtClean="0"/>
              <a:t> = 4558</a:t>
            </a:r>
            <a:endParaRPr lang="ko-KR" altLang="en-US" sz="1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280920" cy="648072"/>
          </a:xfrm>
          <a:solidFill>
            <a:schemeClr val="bg1"/>
          </a:solidFill>
        </p:spPr>
        <p:txBody>
          <a:bodyPr/>
          <a:lstStyle/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altLang="ko-KR" dirty="0" smtClean="0"/>
              <a:t>   Homework #1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400600"/>
          </a:xfrm>
          <a:solidFill>
            <a:schemeClr val="bg1"/>
          </a:solidFill>
        </p:spPr>
        <p:txBody>
          <a:bodyPr/>
          <a:lstStyle/>
          <a:p>
            <a:pPr>
              <a:buNone/>
            </a:pPr>
            <a:r>
              <a:rPr lang="en-US" altLang="ko-KR" sz="2000" dirty="0" smtClean="0"/>
              <a:t>For twelve students (six men and six women) in a membership meeting; </a:t>
            </a:r>
            <a:endParaRPr lang="ko-KR" altLang="ko-KR" sz="2000" dirty="0" smtClean="0"/>
          </a:p>
          <a:p>
            <a:pPr>
              <a:buNone/>
            </a:pPr>
            <a:r>
              <a:rPr lang="en-US" altLang="ko-KR" sz="1600" dirty="0" smtClean="0"/>
              <a:t>(A) How many different arrangement of their sitting at a rectangular table are possible ?  Four students can sit on a long side of the table, while two students on a short side. </a:t>
            </a:r>
            <a:endParaRPr lang="ko-KR" altLang="ko-KR" sz="1600" dirty="0" smtClean="0"/>
          </a:p>
          <a:p>
            <a:pPr>
              <a:buNone/>
            </a:pPr>
            <a:r>
              <a:rPr lang="en-US" altLang="ko-KR" sz="1600" dirty="0" smtClean="0"/>
              <a:t>(B) To sit in a </a:t>
            </a:r>
            <a:r>
              <a:rPr lang="en-US" altLang="ko-KR" sz="1600" dirty="0" smtClean="0">
                <a:solidFill>
                  <a:srgbClr val="000000"/>
                </a:solidFill>
              </a:rPr>
              <a:t>sexually </a:t>
            </a:r>
            <a:r>
              <a:rPr lang="en-US" altLang="ko-KR" sz="1600" dirty="0">
                <a:solidFill>
                  <a:srgbClr val="000000"/>
                </a:solidFill>
              </a:rPr>
              <a:t>alternate </a:t>
            </a:r>
            <a:r>
              <a:rPr lang="en-US" altLang="ko-KR" sz="1600" dirty="0" smtClean="0">
                <a:solidFill>
                  <a:srgbClr val="000000"/>
                </a:solidFill>
              </a:rPr>
              <a:t>ways at the table, they first make six pairs of man and woman. Then each pair sits on the same side of the table and a man in each pair sits at right hand of his partner. How many different </a:t>
            </a:r>
            <a:r>
              <a:rPr lang="en-US" altLang="ko-KR" sz="1600" dirty="0"/>
              <a:t>arrangement of their </a:t>
            </a:r>
            <a:r>
              <a:rPr lang="en-US" altLang="ko-KR" sz="1600" dirty="0" smtClean="0">
                <a:solidFill>
                  <a:srgbClr val="000000"/>
                </a:solidFill>
              </a:rPr>
              <a:t>sitting in such a way are possible ? </a:t>
            </a:r>
            <a:endParaRPr lang="ko-KR" altLang="ko-KR" sz="1600" dirty="0" smtClean="0"/>
          </a:p>
          <a:p>
            <a:pPr>
              <a:buNone/>
            </a:pPr>
            <a:r>
              <a:rPr lang="en-US" altLang="ko-KR" sz="1600" dirty="0" smtClean="0"/>
              <a:t>(C) The twelve students have a race to a big tree. </a:t>
            </a:r>
            <a:r>
              <a:rPr lang="en-US" altLang="ko-KR" sz="1600" dirty="0" smtClean="0"/>
              <a:t>When we count only the number of students at the big tree, the </a:t>
            </a:r>
            <a:r>
              <a:rPr lang="en-US" altLang="ko-KR" sz="1600" dirty="0" smtClean="0"/>
              <a:t>number of male students is always greater than or equal to </a:t>
            </a:r>
            <a:r>
              <a:rPr lang="en-US" altLang="ko-KR" sz="1600" dirty="0" smtClean="0"/>
              <a:t>the number </a:t>
            </a:r>
            <a:r>
              <a:rPr lang="en-US" altLang="ko-KR" sz="1600" dirty="0" smtClean="0"/>
              <a:t>of female students. How many </a:t>
            </a:r>
            <a:r>
              <a:rPr lang="en-US" altLang="ko-KR" sz="1600" dirty="0" smtClean="0"/>
              <a:t>cases </a:t>
            </a:r>
            <a:r>
              <a:rPr lang="en-US" altLang="ko-KR" sz="1600" dirty="0" smtClean="0"/>
              <a:t>of arriving </a:t>
            </a:r>
            <a:r>
              <a:rPr lang="en-US" altLang="ko-KR" sz="1600" dirty="0" smtClean="0"/>
              <a:t>in such </a:t>
            </a:r>
            <a:r>
              <a:rPr lang="en-US" altLang="ko-KR" sz="1600" dirty="0" smtClean="0"/>
              <a:t>a way are possible ?</a:t>
            </a:r>
            <a:endParaRPr lang="ko-KR" altLang="ko-KR" sz="1600" dirty="0" smtClean="0"/>
          </a:p>
          <a:p>
            <a:pPr>
              <a:buNone/>
            </a:pPr>
            <a:r>
              <a:rPr lang="en-US" altLang="ko-KR" sz="1600" dirty="0" smtClean="0"/>
              <a:t>(D) </a:t>
            </a:r>
            <a:r>
              <a:rPr lang="en-US" altLang="ko-KR" sz="1600" dirty="0" smtClean="0"/>
              <a:t>There </a:t>
            </a:r>
            <a:r>
              <a:rPr lang="en-US" altLang="ko-KR" sz="1600" dirty="0" smtClean="0"/>
              <a:t>are three different computer games and each student plays one of the </a:t>
            </a:r>
            <a:r>
              <a:rPr lang="en-US" altLang="ko-KR" sz="1600" dirty="0" smtClean="0"/>
              <a:t>games after </a:t>
            </a:r>
            <a:r>
              <a:rPr lang="en-US" altLang="ko-KR" sz="1600" dirty="0"/>
              <a:t>dinner</a:t>
            </a:r>
            <a:r>
              <a:rPr lang="en-US" altLang="ko-KR" sz="1600" dirty="0" smtClean="0"/>
              <a:t>. W</a:t>
            </a:r>
            <a:r>
              <a:rPr lang="en-US" altLang="ko-KR" sz="1600" dirty="0" smtClean="0"/>
              <a:t>e count only the number of each game enjoyed. In how </a:t>
            </a:r>
            <a:r>
              <a:rPr lang="en-US" altLang="ko-KR" sz="1600" dirty="0" smtClean="0"/>
              <a:t>many </a:t>
            </a:r>
            <a:r>
              <a:rPr lang="en-US" altLang="ko-KR" sz="1600" dirty="0"/>
              <a:t>different ways </a:t>
            </a:r>
            <a:r>
              <a:rPr lang="en-US" altLang="ko-KR" sz="1600" dirty="0" smtClean="0"/>
              <a:t>are the three games enjoyed ?</a:t>
            </a:r>
            <a:endParaRPr lang="ko-KR" altLang="ko-KR" sz="1600" dirty="0" smtClean="0"/>
          </a:p>
          <a:p>
            <a:pPr>
              <a:buNone/>
            </a:pPr>
            <a:r>
              <a:rPr lang="en-US" altLang="ko-KR" sz="1600" dirty="0" smtClean="0"/>
              <a:t>(E) </a:t>
            </a:r>
            <a:r>
              <a:rPr lang="en-US" altLang="ko-KR" sz="1600" dirty="0"/>
              <a:t>In </a:t>
            </a:r>
            <a:r>
              <a:rPr lang="en-US" altLang="ko-KR" sz="1600" dirty="0" smtClean="0"/>
              <a:t>the situation of (D), if students are allowed not to enjoy the games, then the number of students enjoying the games is less than or equal to twelve</a:t>
            </a:r>
            <a:r>
              <a:rPr lang="en-US" altLang="ko-KR" sz="1600" dirty="0"/>
              <a:t>. In </a:t>
            </a:r>
            <a:r>
              <a:rPr lang="en-US" altLang="ko-KR" sz="1600" dirty="0" smtClean="0"/>
              <a:t>this instance, in how </a:t>
            </a:r>
            <a:r>
              <a:rPr lang="en-US" altLang="ko-KR" sz="1600" dirty="0"/>
              <a:t>many </a:t>
            </a:r>
            <a:r>
              <a:rPr lang="en-US" altLang="ko-KR" sz="1600" dirty="0" smtClean="0"/>
              <a:t>different ways are </a:t>
            </a:r>
            <a:r>
              <a:rPr lang="en-US" altLang="ko-KR" sz="1600" dirty="0"/>
              <a:t>the </a:t>
            </a:r>
            <a:r>
              <a:rPr lang="en-US" altLang="ko-KR" sz="1600" dirty="0" smtClean="0"/>
              <a:t>three games enjoyed ?  (Hint: take into account a new game called no-game. Then there are four different games.)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84" y="6165304"/>
            <a:ext cx="735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Both"/>
            </a:pPr>
            <a:r>
              <a:rPr lang="en-US" altLang="ko-KR" sz="1600" dirty="0" smtClean="0">
                <a:solidFill>
                  <a:srgbClr val="008000"/>
                </a:solidFill>
                <a:latin typeface="+mn-lt"/>
              </a:rPr>
              <a:t>Rotation Factor (RF) ?     (B) Pair</a:t>
            </a:r>
            <a:r>
              <a:rPr lang="ko-KR" altLang="en-US" sz="16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en-US" altLang="ko-KR" sz="1600" dirty="0" smtClean="0">
                <a:solidFill>
                  <a:srgbClr val="008000"/>
                </a:solidFill>
                <a:latin typeface="+mn-lt"/>
              </a:rPr>
              <a:t>6!, RF = ?     (C) Catalan No. ?   </a:t>
            </a:r>
          </a:p>
          <a:p>
            <a:r>
              <a:rPr lang="en-US" altLang="ko-KR" sz="1600" dirty="0" smtClean="0">
                <a:solidFill>
                  <a:srgbClr val="008000"/>
                </a:solidFill>
                <a:latin typeface="+mn-lt"/>
              </a:rPr>
              <a:t>(D), (E) Combination with repetition</a:t>
            </a:r>
            <a:r>
              <a:rPr lang="ko-KR" altLang="en-US" sz="16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en-US" altLang="ko-KR" sz="1600" dirty="0" smtClean="0">
                <a:solidFill>
                  <a:srgbClr val="008000"/>
                </a:solidFill>
                <a:latin typeface="+mn-lt"/>
              </a:rPr>
              <a:t>?</a:t>
            </a:r>
            <a:endParaRPr lang="ko-KR" altLang="en-US" sz="1600" dirty="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7504" y="6237312"/>
            <a:ext cx="8928992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solidFill>
                  <a:srgbClr val="0000CC"/>
                </a:solidFill>
              </a:rPr>
              <a:t>For </a:t>
            </a:r>
            <a:r>
              <a:rPr lang="en-US" altLang="ko-KR" sz="1600" dirty="0">
                <a:solidFill>
                  <a:srgbClr val="0000CC"/>
                </a:solidFill>
              </a:rPr>
              <a:t>each question, write the </a:t>
            </a:r>
            <a:r>
              <a:rPr lang="en-US" altLang="ko-KR" sz="1600" dirty="0" smtClean="0">
                <a:solidFill>
                  <a:srgbClr val="0000CC"/>
                </a:solidFill>
              </a:rPr>
              <a:t>given question </a:t>
            </a:r>
            <a:r>
              <a:rPr lang="en-US" altLang="ko-KR" sz="1600" dirty="0">
                <a:solidFill>
                  <a:srgbClr val="0000CC"/>
                </a:solidFill>
              </a:rPr>
              <a:t>first </a:t>
            </a:r>
            <a:r>
              <a:rPr lang="en-US" altLang="ko-KR" sz="1600" dirty="0" smtClean="0">
                <a:solidFill>
                  <a:srgbClr val="0000CC"/>
                </a:solidFill>
              </a:rPr>
              <a:t>in your report and </a:t>
            </a:r>
            <a:r>
              <a:rPr lang="en-US" altLang="ko-KR" sz="1600" dirty="0">
                <a:solidFill>
                  <a:srgbClr val="0000CC"/>
                </a:solidFill>
              </a:rPr>
              <a:t>then show your solution step by </a:t>
            </a:r>
            <a:r>
              <a:rPr lang="en-US" altLang="ko-KR" sz="1600" dirty="0" smtClean="0">
                <a:solidFill>
                  <a:srgbClr val="0000CC"/>
                </a:solidFill>
              </a:rPr>
              <a:t>step. Please use </a:t>
            </a:r>
            <a:r>
              <a:rPr lang="en-US" altLang="ko-KR" sz="1600" dirty="0">
                <a:solidFill>
                  <a:srgbClr val="0000CC"/>
                </a:solidFill>
              </a:rPr>
              <a:t>a ball pen. A cover </a:t>
            </a:r>
            <a:r>
              <a:rPr lang="en-US" altLang="ko-KR" sz="1600" dirty="0" smtClean="0">
                <a:solidFill>
                  <a:srgbClr val="0000CC"/>
                </a:solidFill>
              </a:rPr>
              <a:t>is needed on </a:t>
            </a:r>
            <a:r>
              <a:rPr lang="en-US" altLang="ko-KR" sz="1600" dirty="0">
                <a:solidFill>
                  <a:srgbClr val="0000CC"/>
                </a:solidFill>
              </a:rPr>
              <a:t>your </a:t>
            </a:r>
            <a:r>
              <a:rPr lang="en-US" altLang="ko-KR" sz="1600" dirty="0" smtClean="0">
                <a:solidFill>
                  <a:srgbClr val="0000CC"/>
                </a:solidFill>
              </a:rPr>
              <a:t>report.</a:t>
            </a:r>
            <a:endParaRPr lang="ko-KR" altLang="en-US" sz="1600" dirty="0">
              <a:solidFill>
                <a:srgbClr val="0000CC"/>
              </a:solidFill>
            </a:endParaRPr>
          </a:p>
        </p:txBody>
      </p:sp>
      <p:sp>
        <p:nvSpPr>
          <p:cNvPr id="8" name="웃는 얼굴 7"/>
          <p:cNvSpPr/>
          <p:nvPr/>
        </p:nvSpPr>
        <p:spPr>
          <a:xfrm>
            <a:off x="8758808" y="6453336"/>
            <a:ext cx="288032" cy="288032"/>
          </a:xfrm>
          <a:prstGeom prst="smileyFace">
            <a:avLst/>
          </a:prstGeom>
          <a:solidFill>
            <a:srgbClr val="92D050"/>
          </a:solidFill>
          <a:ln w="127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/>
          <p:cNvGrpSpPr/>
          <p:nvPr/>
        </p:nvGrpSpPr>
        <p:grpSpPr>
          <a:xfrm>
            <a:off x="3308514" y="764704"/>
            <a:ext cx="1656184" cy="72008"/>
            <a:chOff x="3347864" y="1124744"/>
            <a:chExt cx="1656184" cy="72008"/>
          </a:xfrm>
        </p:grpSpPr>
        <p:sp>
          <p:nvSpPr>
            <p:cNvPr id="4" name="타원 3"/>
            <p:cNvSpPr/>
            <p:nvPr/>
          </p:nvSpPr>
          <p:spPr>
            <a:xfrm>
              <a:off x="3347864" y="1124744"/>
              <a:ext cx="72008" cy="7200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/>
            <p:cNvSpPr/>
            <p:nvPr/>
          </p:nvSpPr>
          <p:spPr>
            <a:xfrm>
              <a:off x="4932040" y="1124744"/>
              <a:ext cx="72008" cy="7200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7807369" y="196017"/>
            <a:ext cx="941095" cy="568687"/>
            <a:chOff x="7807369" y="196017"/>
            <a:chExt cx="941095" cy="568687"/>
          </a:xfrm>
        </p:grpSpPr>
        <p:sp>
          <p:nvSpPr>
            <p:cNvPr id="10" name="직사각형 9"/>
            <p:cNvSpPr/>
            <p:nvPr/>
          </p:nvSpPr>
          <p:spPr>
            <a:xfrm>
              <a:off x="7956376" y="332656"/>
              <a:ext cx="648072" cy="29302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(B)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8018402" y="196017"/>
              <a:ext cx="221015" cy="76999"/>
              <a:chOff x="4999057" y="327665"/>
              <a:chExt cx="221015" cy="76999"/>
            </a:xfrm>
          </p:grpSpPr>
          <p:sp>
            <p:nvSpPr>
              <p:cNvPr id="11" name="타원 10"/>
              <p:cNvSpPr/>
              <p:nvPr/>
            </p:nvSpPr>
            <p:spPr>
              <a:xfrm>
                <a:off x="4999057" y="327665"/>
                <a:ext cx="76999" cy="76999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타원 11"/>
              <p:cNvSpPr/>
              <p:nvPr/>
            </p:nvSpPr>
            <p:spPr>
              <a:xfrm>
                <a:off x="5143073" y="327665"/>
                <a:ext cx="76999" cy="769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8311425" y="196017"/>
              <a:ext cx="221015" cy="76999"/>
              <a:chOff x="5503113" y="327665"/>
              <a:chExt cx="221015" cy="76999"/>
            </a:xfrm>
          </p:grpSpPr>
          <p:sp>
            <p:nvSpPr>
              <p:cNvPr id="13" name="타원 12"/>
              <p:cNvSpPr/>
              <p:nvPr/>
            </p:nvSpPr>
            <p:spPr>
              <a:xfrm>
                <a:off x="5503113" y="327665"/>
                <a:ext cx="76999" cy="76999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타원 13"/>
              <p:cNvSpPr/>
              <p:nvPr/>
            </p:nvSpPr>
            <p:spPr>
              <a:xfrm>
                <a:off x="5647129" y="327665"/>
                <a:ext cx="76999" cy="769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 rot="16200000">
              <a:off x="7735361" y="457818"/>
              <a:ext cx="221015" cy="76999"/>
              <a:chOff x="5503113" y="327665"/>
              <a:chExt cx="221015" cy="76999"/>
            </a:xfrm>
          </p:grpSpPr>
          <p:sp>
            <p:nvSpPr>
              <p:cNvPr id="18" name="타원 17"/>
              <p:cNvSpPr/>
              <p:nvPr/>
            </p:nvSpPr>
            <p:spPr>
              <a:xfrm>
                <a:off x="5503113" y="327665"/>
                <a:ext cx="76999" cy="76999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5647129" y="327665"/>
                <a:ext cx="76999" cy="769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/>
            <p:cNvGrpSpPr/>
            <p:nvPr/>
          </p:nvGrpSpPr>
          <p:grpSpPr>
            <a:xfrm flipH="1">
              <a:off x="8028384" y="687705"/>
              <a:ext cx="221015" cy="76999"/>
              <a:chOff x="4999057" y="327665"/>
              <a:chExt cx="221015" cy="76999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4999057" y="327665"/>
                <a:ext cx="76999" cy="76999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타원 21"/>
              <p:cNvSpPr/>
              <p:nvPr/>
            </p:nvSpPr>
            <p:spPr>
              <a:xfrm>
                <a:off x="5143073" y="327665"/>
                <a:ext cx="76999" cy="769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" name="그룹 22"/>
            <p:cNvGrpSpPr/>
            <p:nvPr/>
          </p:nvGrpSpPr>
          <p:grpSpPr>
            <a:xfrm flipH="1">
              <a:off x="8321407" y="687705"/>
              <a:ext cx="221015" cy="76999"/>
              <a:chOff x="5503113" y="327665"/>
              <a:chExt cx="221015" cy="76999"/>
            </a:xfrm>
          </p:grpSpPr>
          <p:sp>
            <p:nvSpPr>
              <p:cNvPr id="24" name="타원 23"/>
              <p:cNvSpPr/>
              <p:nvPr/>
            </p:nvSpPr>
            <p:spPr>
              <a:xfrm>
                <a:off x="5503113" y="327665"/>
                <a:ext cx="76999" cy="76999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타원 24"/>
              <p:cNvSpPr/>
              <p:nvPr/>
            </p:nvSpPr>
            <p:spPr>
              <a:xfrm>
                <a:off x="5647129" y="327665"/>
                <a:ext cx="76999" cy="769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6" name="그룹 25"/>
            <p:cNvGrpSpPr/>
            <p:nvPr/>
          </p:nvGrpSpPr>
          <p:grpSpPr>
            <a:xfrm rot="5400000" flipV="1">
              <a:off x="8599457" y="457818"/>
              <a:ext cx="221015" cy="76999"/>
              <a:chOff x="5503113" y="327665"/>
              <a:chExt cx="221015" cy="76999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5503113" y="327665"/>
                <a:ext cx="76999" cy="76999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5647129" y="327665"/>
                <a:ext cx="76999" cy="7699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292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xit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33333E-6 L -4.72222E-6 -0.64121 " pathEditMode="relative" rAng="0" ptsTypes="AA">
                                      <p:cBhvr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0 -0.4882 " pathEditMode="relative" rAng="0" ptsTypes="AA">
                                      <p:cBhvr>
                                        <p:cTn id="6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1" animBg="1"/>
      <p:bldP spid="5" grpId="2" animBg="1"/>
      <p:bldP spid="8" grpId="0" animBg="1"/>
    </p:bldLst>
  </p:timing>
</p:sld>
</file>

<file path=ppt/theme/theme1.xml><?xml version="1.0" encoding="utf-8"?>
<a:theme xmlns:a="http://schemas.openxmlformats.org/drawingml/2006/main" name="모자이크">
  <a:themeElements>
    <a:clrScheme name="모자이크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모자이크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모자이크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6725</TotalTime>
  <Words>967</Words>
  <Application>Microsoft Office PowerPoint</Application>
  <PresentationFormat>화면 슬라이드 쇼(4:3)</PresentationFormat>
  <Paragraphs>193</Paragraphs>
  <Slides>14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굴림</vt:lpstr>
      <vt:lpstr>Arial</vt:lpstr>
      <vt:lpstr>Symbol</vt:lpstr>
      <vt:lpstr>Times New Roman</vt:lpstr>
      <vt:lpstr>Wingdings</vt:lpstr>
      <vt:lpstr>모자이크</vt:lpstr>
      <vt:lpstr>수식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Catalan Number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  Homework #1</vt:lpstr>
    </vt:vector>
  </TitlesOfParts>
  <Company>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Computer : What is AI?</dc:title>
  <dc:creator>황준하</dc:creator>
  <cp:lastModifiedBy>User</cp:lastModifiedBy>
  <cp:revision>531</cp:revision>
  <cp:lastPrinted>2020-03-09T09:04:57Z</cp:lastPrinted>
  <dcterms:created xsi:type="dcterms:W3CDTF">2000-03-01T03:34:10Z</dcterms:created>
  <dcterms:modified xsi:type="dcterms:W3CDTF">2022-03-16T09:25:09Z</dcterms:modified>
</cp:coreProperties>
</file>