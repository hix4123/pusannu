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6"/>
  </p:notesMasterIdLst>
  <p:sldIdLst>
    <p:sldId id="267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15" r:id="rId11"/>
    <p:sldId id="304" r:id="rId12"/>
    <p:sldId id="321" r:id="rId13"/>
    <p:sldId id="305" r:id="rId14"/>
    <p:sldId id="306" r:id="rId15"/>
  </p:sldIdLst>
  <p:sldSz cx="9144000" cy="6858000" type="screen4x3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>
          <p15:clr>
            <a:srgbClr val="A4A3A4"/>
          </p15:clr>
        </p15:guide>
        <p15:guide id="2" pos="54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0000CC"/>
    <a:srgbClr val="660066"/>
    <a:srgbClr val="FF00FF"/>
    <a:srgbClr val="FFFFCC"/>
    <a:srgbClr val="CCFF66"/>
    <a:srgbClr val="0000FF"/>
    <a:srgbClr val="FF0066"/>
    <a:srgbClr val="FFEAD5"/>
    <a:srgbClr val="FFE0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 autoAdjust="0"/>
    <p:restoredTop sz="98458" autoAdjust="0"/>
  </p:normalViewPr>
  <p:slideViewPr>
    <p:cSldViewPr>
      <p:cViewPr varScale="1">
        <p:scale>
          <a:sx n="107" d="100"/>
          <a:sy n="107" d="100"/>
        </p:scale>
        <p:origin x="1734" y="96"/>
      </p:cViewPr>
      <p:guideLst>
        <p:guide orient="horz" pos="3840"/>
        <p:guide pos="547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-1308" y="-108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25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5153"/>
            <a:ext cx="4984962" cy="446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306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30306"/>
            <a:ext cx="2945659" cy="496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36A230B-CA52-480F-ADC2-CF1BF53AB92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904616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A745968-B8CA-48B6-90BC-DD0FF0982563}" type="slidenum">
              <a:rPr lang="en-US" altLang="ko-KR" smtClean="0"/>
              <a:pPr/>
              <a:t>1</a:t>
            </a:fld>
            <a:endParaRPr lang="en-US" altLang="ko-KR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28613" y="288925"/>
            <a:ext cx="6180137" cy="46355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2119" y="5044319"/>
            <a:ext cx="6193437" cy="4303266"/>
          </a:xfrm>
          <a:noFill/>
          <a:ln/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 sz="240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 latinLnBrk="0">
                  <a:defRPr/>
                </a:pPr>
                <a:endParaRPr kumimoji="0" lang="ko-KR" altLang="ko-KR" sz="2400">
                  <a:latin typeface="Times New Roman" pitchFamily="18" charset="0"/>
                </a:endParaRPr>
              </a:p>
            </p:txBody>
          </p:sp>
        </p:grpSp>
      </p:grpSp>
      <p:sp>
        <p:nvSpPr>
          <p:cNvPr id="74771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4772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6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r>
              <a:rPr lang="en-US" altLang="ko-KR"/>
              <a:t>Inference in BN</a:t>
            </a: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pPr>
              <a:defRPr/>
            </a:pPr>
            <a:fld id="{4B07CE18-7174-4DBC-B76D-3B8C0D72EDE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>
                <a:solidFill>
                  <a:srgbClr val="660066"/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808552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Counting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C463D-4C9A-4608-8A2A-D88AA504859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00108"/>
            <a:ext cx="8229600" cy="5165742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Counting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4A6C7D-94C1-4CFF-8554-B6006178260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latin typeface="+mn-lt"/>
              </a:defRPr>
            </a:lvl1pPr>
          </a:lstStyle>
          <a:p>
            <a:pPr>
              <a:defRPr/>
            </a:pPr>
            <a:r>
              <a:rPr lang="en-US" altLang="ko-KR"/>
              <a:t>Counting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+mn-lt"/>
              </a:defRPr>
            </a:lvl1pPr>
          </a:lstStyle>
          <a:p>
            <a:pPr>
              <a:defRPr/>
            </a:pPr>
            <a:fld id="{82994562-ABB7-4D76-A78C-BDC414444FD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grpSp>
        <p:nvGrpSpPr>
          <p:cNvPr id="13316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73733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Times New Roman" pitchFamily="18" charset="0"/>
              </a:endParaRPr>
            </a:p>
          </p:txBody>
        </p:sp>
        <p:sp>
          <p:nvSpPr>
            <p:cNvPr id="73734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 sz="2400">
                <a:latin typeface="Times New Roman" pitchFamily="18" charset="0"/>
              </a:endParaRPr>
            </a:p>
          </p:txBody>
        </p:sp>
        <p:sp>
          <p:nvSpPr>
            <p:cNvPr id="73735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73736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73737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73738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hlink"/>
                </a:solidFill>
                <a:latin typeface="Arial" charset="0"/>
              </a:endParaRPr>
            </a:p>
          </p:txBody>
        </p:sp>
        <p:sp>
          <p:nvSpPr>
            <p:cNvPr id="73739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 sz="2400">
                <a:latin typeface="Times New Roman" pitchFamily="18" charset="0"/>
              </a:endParaRPr>
            </a:p>
          </p:txBody>
        </p:sp>
        <p:sp>
          <p:nvSpPr>
            <p:cNvPr id="73740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accent2"/>
                </a:solidFill>
                <a:latin typeface="Arial" charset="0"/>
              </a:endParaRPr>
            </a:p>
          </p:txBody>
        </p:sp>
        <p:sp>
          <p:nvSpPr>
            <p:cNvPr id="73741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latinLnBrk="0">
                <a:defRPr/>
              </a:pPr>
              <a:endParaRPr kumimoji="0" lang="ko-KR" altLang="ko-KR">
                <a:solidFill>
                  <a:schemeClr val="accent2"/>
                </a:solidFill>
                <a:latin typeface="Arial" charset="0"/>
              </a:endParaRPr>
            </a:p>
          </p:txBody>
        </p:sp>
      </p:grpSp>
      <p:sp>
        <p:nvSpPr>
          <p:cNvPr id="13317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3318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57338"/>
            <a:ext cx="8229600" cy="4608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73744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/>
            </a:lvl1pPr>
          </a:lstStyle>
          <a:p>
            <a:pPr>
              <a:defRPr/>
            </a:pP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2" r:id="rId2"/>
    <p:sldLayoutId id="2147483773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0000CC"/>
          </a:solidFill>
          <a:latin typeface="+mj-lt"/>
          <a:ea typeface="+mj-ea"/>
          <a:cs typeface="+mj-cs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0000CC"/>
          </a:solidFill>
          <a:latin typeface="Arial" charset="0"/>
          <a:ea typeface="굴림" pitchFamily="50" charset="-127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0000CC"/>
          </a:solidFill>
          <a:latin typeface="Arial" charset="0"/>
          <a:ea typeface="굴림" pitchFamily="50" charset="-127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0000CC"/>
          </a:solidFill>
          <a:latin typeface="Arial" charset="0"/>
          <a:ea typeface="굴림" pitchFamily="50" charset="-127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3200">
          <a:solidFill>
            <a:srgbClr val="0000CC"/>
          </a:solidFill>
          <a:latin typeface="Arial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Arial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Arial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Arial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>
          <a:solidFill>
            <a:schemeClr val="tx1"/>
          </a:solidFill>
          <a:latin typeface="Arial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kumimoji="1"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kumimoj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kumimoji="1"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image" Target="../media/image6.jpeg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jpeg"/><Relationship Id="rId5" Type="http://schemas.openxmlformats.org/officeDocument/2006/relationships/image" Target="../media/image3.wmf"/><Relationship Id="rId10" Type="http://schemas.openxmlformats.org/officeDocument/2006/relationships/image" Target="../media/image5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5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oleObject" Target="../embeddings/oleObject6.bin"/><Relationship Id="rId7" Type="http://schemas.openxmlformats.org/officeDocument/2006/relationships/image" Target="../media/image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1.png"/><Relationship Id="rId4" Type="http://schemas.openxmlformats.org/officeDocument/2006/relationships/image" Target="../media/image8.wmf"/><Relationship Id="rId9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4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8.bin"/><Relationship Id="rId18" Type="http://schemas.openxmlformats.org/officeDocument/2006/relationships/image" Target="../media/image23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0.wmf"/><Relationship Id="rId17" Type="http://schemas.openxmlformats.org/officeDocument/2006/relationships/oleObject" Target="../embeddings/oleObject20.bin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22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21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4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8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5920680" cy="2209800"/>
          </a:xfrm>
        </p:spPr>
        <p:txBody>
          <a:bodyPr/>
          <a:lstStyle/>
          <a:p>
            <a:pPr eaLnBrk="1" hangingPunct="1"/>
            <a:r>
              <a:rPr lang="en-US" altLang="ko-KR" dirty="0" smtClean="0"/>
              <a:t>Fundamental  Principles of  Counting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Contents</a:t>
            </a:r>
            <a:endParaRPr lang="ko-KR" altLang="en-US" dirty="0" smtClean="0"/>
          </a:p>
        </p:txBody>
      </p:sp>
      <p:sp>
        <p:nvSpPr>
          <p:cNvPr id="16387" name="내용 개체 틀 2"/>
          <p:cNvSpPr>
            <a:spLocks noGrp="1"/>
          </p:cNvSpPr>
          <p:nvPr>
            <p:ph idx="1"/>
          </p:nvPr>
        </p:nvSpPr>
        <p:spPr>
          <a:xfrm>
            <a:off x="971600" y="1357313"/>
            <a:ext cx="7715200" cy="4808537"/>
          </a:xfrm>
        </p:spPr>
        <p:txBody>
          <a:bodyPr/>
          <a:lstStyle/>
          <a:p>
            <a:pPr eaLnBrk="1" hangingPunct="1"/>
            <a:endParaRPr lang="en-US" altLang="ko-KR" dirty="0" smtClean="0"/>
          </a:p>
          <a:p>
            <a:pPr eaLnBrk="1" hangingPunct="1"/>
            <a:r>
              <a:rPr lang="en-US" altLang="ko-KR" dirty="0" smtClean="0"/>
              <a:t>Rules of Sum and Product		</a:t>
            </a:r>
            <a:r>
              <a:rPr lang="ko-KR" altLang="en-US" sz="2000" dirty="0" smtClean="0"/>
              <a:t>합</a:t>
            </a:r>
            <a:r>
              <a:rPr lang="en-US" altLang="ko-KR" sz="2000" dirty="0" smtClean="0"/>
              <a:t>, </a:t>
            </a:r>
            <a:r>
              <a:rPr lang="ko-KR" altLang="en-US" sz="2000" dirty="0" smtClean="0"/>
              <a:t>곱의 법칙</a:t>
            </a:r>
            <a:endParaRPr lang="en-US" altLang="ko-KR" sz="2000" dirty="0" smtClean="0"/>
          </a:p>
          <a:p>
            <a:pPr eaLnBrk="1" hangingPunct="1">
              <a:lnSpc>
                <a:spcPct val="130000"/>
              </a:lnSpc>
              <a:spcBef>
                <a:spcPts val="1200"/>
              </a:spcBef>
            </a:pPr>
            <a:r>
              <a:rPr lang="en-US" altLang="ko-KR" dirty="0" smtClean="0"/>
              <a:t>Permutations				</a:t>
            </a:r>
            <a:r>
              <a:rPr lang="ko-KR" altLang="en-US" sz="2000" dirty="0" smtClean="0"/>
              <a:t>순열</a:t>
            </a:r>
            <a:endParaRPr lang="en-US" altLang="ko-KR" sz="2000" dirty="0" smtClean="0"/>
          </a:p>
          <a:p>
            <a:pPr eaLnBrk="1" hangingPunct="1">
              <a:lnSpc>
                <a:spcPct val="130000"/>
              </a:lnSpc>
              <a:spcBef>
                <a:spcPts val="1200"/>
              </a:spcBef>
            </a:pPr>
            <a:r>
              <a:rPr lang="en-US" altLang="ko-KR" dirty="0" smtClean="0"/>
              <a:t>Combinations: Binomial Theorem	</a:t>
            </a:r>
            <a:r>
              <a:rPr lang="ko-KR" altLang="en-US" sz="2000" dirty="0" smtClean="0"/>
              <a:t>조합</a:t>
            </a:r>
            <a:endParaRPr lang="en-US" altLang="ko-KR" sz="2000" dirty="0" smtClean="0"/>
          </a:p>
          <a:p>
            <a:pPr eaLnBrk="1" hangingPunct="1">
              <a:lnSpc>
                <a:spcPct val="130000"/>
              </a:lnSpc>
              <a:spcBef>
                <a:spcPts val="1200"/>
              </a:spcBef>
            </a:pPr>
            <a:r>
              <a:rPr lang="en-US" altLang="ko-KR" dirty="0" smtClean="0"/>
              <a:t>Combinations with Repetition		</a:t>
            </a:r>
            <a:r>
              <a:rPr lang="ko-KR" altLang="en-US" sz="2000" dirty="0" smtClean="0"/>
              <a:t>중복 조합</a:t>
            </a:r>
            <a:endParaRPr lang="en-US" altLang="ko-KR" sz="2000" dirty="0" smtClean="0"/>
          </a:p>
          <a:p>
            <a:pPr eaLnBrk="1" hangingPunct="1">
              <a:lnSpc>
                <a:spcPct val="130000"/>
              </a:lnSpc>
              <a:spcBef>
                <a:spcPts val="1200"/>
              </a:spcBef>
            </a:pPr>
            <a:r>
              <a:rPr lang="en-US" altLang="ko-KR" dirty="0" smtClean="0"/>
              <a:t>Catalan Numbers</a:t>
            </a:r>
            <a:endParaRPr lang="ko-KR" altLang="en-US" dirty="0" smtClean="0"/>
          </a:p>
        </p:txBody>
      </p:sp>
      <p:sp>
        <p:nvSpPr>
          <p:cNvPr id="2" name="직사각형 1"/>
          <p:cNvSpPr/>
          <p:nvPr/>
        </p:nvSpPr>
        <p:spPr>
          <a:xfrm>
            <a:off x="6228184" y="1844824"/>
            <a:ext cx="2160240" cy="3240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Rules of Sum and Product</a:t>
            </a:r>
            <a:endParaRPr lang="ko-KR" altLang="en-US" smtClean="0"/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808537"/>
          </a:xfrm>
        </p:spPr>
        <p:txBody>
          <a:bodyPr/>
          <a:lstStyle/>
          <a:p>
            <a:pPr eaLnBrk="1" hangingPunct="1"/>
            <a:r>
              <a:rPr lang="en-US" altLang="ko-KR" dirty="0" smtClean="0"/>
              <a:t>U</a:t>
            </a:r>
            <a:r>
              <a:rPr lang="en-US" altLang="ko-KR" sz="2000" dirty="0" smtClean="0"/>
              <a:t>seful for analyzing complicated problems through decomposing into parts and combining partial solutions together</a:t>
            </a:r>
          </a:p>
          <a:p>
            <a:pPr eaLnBrk="1" hangingPunct="1"/>
            <a:r>
              <a:rPr lang="en-US" altLang="ko-KR" dirty="0" smtClean="0">
                <a:solidFill>
                  <a:srgbClr val="C00000"/>
                </a:solidFill>
              </a:rPr>
              <a:t>Rule of Sum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000" dirty="0" smtClean="0">
                <a:cs typeface="Times New Roman" pitchFamily="18" charset="0"/>
              </a:rPr>
              <a:t>	If a first task can be performed </a:t>
            </a:r>
            <a:r>
              <a:rPr lang="en-US" altLang="ko-KR" sz="2000" dirty="0" smtClean="0">
                <a:solidFill>
                  <a:srgbClr val="0000CC"/>
                </a:solidFill>
                <a:cs typeface="Times New Roman" pitchFamily="18" charset="0"/>
              </a:rPr>
              <a:t>in </a:t>
            </a:r>
            <a:r>
              <a:rPr lang="en-US" altLang="ko-KR" sz="20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ko-KR" sz="2000" dirty="0" smtClean="0">
                <a:solidFill>
                  <a:srgbClr val="0000CC"/>
                </a:solidFill>
                <a:cs typeface="Times New Roman" pitchFamily="18" charset="0"/>
              </a:rPr>
              <a:t> ways </a:t>
            </a:r>
            <a:r>
              <a:rPr lang="en-US" altLang="ko-KR" sz="2000" dirty="0" smtClean="0">
                <a:cs typeface="Times New Roman" pitchFamily="18" charset="0"/>
              </a:rPr>
              <a:t>(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sz="2000" dirty="0" smtClean="0">
                <a:cs typeface="Times New Roman" pitchFamily="18" charset="0"/>
              </a:rPr>
              <a:t>),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>
                <a:cs typeface="Times New Roman" pitchFamily="18" charset="0"/>
              </a:rPr>
              <a:t>	while a second task </a:t>
            </a:r>
            <a:r>
              <a:rPr lang="en-US" altLang="ko-KR" sz="2000" dirty="0" smtClean="0">
                <a:solidFill>
                  <a:srgbClr val="0000CC"/>
                </a:solidFill>
                <a:cs typeface="Times New Roman" pitchFamily="18" charset="0"/>
              </a:rPr>
              <a:t>in </a:t>
            </a:r>
            <a:r>
              <a:rPr lang="en-US" altLang="ko-KR" sz="20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>
                <a:solidFill>
                  <a:srgbClr val="0000CC"/>
                </a:solidFill>
                <a:cs typeface="Times New Roman" pitchFamily="18" charset="0"/>
              </a:rPr>
              <a:t> ways </a:t>
            </a:r>
            <a:r>
              <a:rPr lang="en-US" altLang="ko-KR" sz="2000" dirty="0" smtClean="0">
                <a:cs typeface="Times New Roman" pitchFamily="18" charset="0"/>
              </a:rPr>
              <a:t>(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sz="2000" dirty="0" smtClean="0">
                <a:cs typeface="Times New Roman" pitchFamily="18" charset="0"/>
              </a:rPr>
              <a:t>), and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>
                <a:cs typeface="Times New Roman" pitchFamily="18" charset="0"/>
              </a:rPr>
              <a:t>	the two tasks </a:t>
            </a:r>
            <a:r>
              <a:rPr lang="en-US" altLang="ko-KR" sz="2000" dirty="0" smtClean="0">
                <a:solidFill>
                  <a:srgbClr val="0000CC"/>
                </a:solidFill>
                <a:cs typeface="Times New Roman" pitchFamily="18" charset="0"/>
              </a:rPr>
              <a:t>cannot </a:t>
            </a:r>
            <a:r>
              <a:rPr lang="en-US" altLang="ko-KR" sz="2000" dirty="0" smtClean="0">
                <a:cs typeface="Times New Roman" pitchFamily="18" charset="0"/>
              </a:rPr>
              <a:t>be performed </a:t>
            </a:r>
            <a:r>
              <a:rPr lang="en-US" altLang="ko-KR" sz="2000" dirty="0" smtClean="0">
                <a:solidFill>
                  <a:srgbClr val="0000CC"/>
                </a:solidFill>
                <a:cs typeface="Times New Roman" pitchFamily="18" charset="0"/>
              </a:rPr>
              <a:t>simultaneously</a:t>
            </a:r>
            <a:r>
              <a:rPr lang="en-US" altLang="ko-KR" sz="2000" dirty="0" smtClean="0">
                <a:cs typeface="Times New Roman" pitchFamily="18" charset="0"/>
              </a:rPr>
              <a:t> (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ko-KR" sz="2000" dirty="0" smtClean="0">
                <a:cs typeface="Times New Roman" pitchFamily="18" charset="0"/>
              </a:rPr>
              <a:t>),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>
                <a:cs typeface="Times New Roman" pitchFamily="18" charset="0"/>
              </a:rPr>
              <a:t>	then </a:t>
            </a:r>
            <a:r>
              <a:rPr lang="en-US" altLang="ko-KR" sz="2000" dirty="0" smtClean="0">
                <a:solidFill>
                  <a:srgbClr val="0000CC"/>
                </a:solidFill>
                <a:cs typeface="Times New Roman" pitchFamily="18" charset="0"/>
              </a:rPr>
              <a:t>performing either task </a:t>
            </a:r>
            <a:r>
              <a:rPr lang="en-US" altLang="ko-KR" sz="2000" dirty="0" smtClean="0">
                <a:cs typeface="Times New Roman" pitchFamily="18" charset="0"/>
              </a:rPr>
              <a:t>can be accomplished </a:t>
            </a:r>
            <a:r>
              <a:rPr lang="en-US" altLang="ko-KR" sz="2000" dirty="0" smtClean="0">
                <a:solidFill>
                  <a:srgbClr val="0000CC"/>
                </a:solidFill>
                <a:cs typeface="Times New Roman" pitchFamily="18" charset="0"/>
              </a:rPr>
              <a:t>in any one of </a:t>
            </a:r>
            <a:r>
              <a:rPr lang="en-US" altLang="ko-KR" sz="20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ko-KR" sz="2000" dirty="0" smtClean="0">
                <a:solidFill>
                  <a:srgbClr val="0000CC"/>
                </a:solidFill>
                <a:cs typeface="Times New Roman" pitchFamily="18" charset="0"/>
              </a:rPr>
              <a:t> + </a:t>
            </a:r>
            <a:r>
              <a:rPr lang="en-US" altLang="ko-KR" sz="20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>
                <a:solidFill>
                  <a:srgbClr val="0000CC"/>
                </a:solidFill>
                <a:cs typeface="Times New Roman" pitchFamily="18" charset="0"/>
              </a:rPr>
              <a:t> ways</a:t>
            </a:r>
            <a:r>
              <a:rPr lang="en-US" altLang="ko-KR" sz="2000" dirty="0" smtClean="0">
                <a:cs typeface="Times New Roman" pitchFamily="18" charset="0"/>
              </a:rPr>
              <a:t>.</a:t>
            </a:r>
          </a:p>
        </p:txBody>
      </p:sp>
      <p:sp>
        <p:nvSpPr>
          <p:cNvPr id="6" name="타원 5"/>
          <p:cNvSpPr/>
          <p:nvPr/>
        </p:nvSpPr>
        <p:spPr>
          <a:xfrm>
            <a:off x="899592" y="4941169"/>
            <a:ext cx="2274590" cy="988162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dirty="0" smtClean="0">
                <a:solidFill>
                  <a:schemeClr val="tx1"/>
                </a:solidFill>
              </a:rPr>
              <a:t>Three math. textbooks in English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타원 6"/>
          <p:cNvSpPr/>
          <p:nvPr/>
        </p:nvSpPr>
        <p:spPr>
          <a:xfrm>
            <a:off x="3546773" y="4941169"/>
            <a:ext cx="2224261" cy="988161"/>
          </a:xfrm>
          <a:prstGeom prst="ellipse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ko-KR" dirty="0" smtClean="0">
                <a:solidFill>
                  <a:schemeClr val="tx1"/>
                </a:solidFill>
              </a:rPr>
              <a:t>Two math. textbooks </a:t>
            </a:r>
            <a:r>
              <a:rPr lang="en-US" altLang="ko-KR" dirty="0">
                <a:solidFill>
                  <a:schemeClr val="tx1"/>
                </a:solidFill>
              </a:rPr>
              <a:t>in Korean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143625" y="5202238"/>
            <a:ext cx="22860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ko-KR" sz="2000" dirty="0">
                <a:latin typeface="+mn-lt"/>
              </a:rPr>
              <a:t>How many </a:t>
            </a:r>
            <a:r>
              <a:rPr lang="en-US" altLang="ko-KR" sz="2000" dirty="0" smtClean="0">
                <a:latin typeface="+mn-lt"/>
              </a:rPr>
              <a:t>ways ?</a:t>
            </a:r>
            <a:endParaRPr lang="ko-KR" altLang="en-US" sz="20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25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내용 개체 틀 2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3148955"/>
          </a:xfrm>
        </p:spPr>
        <p:txBody>
          <a:bodyPr/>
          <a:lstStyle/>
          <a:p>
            <a:pPr eaLnBrk="1" hangingPunct="1"/>
            <a:r>
              <a:rPr lang="en-US" altLang="ko-KR" dirty="0" smtClean="0">
                <a:solidFill>
                  <a:srgbClr val="C00000"/>
                </a:solidFill>
              </a:rPr>
              <a:t>Rule of Product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000" dirty="0" smtClean="0"/>
              <a:t>	If a procedure can be </a:t>
            </a:r>
            <a:r>
              <a:rPr lang="en-US" altLang="ko-KR" sz="2000" dirty="0" smtClean="0">
                <a:solidFill>
                  <a:srgbClr val="0000CC"/>
                </a:solidFill>
              </a:rPr>
              <a:t>broken down </a:t>
            </a:r>
            <a:r>
              <a:rPr lang="en-US" altLang="ko-KR" sz="2000" dirty="0" smtClean="0"/>
              <a:t>into first and second stages (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sz="2000" dirty="0" smtClean="0"/>
              <a:t>),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/>
              <a:t>	and if there are </a:t>
            </a:r>
            <a:r>
              <a:rPr lang="en-US" altLang="ko-KR" sz="20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ko-KR" sz="2000" dirty="0" smtClean="0"/>
              <a:t> </a:t>
            </a:r>
            <a:r>
              <a:rPr lang="en-US" altLang="ko-KR" sz="2000" dirty="0" smtClean="0">
                <a:solidFill>
                  <a:srgbClr val="0000CC"/>
                </a:solidFill>
              </a:rPr>
              <a:t>possible outcomes </a:t>
            </a:r>
            <a:r>
              <a:rPr lang="en-US" altLang="ko-KR" sz="2000" dirty="0" smtClean="0"/>
              <a:t>for the first stage (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sz="2000" dirty="0" smtClean="0"/>
              <a:t>) and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/>
              <a:t>	if, </a:t>
            </a:r>
            <a:r>
              <a:rPr lang="en-US" altLang="ko-KR" sz="2000" dirty="0" smtClean="0">
                <a:solidFill>
                  <a:srgbClr val="0000CC"/>
                </a:solidFill>
              </a:rPr>
              <a:t>for each </a:t>
            </a:r>
            <a:r>
              <a:rPr lang="en-US" altLang="ko-KR" sz="2000" dirty="0" smtClean="0"/>
              <a:t>of these outcomes, there are </a:t>
            </a:r>
            <a:r>
              <a:rPr lang="en-US" altLang="ko-KR" sz="20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</a:t>
            </a:r>
            <a:r>
              <a:rPr lang="en-US" altLang="ko-KR" sz="2000" dirty="0" smtClean="0">
                <a:solidFill>
                  <a:srgbClr val="0000CC"/>
                </a:solidFill>
              </a:rPr>
              <a:t>possible outcomes </a:t>
            </a:r>
            <a:r>
              <a:rPr lang="en-US" altLang="ko-KR" sz="2000" dirty="0" smtClean="0"/>
              <a:t>for the second stage (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ko-KR" sz="2000" dirty="0" smtClean="0"/>
              <a:t>), </a:t>
            </a:r>
          </a:p>
          <a:p>
            <a:pPr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ko-KR" sz="2000" dirty="0" smtClean="0"/>
              <a:t>	then the total procedure can be carried out, in the designated order, </a:t>
            </a:r>
            <a:r>
              <a:rPr lang="en-US" altLang="ko-KR" sz="2000" dirty="0" smtClean="0">
                <a:solidFill>
                  <a:srgbClr val="0000CC"/>
                </a:solidFill>
              </a:rPr>
              <a:t>in </a:t>
            </a:r>
            <a:r>
              <a:rPr lang="en-US" altLang="ko-KR" sz="20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m </a:t>
            </a:r>
            <a:r>
              <a:rPr lang="en-US" altLang="ko-KR" sz="20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 </a:t>
            </a:r>
            <a:r>
              <a:rPr lang="en-US" altLang="ko-KR" sz="20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>
                <a:solidFill>
                  <a:srgbClr val="0000CC"/>
                </a:solidFill>
              </a:rPr>
              <a:t> ways</a:t>
            </a:r>
            <a:r>
              <a:rPr lang="en-US" altLang="ko-KR" sz="2000" dirty="0" smtClean="0"/>
              <a:t>.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1400796" y="4581525"/>
            <a:ext cx="1247775" cy="633413"/>
            <a:chOff x="1500188" y="4581525"/>
            <a:chExt cx="1247775" cy="633413"/>
          </a:xfrm>
        </p:grpSpPr>
        <p:cxnSp>
          <p:nvCxnSpPr>
            <p:cNvPr id="10" name="직선 연결선 9"/>
            <p:cNvCxnSpPr>
              <a:stCxn id="6" idx="6"/>
              <a:endCxn id="7" idx="2"/>
            </p:cNvCxnSpPr>
            <p:nvPr/>
          </p:nvCxnSpPr>
          <p:spPr bwMode="auto">
            <a:xfrm>
              <a:off x="1500188" y="4893469"/>
              <a:ext cx="1214437" cy="0"/>
            </a:xfrm>
            <a:prstGeom prst="line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자유형 12"/>
            <p:cNvSpPr/>
            <p:nvPr/>
          </p:nvSpPr>
          <p:spPr bwMode="auto">
            <a:xfrm>
              <a:off x="1500188" y="4581525"/>
              <a:ext cx="1247775" cy="249238"/>
            </a:xfrm>
            <a:custGeom>
              <a:avLst/>
              <a:gdLst>
                <a:gd name="connsiteX0" fmla="*/ 0 w 1247686"/>
                <a:gd name="connsiteY0" fmla="*/ 240707 h 249252"/>
                <a:gd name="connsiteX1" fmla="*/ 649480 w 1247686"/>
                <a:gd name="connsiteY1" fmla="*/ 1424 h 249252"/>
                <a:gd name="connsiteX2" fmla="*/ 1247686 w 1247686"/>
                <a:gd name="connsiteY2" fmla="*/ 249252 h 24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7686" h="249252">
                  <a:moveTo>
                    <a:pt x="0" y="240707"/>
                  </a:moveTo>
                  <a:cubicBezTo>
                    <a:pt x="220766" y="120353"/>
                    <a:pt x="441532" y="0"/>
                    <a:pt x="649480" y="1424"/>
                  </a:cubicBezTo>
                  <a:cubicBezTo>
                    <a:pt x="857428" y="2848"/>
                    <a:pt x="1052557" y="126050"/>
                    <a:pt x="1247686" y="249252"/>
                  </a:cubicBezTo>
                </a:path>
              </a:pathLst>
            </a:cu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5" name="자유형 14"/>
            <p:cNvSpPr/>
            <p:nvPr/>
          </p:nvSpPr>
          <p:spPr bwMode="auto">
            <a:xfrm flipV="1">
              <a:off x="1500188" y="4965700"/>
              <a:ext cx="1247775" cy="249238"/>
            </a:xfrm>
            <a:custGeom>
              <a:avLst/>
              <a:gdLst>
                <a:gd name="connsiteX0" fmla="*/ 0 w 1247686"/>
                <a:gd name="connsiteY0" fmla="*/ 240707 h 249252"/>
                <a:gd name="connsiteX1" fmla="*/ 649480 w 1247686"/>
                <a:gd name="connsiteY1" fmla="*/ 1424 h 249252"/>
                <a:gd name="connsiteX2" fmla="*/ 1247686 w 1247686"/>
                <a:gd name="connsiteY2" fmla="*/ 249252 h 24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7686" h="249252">
                  <a:moveTo>
                    <a:pt x="0" y="240707"/>
                  </a:moveTo>
                  <a:cubicBezTo>
                    <a:pt x="220766" y="120353"/>
                    <a:pt x="441532" y="0"/>
                    <a:pt x="649480" y="1424"/>
                  </a:cubicBezTo>
                  <a:cubicBezTo>
                    <a:pt x="857428" y="2848"/>
                    <a:pt x="1052557" y="126050"/>
                    <a:pt x="1247686" y="249252"/>
                  </a:cubicBezTo>
                </a:path>
              </a:pathLst>
            </a:cu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2972421" y="4572000"/>
            <a:ext cx="1247775" cy="642938"/>
            <a:chOff x="3071813" y="4572000"/>
            <a:chExt cx="1247775" cy="642938"/>
          </a:xfrm>
        </p:grpSpPr>
        <p:sp>
          <p:nvSpPr>
            <p:cNvPr id="14" name="자유형 13"/>
            <p:cNvSpPr/>
            <p:nvPr/>
          </p:nvSpPr>
          <p:spPr bwMode="auto">
            <a:xfrm>
              <a:off x="3071813" y="4572000"/>
              <a:ext cx="1247775" cy="249238"/>
            </a:xfrm>
            <a:custGeom>
              <a:avLst/>
              <a:gdLst>
                <a:gd name="connsiteX0" fmla="*/ 0 w 1247686"/>
                <a:gd name="connsiteY0" fmla="*/ 240707 h 249252"/>
                <a:gd name="connsiteX1" fmla="*/ 649480 w 1247686"/>
                <a:gd name="connsiteY1" fmla="*/ 1424 h 249252"/>
                <a:gd name="connsiteX2" fmla="*/ 1247686 w 1247686"/>
                <a:gd name="connsiteY2" fmla="*/ 249252 h 24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7686" h="249252">
                  <a:moveTo>
                    <a:pt x="0" y="240707"/>
                  </a:moveTo>
                  <a:cubicBezTo>
                    <a:pt x="220766" y="120353"/>
                    <a:pt x="441532" y="0"/>
                    <a:pt x="649480" y="1424"/>
                  </a:cubicBezTo>
                  <a:cubicBezTo>
                    <a:pt x="857428" y="2848"/>
                    <a:pt x="1052557" y="126050"/>
                    <a:pt x="1247686" y="249252"/>
                  </a:cubicBezTo>
                </a:path>
              </a:pathLst>
            </a:cu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6" name="자유형 15"/>
            <p:cNvSpPr/>
            <p:nvPr/>
          </p:nvSpPr>
          <p:spPr bwMode="auto">
            <a:xfrm flipV="1">
              <a:off x="3071813" y="4965700"/>
              <a:ext cx="1247775" cy="249238"/>
            </a:xfrm>
            <a:custGeom>
              <a:avLst/>
              <a:gdLst>
                <a:gd name="connsiteX0" fmla="*/ 0 w 1247686"/>
                <a:gd name="connsiteY0" fmla="*/ 240707 h 249252"/>
                <a:gd name="connsiteX1" fmla="*/ 649480 w 1247686"/>
                <a:gd name="connsiteY1" fmla="*/ 1424 h 249252"/>
                <a:gd name="connsiteX2" fmla="*/ 1247686 w 1247686"/>
                <a:gd name="connsiteY2" fmla="*/ 249252 h 249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47686" h="249252">
                  <a:moveTo>
                    <a:pt x="0" y="240707"/>
                  </a:moveTo>
                  <a:cubicBezTo>
                    <a:pt x="220766" y="120353"/>
                    <a:pt x="441532" y="0"/>
                    <a:pt x="649480" y="1424"/>
                  </a:cubicBezTo>
                  <a:cubicBezTo>
                    <a:pt x="857428" y="2848"/>
                    <a:pt x="1052557" y="126050"/>
                    <a:pt x="1247686" y="249252"/>
                  </a:cubicBezTo>
                </a:path>
              </a:pathLst>
            </a:cu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4" name="그룹 3"/>
          <p:cNvGrpSpPr/>
          <p:nvPr/>
        </p:nvGrpSpPr>
        <p:grpSpPr>
          <a:xfrm>
            <a:off x="1043608" y="4714875"/>
            <a:ext cx="3500438" cy="357188"/>
            <a:chOff x="1143000" y="4714875"/>
            <a:chExt cx="3500438" cy="357188"/>
          </a:xfrm>
        </p:grpSpPr>
        <p:sp>
          <p:nvSpPr>
            <p:cNvPr id="6" name="타원 5"/>
            <p:cNvSpPr/>
            <p:nvPr/>
          </p:nvSpPr>
          <p:spPr bwMode="auto">
            <a:xfrm>
              <a:off x="1143000" y="4714875"/>
              <a:ext cx="357188" cy="357188"/>
            </a:xfrm>
            <a:prstGeom prst="ellipse">
              <a:avLst/>
            </a:prstGeom>
            <a:solidFill>
              <a:srgbClr val="B2B2B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A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타원 6"/>
            <p:cNvSpPr/>
            <p:nvPr/>
          </p:nvSpPr>
          <p:spPr bwMode="auto">
            <a:xfrm>
              <a:off x="2714625" y="4714875"/>
              <a:ext cx="357188" cy="357188"/>
            </a:xfrm>
            <a:prstGeom prst="ellipse">
              <a:avLst/>
            </a:prstGeom>
            <a:solidFill>
              <a:srgbClr val="B2B2B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타원 7"/>
            <p:cNvSpPr/>
            <p:nvPr/>
          </p:nvSpPr>
          <p:spPr bwMode="auto">
            <a:xfrm>
              <a:off x="4286250" y="4714875"/>
              <a:ext cx="357188" cy="357188"/>
            </a:xfrm>
            <a:prstGeom prst="ellipse">
              <a:avLst/>
            </a:prstGeom>
            <a:solidFill>
              <a:srgbClr val="B2B2B2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dirty="0">
                  <a:solidFill>
                    <a:schemeClr val="tx1"/>
                  </a:solidFill>
                </a:rPr>
                <a:t>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4810447" y="4685074"/>
            <a:ext cx="40100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000" dirty="0">
                <a:latin typeface="+mn-lt"/>
              </a:rPr>
              <a:t>How many ways for A </a:t>
            </a:r>
            <a:r>
              <a:rPr lang="en-US" altLang="ko-KR" sz="2000" dirty="0">
                <a:solidFill>
                  <a:srgbClr val="000000"/>
                </a:solidFill>
                <a:latin typeface="Arial"/>
                <a:sym typeface="Wingdings" pitchFamily="2" charset="2"/>
              </a:rPr>
              <a:t></a:t>
            </a:r>
            <a:r>
              <a:rPr lang="en-US" altLang="ko-KR" sz="2000" dirty="0">
                <a:solidFill>
                  <a:srgbClr val="000000"/>
                </a:solidFill>
                <a:latin typeface="Arial"/>
              </a:rPr>
              <a:t> </a:t>
            </a:r>
            <a:r>
              <a:rPr lang="en-US" altLang="ko-KR" sz="2000" dirty="0" smtClean="0">
                <a:solidFill>
                  <a:srgbClr val="000000"/>
                </a:solidFill>
                <a:latin typeface="Arial"/>
              </a:rPr>
              <a:t>B </a:t>
            </a:r>
            <a:r>
              <a:rPr lang="en-US" altLang="ko-KR" sz="2000" dirty="0" smtClean="0">
                <a:latin typeface="+mn-lt"/>
                <a:sym typeface="Wingdings" pitchFamily="2" charset="2"/>
              </a:rPr>
              <a:t></a:t>
            </a:r>
            <a:r>
              <a:rPr lang="en-US" altLang="ko-KR" sz="2000" dirty="0" smtClean="0">
                <a:latin typeface="+mn-lt"/>
              </a:rPr>
              <a:t> </a:t>
            </a:r>
            <a:r>
              <a:rPr lang="en-US" altLang="ko-KR" sz="2000" dirty="0">
                <a:latin typeface="+mn-lt"/>
              </a:rPr>
              <a:t>C ?</a:t>
            </a:r>
            <a:endParaRPr lang="ko-KR" altLang="en-US" sz="20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4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250"/>
                                        <p:tgtEl>
                                          <p:spTgt spid="184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250"/>
                                        <p:tgtEl>
                                          <p:spTgt spid="184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184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787680"/>
              </p:ext>
            </p:extLst>
          </p:nvPr>
        </p:nvGraphicFramePr>
        <p:xfrm>
          <a:off x="2864659" y="4932363"/>
          <a:ext cx="395446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1" name="수식" r:id="rId3" imgW="2184120" imgH="203040" progId="Equation.3">
                  <p:embed/>
                </p:oleObj>
              </mc:Choice>
              <mc:Fallback>
                <p:oleObj name="수식" r:id="rId3" imgW="2184120" imgH="203040" progId="Equation.3">
                  <p:embed/>
                  <p:pic>
                    <p:nvPicPr>
                      <p:cNvPr id="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4659" y="4932363"/>
                        <a:ext cx="3954462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smtClean="0"/>
              <a:t>Permutations</a:t>
            </a:r>
            <a:endParaRPr lang="ko-KR" altLang="en-US" smtClean="0"/>
          </a:p>
        </p:txBody>
      </p:sp>
      <p:sp>
        <p:nvSpPr>
          <p:cNvPr id="1028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2863775"/>
          </a:xfrm>
        </p:spPr>
        <p:txBody>
          <a:bodyPr/>
          <a:lstStyle/>
          <a:p>
            <a:pPr eaLnBrk="1" hangingPunct="1"/>
            <a:r>
              <a:rPr lang="en-US" altLang="ko-KR" dirty="0" smtClean="0"/>
              <a:t>Definition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ko-KR" sz="2000" dirty="0" smtClean="0"/>
              <a:t>	Given a collection of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</a:t>
            </a:r>
            <a:r>
              <a:rPr lang="en-US" altLang="ko-KR" sz="2000" i="1" dirty="0" smtClean="0">
                <a:solidFill>
                  <a:srgbClr val="0000FF"/>
                </a:solidFill>
              </a:rPr>
              <a:t>distinct</a:t>
            </a:r>
            <a:r>
              <a:rPr lang="en-US" altLang="ko-KR" sz="2000" dirty="0" smtClean="0"/>
              <a:t> objects, any (linear) arrangement of these objects is called a </a:t>
            </a:r>
            <a:r>
              <a:rPr lang="en-US" altLang="ko-KR" sz="2000" i="1" dirty="0" smtClean="0">
                <a:solidFill>
                  <a:srgbClr val="C00000"/>
                </a:solidFill>
              </a:rPr>
              <a:t>permutation</a:t>
            </a:r>
            <a:r>
              <a:rPr lang="en-US" altLang="ko-KR" sz="2000" dirty="0" smtClean="0"/>
              <a:t> of the collection.</a:t>
            </a:r>
          </a:p>
          <a:p>
            <a:pPr lvl="1" eaLnBrk="1" hangingPunct="1">
              <a:lnSpc>
                <a:spcPct val="50000"/>
              </a:lnSpc>
            </a:pPr>
            <a:endParaRPr lang="en-US" altLang="ko-KR" dirty="0" smtClean="0"/>
          </a:p>
          <a:p>
            <a:pPr eaLnBrk="1" hangingPunct="1"/>
            <a:r>
              <a:rPr lang="en-US" altLang="ko-KR" dirty="0" smtClean="0"/>
              <a:t>I</a:t>
            </a:r>
            <a:r>
              <a:rPr lang="en-US" altLang="ko-KR" sz="2000" dirty="0" smtClean="0"/>
              <a:t>n general, if there are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distinct objects and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is an integer, with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 ≤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≤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, then by the rule of product, the number of permutations of size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for the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objects is</a:t>
            </a:r>
            <a:endParaRPr lang="ko-KR" altLang="en-US" sz="2000" dirty="0" smtClean="0"/>
          </a:p>
        </p:txBody>
      </p:sp>
      <p:grpSp>
        <p:nvGrpSpPr>
          <p:cNvPr id="12" name="그룹 11"/>
          <p:cNvGrpSpPr/>
          <p:nvPr/>
        </p:nvGrpSpPr>
        <p:grpSpPr>
          <a:xfrm>
            <a:off x="2743200" y="4356571"/>
            <a:ext cx="3666565" cy="432048"/>
            <a:chOff x="3031232" y="4221088"/>
            <a:chExt cx="3666565" cy="432048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3031232" y="4365104"/>
              <a:ext cx="388640" cy="288032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1st</a:t>
              </a:r>
              <a:endParaRPr lang="ko-KR" altLang="en-US" sz="1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3802197" y="4365104"/>
              <a:ext cx="409763" cy="288032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2nd</a:t>
              </a:r>
              <a:endParaRPr lang="ko-KR" altLang="en-US" sz="1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4680738" y="4365104"/>
              <a:ext cx="395318" cy="288032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3rd</a:t>
              </a:r>
              <a:endParaRPr lang="ko-KR" altLang="en-US" sz="1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6240596" y="4365104"/>
              <a:ext cx="457201" cy="288032"/>
            </a:xfrm>
            <a:prstGeom prst="roundRect">
              <a:avLst/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i="1" dirty="0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r-</a:t>
              </a:r>
              <a:r>
                <a:rPr lang="en-US" altLang="ko-KR" sz="1100" i="1" dirty="0" err="1" smtClean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th</a:t>
              </a:r>
              <a:endParaRPr lang="ko-KR" altLang="en-US" sz="11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20072" y="4221088"/>
              <a:ext cx="576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smtClean="0">
                  <a:sym typeface="Symbol"/>
                </a:rPr>
                <a:t></a:t>
              </a:r>
              <a:endParaRPr lang="ko-KR" altLang="en-US" dirty="0"/>
            </a:p>
          </p:txBody>
        </p:sp>
      </p:grpSp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2902953"/>
              </p:ext>
            </p:extLst>
          </p:nvPr>
        </p:nvGraphicFramePr>
        <p:xfrm>
          <a:off x="2775395" y="5445497"/>
          <a:ext cx="285115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2" name="수식" r:id="rId5" imgW="1574640" imgH="419040" progId="Equation.3">
                  <p:embed/>
                </p:oleObj>
              </mc:Choice>
              <mc:Fallback>
                <p:oleObj name="수식" r:id="rId5" imgW="1574640" imgH="419040" progId="Equation.3">
                  <p:embed/>
                  <p:pic>
                    <p:nvPicPr>
                      <p:cNvPr id="102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5395" y="5445497"/>
                        <a:ext cx="285115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직사각형 1"/>
          <p:cNvSpPr/>
          <p:nvPr/>
        </p:nvSpPr>
        <p:spPr>
          <a:xfrm>
            <a:off x="4827623" y="5589240"/>
            <a:ext cx="756084" cy="5040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3131840" y="5004643"/>
            <a:ext cx="2550105" cy="216024"/>
            <a:chOff x="3131840" y="5004643"/>
            <a:chExt cx="2550105" cy="216024"/>
          </a:xfrm>
        </p:grpSpPr>
        <p:sp>
          <p:nvSpPr>
            <p:cNvPr id="3" name="직사각형 2"/>
            <p:cNvSpPr/>
            <p:nvPr/>
          </p:nvSpPr>
          <p:spPr>
            <a:xfrm>
              <a:off x="3131840" y="5004643"/>
              <a:ext cx="216024" cy="216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4104438" y="5004643"/>
              <a:ext cx="152808" cy="216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5048898" y="5004643"/>
              <a:ext cx="167055" cy="216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5508104" y="5004643"/>
              <a:ext cx="173841" cy="21602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 descr="2495_L_1347257941.jpg"/>
          <p:cNvPicPr>
            <a:picLocks noChangeAspect="1"/>
          </p:cNvPicPr>
          <p:nvPr/>
        </p:nvPicPr>
        <p:blipFill rotWithShape="1">
          <a:blip r:embed="rId3" cstate="print"/>
          <a:srcRect t="23161" b="50656"/>
          <a:stretch/>
        </p:blipFill>
        <p:spPr>
          <a:xfrm>
            <a:off x="1851108" y="1354762"/>
            <a:ext cx="4500017" cy="1570182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1691680" y="1196752"/>
            <a:ext cx="4824536" cy="18722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148751"/>
              </p:ext>
            </p:extLst>
          </p:nvPr>
        </p:nvGraphicFramePr>
        <p:xfrm>
          <a:off x="4432548" y="5049088"/>
          <a:ext cx="571500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3" name="수식" r:id="rId4" imgW="304560" imgH="431640" progId="Equation.3">
                  <p:embed/>
                </p:oleObj>
              </mc:Choice>
              <mc:Fallback>
                <p:oleObj name="수식" r:id="rId4" imgW="30456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548" y="5049088"/>
                        <a:ext cx="571500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" name="내용 개체 틀 2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3783033"/>
          </a:xfrm>
        </p:spPr>
        <p:txBody>
          <a:bodyPr/>
          <a:lstStyle/>
          <a:p>
            <a:pPr eaLnBrk="1" hangingPunct="1"/>
            <a:r>
              <a:rPr lang="en-US" altLang="ko-KR" dirty="0" smtClean="0"/>
              <a:t>F</a:t>
            </a:r>
            <a:r>
              <a:rPr lang="en-US" altLang="ko-KR" sz="2000" dirty="0"/>
              <a:t>or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</a:t>
            </a:r>
            <a:r>
              <a:rPr lang="en-US" altLang="ko-KR" sz="2000" i="1" dirty="0">
                <a:solidFill>
                  <a:srgbClr val="0000CC"/>
                </a:solidFill>
              </a:rPr>
              <a:t>distinct</a:t>
            </a:r>
            <a:r>
              <a:rPr lang="en-US" altLang="ko-KR" sz="2000" dirty="0"/>
              <a:t> </a:t>
            </a:r>
            <a:r>
              <a:rPr lang="en-US" altLang="ko-KR" sz="2000" dirty="0" smtClean="0"/>
              <a:t>objects, if </a:t>
            </a:r>
            <a:r>
              <a:rPr lang="en-US" altLang="ko-KR" sz="2000" dirty="0" smtClean="0">
                <a:solidFill>
                  <a:srgbClr val="0000CC"/>
                </a:solidFill>
              </a:rPr>
              <a:t>repetitions</a:t>
            </a:r>
            <a:r>
              <a:rPr lang="en-US" altLang="ko-KR" sz="2000" dirty="0" smtClean="0"/>
              <a:t> are allowed, then by the rule of product  there are  </a:t>
            </a:r>
            <a:r>
              <a:rPr lang="en-US" altLang="ko-KR" sz="2000" i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i="1" baseline="30000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 possible arrangements, with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≥ 0</a:t>
            </a:r>
            <a:r>
              <a:rPr lang="en-US" altLang="ko-KR" sz="2000" dirty="0" smtClean="0"/>
              <a:t>.</a:t>
            </a:r>
          </a:p>
          <a:p>
            <a:pPr lvl="1" eaLnBrk="1" hangingPunct="1"/>
            <a:endParaRPr lang="en-US" altLang="ko-KR" dirty="0" smtClean="0"/>
          </a:p>
          <a:p>
            <a:pPr eaLnBrk="1" hangingPunct="1"/>
            <a:r>
              <a:rPr lang="en-US" altLang="ko-KR" dirty="0" smtClean="0"/>
              <a:t>I</a:t>
            </a:r>
            <a:r>
              <a:rPr lang="en-US" altLang="ko-KR" sz="2000" dirty="0" smtClean="0"/>
              <a:t>f there are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objects with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sz="2000" dirty="0" smtClean="0"/>
              <a:t> </a:t>
            </a:r>
            <a:r>
              <a:rPr lang="en-US" altLang="ko-KR" sz="2000" dirty="0" smtClean="0">
                <a:solidFill>
                  <a:srgbClr val="0000CC"/>
                </a:solidFill>
              </a:rPr>
              <a:t>indistinguishable</a:t>
            </a:r>
            <a:r>
              <a:rPr lang="en-US" altLang="ko-KR" sz="2000" dirty="0" smtClean="0"/>
              <a:t> objects of a first type,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sz="2000" dirty="0" smtClean="0"/>
              <a:t> of a second type, … 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i="1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of an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r-</a:t>
            </a:r>
            <a:r>
              <a:rPr lang="en-US" altLang="ko-KR" sz="2000" dirty="0" err="1" smtClean="0"/>
              <a:t>th</a:t>
            </a:r>
            <a:r>
              <a:rPr lang="en-US" altLang="ko-KR" sz="2000" dirty="0" smtClean="0"/>
              <a:t> type, where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+ … +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i="1" baseline="-25000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, then there are</a:t>
            </a:r>
          </a:p>
          <a:p>
            <a:pPr lvl="1" eaLnBrk="1" hangingPunct="1">
              <a:lnSpc>
                <a:spcPct val="50000"/>
              </a:lnSpc>
            </a:pPr>
            <a:endParaRPr lang="en-US" altLang="ko-KR" sz="1600" dirty="0" smtClean="0"/>
          </a:p>
          <a:p>
            <a:pPr eaLnBrk="1" hangingPunct="1"/>
            <a:endParaRPr lang="en-US" altLang="ko-KR" sz="2000" dirty="0" smtClean="0"/>
          </a:p>
          <a:p>
            <a:pPr eaLnBrk="1" hangingPunct="1">
              <a:buFont typeface="Wingdings" pitchFamily="2" charset="2"/>
              <a:buNone/>
            </a:pPr>
            <a:r>
              <a:rPr lang="en-US" altLang="ko-KR" sz="2000" dirty="0" smtClean="0"/>
              <a:t>	(linear) arrangements of the given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objects.</a:t>
            </a:r>
          </a:p>
        </p:txBody>
      </p:sp>
      <p:pic>
        <p:nvPicPr>
          <p:cNvPr id="6" name="그림 5" descr="bh13_2_101_i1.jpg"/>
          <p:cNvPicPr>
            <a:picLocks noChangeAspect="1"/>
          </p:cNvPicPr>
          <p:nvPr/>
        </p:nvPicPr>
        <p:blipFill>
          <a:blip r:embed="rId6" cstate="print"/>
          <a:srcRect l="3358" t="4851"/>
          <a:stretch>
            <a:fillRect/>
          </a:stretch>
        </p:blipFill>
        <p:spPr>
          <a:xfrm>
            <a:off x="6444208" y="3501008"/>
            <a:ext cx="1594028" cy="1181622"/>
          </a:xfrm>
          <a:prstGeom prst="rect">
            <a:avLst/>
          </a:prstGeom>
        </p:spPr>
      </p:pic>
      <p:pic>
        <p:nvPicPr>
          <p:cNvPr id="7" name="그림 6" descr="2495_L_1347257941.jpg"/>
          <p:cNvPicPr>
            <a:picLocks noChangeAspect="1"/>
          </p:cNvPicPr>
          <p:nvPr/>
        </p:nvPicPr>
        <p:blipFill>
          <a:blip r:embed="rId3" cstate="print"/>
          <a:srcRect t="19463" b="23838"/>
          <a:stretch>
            <a:fillRect/>
          </a:stretch>
        </p:blipFill>
        <p:spPr>
          <a:xfrm>
            <a:off x="6444208" y="4808257"/>
            <a:ext cx="2016224" cy="1523511"/>
          </a:xfrm>
          <a:prstGeom prst="rect">
            <a:avLst/>
          </a:prstGeom>
        </p:spPr>
      </p:pic>
      <p:grpSp>
        <p:nvGrpSpPr>
          <p:cNvPr id="9" name="그룹 8"/>
          <p:cNvGrpSpPr/>
          <p:nvPr/>
        </p:nvGrpSpPr>
        <p:grpSpPr>
          <a:xfrm>
            <a:off x="2992388" y="5093861"/>
            <a:ext cx="1080120" cy="648072"/>
            <a:chOff x="5652120" y="2708920"/>
            <a:chExt cx="1080120" cy="648072"/>
          </a:xfrm>
        </p:grpSpPr>
        <p:sp>
          <p:nvSpPr>
            <p:cNvPr id="10" name="타원 9"/>
            <p:cNvSpPr/>
            <p:nvPr/>
          </p:nvSpPr>
          <p:spPr>
            <a:xfrm>
              <a:off x="5652120" y="3068960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>
              <a:off x="6228184" y="2708920"/>
              <a:ext cx="288032" cy="28803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5940152" y="292494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타원 12"/>
            <p:cNvSpPr/>
            <p:nvPr/>
          </p:nvSpPr>
          <p:spPr>
            <a:xfrm>
              <a:off x="5652120" y="2708920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타원 13"/>
            <p:cNvSpPr/>
            <p:nvPr/>
          </p:nvSpPr>
          <p:spPr>
            <a:xfrm>
              <a:off x="6444208" y="2996952"/>
              <a:ext cx="288032" cy="28803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7519402" y="1726656"/>
            <a:ext cx="797014" cy="478208"/>
            <a:chOff x="5652120" y="2708920"/>
            <a:chExt cx="1080120" cy="648072"/>
          </a:xfrm>
        </p:grpSpPr>
        <p:sp>
          <p:nvSpPr>
            <p:cNvPr id="18" name="타원 17"/>
            <p:cNvSpPr/>
            <p:nvPr/>
          </p:nvSpPr>
          <p:spPr>
            <a:xfrm>
              <a:off x="5652120" y="3068960"/>
              <a:ext cx="288032" cy="28803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6228184" y="2708920"/>
              <a:ext cx="288032" cy="28803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5940152" y="2924944"/>
              <a:ext cx="288032" cy="28803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5652120" y="2708920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/>
            <p:cNvSpPr/>
            <p:nvPr/>
          </p:nvSpPr>
          <p:spPr>
            <a:xfrm>
              <a:off x="6444208" y="2996952"/>
              <a:ext cx="288032" cy="288032"/>
            </a:xfrm>
            <a:prstGeom prst="ellipse">
              <a:avLst/>
            </a:prstGeom>
            <a:solidFill>
              <a:srgbClr val="0000CC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23" name="개체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0326485"/>
              </p:ext>
            </p:extLst>
          </p:nvPr>
        </p:nvGraphicFramePr>
        <p:xfrm>
          <a:off x="8181975" y="3717032"/>
          <a:ext cx="595313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4" name="수식" r:id="rId7" imgW="317160" imgH="431640" progId="Equation.3">
                  <p:embed/>
                </p:oleObj>
              </mc:Choice>
              <mc:Fallback>
                <p:oleObj name="수식" r:id="rId7" imgW="317160" imgH="431640" progId="Equation.3">
                  <p:embed/>
                  <p:pic>
                    <p:nvPicPr>
                      <p:cNvPr id="2" name="개체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1975" y="3717032"/>
                        <a:ext cx="595313" cy="809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직사각형 7"/>
          <p:cNvSpPr/>
          <p:nvPr/>
        </p:nvSpPr>
        <p:spPr>
          <a:xfrm>
            <a:off x="6249367" y="3356992"/>
            <a:ext cx="2581172" cy="3096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/>
          <p:cNvGrpSpPr/>
          <p:nvPr/>
        </p:nvGrpSpPr>
        <p:grpSpPr>
          <a:xfrm>
            <a:off x="5868144" y="1988840"/>
            <a:ext cx="864096" cy="288032"/>
            <a:chOff x="5868144" y="1988840"/>
            <a:chExt cx="864096" cy="288032"/>
          </a:xfrm>
        </p:grpSpPr>
        <p:sp>
          <p:nvSpPr>
            <p:cNvPr id="3" name="직사각형 2"/>
            <p:cNvSpPr/>
            <p:nvPr/>
          </p:nvSpPr>
          <p:spPr>
            <a:xfrm>
              <a:off x="5868144" y="1988840"/>
              <a:ext cx="288032" cy="288032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5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156176" y="1988840"/>
              <a:ext cx="288032" cy="288032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5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444208" y="1988840"/>
              <a:ext cx="288032" cy="288032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>
                  <a:solidFill>
                    <a:schemeClr val="tx1"/>
                  </a:solidFill>
                </a:rPr>
                <a:t>5</a:t>
              </a:r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8" name="그룹 27"/>
          <p:cNvGrpSpPr/>
          <p:nvPr/>
        </p:nvGrpSpPr>
        <p:grpSpPr>
          <a:xfrm>
            <a:off x="5868144" y="1988840"/>
            <a:ext cx="864096" cy="288032"/>
            <a:chOff x="5868144" y="1988840"/>
            <a:chExt cx="864096" cy="288032"/>
          </a:xfrm>
        </p:grpSpPr>
        <p:sp>
          <p:nvSpPr>
            <p:cNvPr id="29" name="직사각형 28"/>
            <p:cNvSpPr/>
            <p:nvPr/>
          </p:nvSpPr>
          <p:spPr>
            <a:xfrm>
              <a:off x="5868144" y="1988840"/>
              <a:ext cx="288032" cy="288032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6156176" y="1988840"/>
              <a:ext cx="288032" cy="288032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6444208" y="1988840"/>
              <a:ext cx="288032" cy="288032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solidFill>
                  <a:schemeClr val="tx1"/>
                </a:solidFill>
              </a:endParaRPr>
            </a:p>
          </p:txBody>
        </p:sp>
      </p:grpSp>
      <p:sp>
        <p:nvSpPr>
          <p:cNvPr id="5" name="직사각형 4"/>
          <p:cNvSpPr/>
          <p:nvPr/>
        </p:nvSpPr>
        <p:spPr>
          <a:xfrm>
            <a:off x="5652120" y="1886059"/>
            <a:ext cx="1152128" cy="4628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0258422"/>
              </p:ext>
            </p:extLst>
          </p:nvPr>
        </p:nvGraphicFramePr>
        <p:xfrm>
          <a:off x="3635375" y="3267075"/>
          <a:ext cx="1381125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45" name="수식" r:id="rId9" imgW="736560" imgH="431640" progId="Equation.3">
                  <p:embed/>
                </p:oleObj>
              </mc:Choice>
              <mc:Fallback>
                <p:oleObj name="수식" r:id="rId9" imgW="736560" imgH="43164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3267075"/>
                        <a:ext cx="1381125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직사각형 25"/>
          <p:cNvSpPr/>
          <p:nvPr/>
        </p:nvSpPr>
        <p:spPr>
          <a:xfrm>
            <a:off x="8460432" y="4149080"/>
            <a:ext cx="316856" cy="3775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2992388" y="6196652"/>
            <a:ext cx="1695510" cy="288032"/>
            <a:chOff x="1563076" y="5988184"/>
            <a:chExt cx="1695510" cy="288032"/>
          </a:xfrm>
        </p:grpSpPr>
        <p:sp>
          <p:nvSpPr>
            <p:cNvPr id="33" name="타원 32"/>
            <p:cNvSpPr/>
            <p:nvPr/>
          </p:nvSpPr>
          <p:spPr>
            <a:xfrm>
              <a:off x="1563076" y="598818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/>
            <p:cNvSpPr/>
            <p:nvPr/>
          </p:nvSpPr>
          <p:spPr>
            <a:xfrm>
              <a:off x="1901933" y="598818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타원 34"/>
            <p:cNvSpPr/>
            <p:nvPr/>
          </p:nvSpPr>
          <p:spPr>
            <a:xfrm>
              <a:off x="2257833" y="598818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타원 35"/>
            <p:cNvSpPr/>
            <p:nvPr/>
          </p:nvSpPr>
          <p:spPr>
            <a:xfrm>
              <a:off x="2613733" y="5988184"/>
              <a:ext cx="288032" cy="28803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타원 36"/>
            <p:cNvSpPr/>
            <p:nvPr/>
          </p:nvSpPr>
          <p:spPr>
            <a:xfrm>
              <a:off x="2970554" y="5988184"/>
              <a:ext cx="288032" cy="28803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xit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outVertical)">
                                      <p:cBhvr>
                                        <p:cTn id="5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8" dur="250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"/>
                            </p:stCondLst>
                            <p:childTnLst>
                              <p:par>
                                <p:cTn id="61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2" dur="250"/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6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"/>
                            </p:stCondLst>
                            <p:childTnLst>
                              <p:par>
                                <p:cTn id="6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70" dur="250"/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051" grpId="0" uiExpand="1" build="p"/>
      <p:bldP spid="8" grpId="0" animBg="1"/>
      <p:bldP spid="5" grpId="0" animBg="1"/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00125"/>
            <a:ext cx="6400800" cy="5165725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n-US" altLang="ko-KR" dirty="0" smtClean="0"/>
              <a:t>( Examples )</a:t>
            </a:r>
            <a:endParaRPr lang="en-US" altLang="ko-KR" sz="2000" dirty="0" smtClean="0"/>
          </a:p>
          <a:p>
            <a:pPr marL="457200" indent="-457200" eaLnBrk="1" hangingPunct="1">
              <a:buFont typeface="Wingdings" pitchFamily="2" charset="2"/>
              <a:buNone/>
              <a:defRPr/>
            </a:pPr>
            <a:r>
              <a:rPr lang="en-US" altLang="ko-KR" dirty="0" smtClean="0"/>
              <a:t>1. H</a:t>
            </a:r>
            <a:r>
              <a:rPr lang="en-US" altLang="ko-KR" sz="2000" dirty="0" smtClean="0"/>
              <a:t>ow many paths from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(2,1)</a:t>
            </a:r>
            <a:r>
              <a:rPr lang="en-US" altLang="ko-KR" sz="2000" dirty="0" smtClean="0"/>
              <a:t> to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(7,4)</a:t>
            </a:r>
            <a:r>
              <a:rPr lang="en-US" altLang="ko-KR" sz="2000" dirty="0" smtClean="0"/>
              <a:t> in the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xy</a:t>
            </a:r>
            <a:r>
              <a:rPr lang="en-US" altLang="ko-KR" sz="2000" dirty="0" smtClean="0"/>
              <a:t>-plane?</a:t>
            </a:r>
          </a:p>
          <a:p>
            <a:pPr marL="457200" indent="-457200" eaLnBrk="1" hangingPunct="1">
              <a:buNone/>
              <a:defRPr/>
            </a:pPr>
            <a:r>
              <a:rPr lang="en-US" altLang="ko-KR" sz="2000" dirty="0" smtClean="0"/>
              <a:t>	Each path consists of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altLang="ko-KR" sz="2000" dirty="0" smtClean="0"/>
              <a:t> moves to the right and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ko-KR" sz="2000" dirty="0" smtClean="0"/>
              <a:t> moves upward. Thus the number of paths is 		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8! / (5! 3!) = 56</a:t>
            </a:r>
            <a:r>
              <a:rPr lang="en-US" altLang="ko-KR" sz="2000" dirty="0" smtClean="0"/>
              <a:t>.</a:t>
            </a:r>
          </a:p>
          <a:p>
            <a:pPr marL="457200" indent="-457200" eaLnBrk="1" hangingPunct="1">
              <a:buFont typeface="Wingdings" pitchFamily="2" charset="2"/>
              <a:buNone/>
              <a:defRPr/>
            </a:pPr>
            <a:r>
              <a:rPr lang="en-US" altLang="ko-KR" dirty="0" smtClean="0"/>
              <a:t>2. H</a:t>
            </a:r>
            <a:r>
              <a:rPr lang="en-US" altLang="ko-KR" sz="2000" dirty="0" smtClean="0"/>
              <a:t>ow many circular arrangements of six people at a round table ?</a:t>
            </a:r>
          </a:p>
          <a:p>
            <a:pPr marL="457200" indent="-457200" eaLnBrk="1" hangingPunct="1">
              <a:buFont typeface="Wingdings" pitchFamily="2" charset="2"/>
              <a:buNone/>
              <a:defRPr/>
            </a:pPr>
            <a:r>
              <a:rPr lang="en-US" altLang="ko-KR" sz="2000" dirty="0" smtClean="0"/>
              <a:t>		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6! / 6 = 5! = 120</a:t>
            </a:r>
            <a:r>
              <a:rPr lang="en-US" altLang="ko-KR" sz="2000" dirty="0" smtClean="0"/>
              <a:t> </a:t>
            </a:r>
          </a:p>
          <a:p>
            <a:pPr marL="457200" indent="-457200" eaLnBrk="1" hangingPunct="1">
              <a:spcBef>
                <a:spcPts val="0"/>
              </a:spcBef>
              <a:buFont typeface="Wingdings" pitchFamily="2" charset="2"/>
              <a:buNone/>
              <a:defRPr/>
            </a:pPr>
            <a:r>
              <a:rPr lang="en-US" altLang="ko-KR" sz="2000" dirty="0" smtClean="0"/>
              <a:t>		(The rotation factor should be removed.)</a:t>
            </a:r>
          </a:p>
          <a:p>
            <a:pPr marL="457200" indent="-457200" eaLnBrk="1" hangingPunct="1">
              <a:buFont typeface="Wingdings" pitchFamily="2" charset="2"/>
              <a:buNone/>
              <a:defRPr/>
            </a:pPr>
            <a:r>
              <a:rPr lang="en-US" altLang="ko-KR" dirty="0" smtClean="0"/>
              <a:t>3. </a:t>
            </a:r>
            <a:r>
              <a:rPr lang="en-US" altLang="ko-KR" dirty="0" smtClean="0">
                <a:solidFill>
                  <a:srgbClr val="000000"/>
                </a:solidFill>
              </a:rPr>
              <a:t>H</a:t>
            </a:r>
            <a:r>
              <a:rPr lang="en-US" altLang="ko-KR" sz="2000" dirty="0" smtClean="0">
                <a:solidFill>
                  <a:srgbClr val="000000"/>
                </a:solidFill>
              </a:rPr>
              <a:t>ow many sexually alternate arrangements of three males and three females at a round table ?</a:t>
            </a:r>
          </a:p>
          <a:p>
            <a:pPr marL="457200" indent="-457200" eaLnBrk="1" hangingPunct="1">
              <a:buNone/>
              <a:defRPr/>
            </a:pPr>
            <a:r>
              <a:rPr lang="en-US" altLang="ko-KR" sz="2000" dirty="0" smtClean="0">
                <a:solidFill>
                  <a:srgbClr val="000000"/>
                </a:solidFill>
              </a:rPr>
              <a:t>		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3 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2 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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1 = 12.        (3!/3) 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</a:t>
            </a:r>
            <a:r>
              <a:rPr lang="en-US" altLang="ko-KR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3!</a:t>
            </a:r>
            <a:endParaRPr lang="en-US" altLang="ko-KR" dirty="0" smtClean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9461" name="그룹 34"/>
          <p:cNvGrpSpPr>
            <a:grpSpLocks/>
          </p:cNvGrpSpPr>
          <p:nvPr/>
        </p:nvGrpSpPr>
        <p:grpSpPr bwMode="auto">
          <a:xfrm>
            <a:off x="6999288" y="1498600"/>
            <a:ext cx="1930400" cy="1287463"/>
            <a:chOff x="6999212" y="1428738"/>
            <a:chExt cx="1930506" cy="1287922"/>
          </a:xfrm>
        </p:grpSpPr>
        <p:cxnSp>
          <p:nvCxnSpPr>
            <p:cNvPr id="7" name="직선 연결선 6"/>
            <p:cNvCxnSpPr/>
            <p:nvPr/>
          </p:nvCxnSpPr>
          <p:spPr>
            <a:xfrm rot="16200000" flipH="1">
              <a:off x="6356839" y="2071111"/>
              <a:ext cx="1286333" cy="1587"/>
            </a:xfrm>
            <a:prstGeom prst="line">
              <a:avLst/>
            </a:prstGeom>
            <a:ln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rot="5400000">
              <a:off x="6679946" y="2178305"/>
              <a:ext cx="1071944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>
            <a:xfrm rot="5400000">
              <a:off x="6894270" y="2178305"/>
              <a:ext cx="107194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>
            <a:xfrm rot="5400000">
              <a:off x="7107006" y="2178305"/>
              <a:ext cx="107194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 rot="5400000">
              <a:off x="7321331" y="2178305"/>
              <a:ext cx="1071944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>
            <a:xfrm rot="5400000">
              <a:off x="7535655" y="2178305"/>
              <a:ext cx="107194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 rot="5400000">
              <a:off x="7751567" y="2178305"/>
              <a:ext cx="107194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7964303" y="2178305"/>
              <a:ext cx="107194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 rot="5400000">
              <a:off x="8178628" y="2178305"/>
              <a:ext cx="1071944" cy="15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7002387" y="2715071"/>
              <a:ext cx="1927331" cy="1589"/>
            </a:xfrm>
            <a:prstGeom prst="line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/>
            <p:cNvCxnSpPr/>
            <p:nvPr/>
          </p:nvCxnSpPr>
          <p:spPr>
            <a:xfrm>
              <a:off x="7000799" y="2500683"/>
              <a:ext cx="171459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/>
            <p:cNvCxnSpPr/>
            <p:nvPr/>
          </p:nvCxnSpPr>
          <p:spPr>
            <a:xfrm>
              <a:off x="7000799" y="2286294"/>
              <a:ext cx="1714594" cy="1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/>
            <p:cNvCxnSpPr/>
            <p:nvPr/>
          </p:nvCxnSpPr>
          <p:spPr>
            <a:xfrm>
              <a:off x="7000799" y="2071905"/>
              <a:ext cx="171459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/>
            <p:cNvCxnSpPr/>
            <p:nvPr/>
          </p:nvCxnSpPr>
          <p:spPr>
            <a:xfrm>
              <a:off x="7000799" y="1857516"/>
              <a:ext cx="1714594" cy="158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타원 28"/>
            <p:cNvSpPr/>
            <p:nvPr/>
          </p:nvSpPr>
          <p:spPr>
            <a:xfrm>
              <a:off x="7358007" y="2429220"/>
              <a:ext cx="142883" cy="14292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0" name="타원 29"/>
            <p:cNvSpPr/>
            <p:nvPr/>
          </p:nvSpPr>
          <p:spPr>
            <a:xfrm>
              <a:off x="8429628" y="1786053"/>
              <a:ext cx="142883" cy="14292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cxnSp>
          <p:nvCxnSpPr>
            <p:cNvPr id="32" name="직선 연결선 31"/>
            <p:cNvCxnSpPr/>
            <p:nvPr/>
          </p:nvCxnSpPr>
          <p:spPr>
            <a:xfrm>
              <a:off x="7000799" y="1643127"/>
              <a:ext cx="171459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자유형 33"/>
            <p:cNvSpPr/>
            <p:nvPr/>
          </p:nvSpPr>
          <p:spPr>
            <a:xfrm>
              <a:off x="7434211" y="1846400"/>
              <a:ext cx="1068446" cy="657459"/>
            </a:xfrm>
            <a:custGeom>
              <a:avLst/>
              <a:gdLst>
                <a:gd name="connsiteX0" fmla="*/ 0 w 1068224"/>
                <a:gd name="connsiteY0" fmla="*/ 658026 h 658026"/>
                <a:gd name="connsiteX1" fmla="*/ 427290 w 1068224"/>
                <a:gd name="connsiteY1" fmla="*/ 658026 h 658026"/>
                <a:gd name="connsiteX2" fmla="*/ 418744 w 1068224"/>
                <a:gd name="connsiteY2" fmla="*/ 222190 h 658026"/>
                <a:gd name="connsiteX3" fmla="*/ 846034 w 1068224"/>
                <a:gd name="connsiteY3" fmla="*/ 222190 h 658026"/>
                <a:gd name="connsiteX4" fmla="*/ 854580 w 1068224"/>
                <a:gd name="connsiteY4" fmla="*/ 8545 h 658026"/>
                <a:gd name="connsiteX5" fmla="*/ 1068224 w 1068224"/>
                <a:gd name="connsiteY5" fmla="*/ 0 h 658026"/>
                <a:gd name="connsiteX0" fmla="*/ 0 w 1068224"/>
                <a:gd name="connsiteY0" fmla="*/ 658026 h 658026"/>
                <a:gd name="connsiteX1" fmla="*/ 427290 w 1068224"/>
                <a:gd name="connsiteY1" fmla="*/ 658026 h 658026"/>
                <a:gd name="connsiteX2" fmla="*/ 418744 w 1068224"/>
                <a:gd name="connsiteY2" fmla="*/ 222190 h 658026"/>
                <a:gd name="connsiteX3" fmla="*/ 846034 w 1068224"/>
                <a:gd name="connsiteY3" fmla="*/ 222190 h 658026"/>
                <a:gd name="connsiteX4" fmla="*/ 854580 w 1068224"/>
                <a:gd name="connsiteY4" fmla="*/ 222190 h 658026"/>
                <a:gd name="connsiteX5" fmla="*/ 854580 w 1068224"/>
                <a:gd name="connsiteY5" fmla="*/ 8545 h 658026"/>
                <a:gd name="connsiteX6" fmla="*/ 1068224 w 1068224"/>
                <a:gd name="connsiteY6" fmla="*/ 0 h 6580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8224" h="658026">
                  <a:moveTo>
                    <a:pt x="0" y="658026"/>
                  </a:moveTo>
                  <a:lnTo>
                    <a:pt x="427290" y="658026"/>
                  </a:lnTo>
                  <a:lnTo>
                    <a:pt x="418744" y="222190"/>
                  </a:lnTo>
                  <a:lnTo>
                    <a:pt x="846034" y="222190"/>
                  </a:lnTo>
                  <a:lnTo>
                    <a:pt x="854580" y="222190"/>
                  </a:lnTo>
                  <a:lnTo>
                    <a:pt x="854580" y="8545"/>
                  </a:lnTo>
                  <a:lnTo>
                    <a:pt x="1068224" y="0"/>
                  </a:lnTo>
                </a:path>
              </a:pathLst>
            </a:custGeom>
            <a:ln w="28575">
              <a:solidFill>
                <a:srgbClr val="FF00F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6"/>
          <p:cNvGrpSpPr>
            <a:grpSpLocks/>
          </p:cNvGrpSpPr>
          <p:nvPr/>
        </p:nvGrpSpPr>
        <p:grpSpPr bwMode="auto">
          <a:xfrm>
            <a:off x="7215188" y="3071813"/>
            <a:ext cx="1357312" cy="1500187"/>
            <a:chOff x="7215206" y="3071810"/>
            <a:chExt cx="1357322" cy="1500198"/>
          </a:xfrm>
        </p:grpSpPr>
        <p:sp>
          <p:nvSpPr>
            <p:cNvPr id="36" name="타원 35"/>
            <p:cNvSpPr/>
            <p:nvPr/>
          </p:nvSpPr>
          <p:spPr>
            <a:xfrm>
              <a:off x="7429520" y="3357562"/>
              <a:ext cx="928695" cy="9286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8" name="타원 37"/>
            <p:cNvSpPr/>
            <p:nvPr/>
          </p:nvSpPr>
          <p:spPr>
            <a:xfrm>
              <a:off x="7786710" y="3071810"/>
              <a:ext cx="214314" cy="214314"/>
            </a:xfrm>
            <a:prstGeom prst="ellipse">
              <a:avLst/>
            </a:prstGeom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4" name="타원 43"/>
            <p:cNvSpPr/>
            <p:nvPr/>
          </p:nvSpPr>
          <p:spPr>
            <a:xfrm>
              <a:off x="7786710" y="4357694"/>
              <a:ext cx="214314" cy="214314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타원 44"/>
            <p:cNvSpPr/>
            <p:nvPr/>
          </p:nvSpPr>
          <p:spPr>
            <a:xfrm>
              <a:off x="8358214" y="3429000"/>
              <a:ext cx="214314" cy="214315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6" name="타원 45"/>
            <p:cNvSpPr/>
            <p:nvPr/>
          </p:nvSpPr>
          <p:spPr>
            <a:xfrm>
              <a:off x="7215206" y="3429000"/>
              <a:ext cx="214314" cy="214315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타원 46"/>
            <p:cNvSpPr/>
            <p:nvPr/>
          </p:nvSpPr>
          <p:spPr>
            <a:xfrm>
              <a:off x="7215206" y="4000504"/>
              <a:ext cx="214314" cy="214315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8" name="타원 47"/>
            <p:cNvSpPr/>
            <p:nvPr/>
          </p:nvSpPr>
          <p:spPr>
            <a:xfrm>
              <a:off x="8358214" y="4000504"/>
              <a:ext cx="214314" cy="214315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6" name="그룹 57"/>
          <p:cNvGrpSpPr>
            <a:grpSpLocks/>
          </p:cNvGrpSpPr>
          <p:nvPr/>
        </p:nvGrpSpPr>
        <p:grpSpPr bwMode="auto">
          <a:xfrm>
            <a:off x="7215188" y="4786313"/>
            <a:ext cx="1357312" cy="1500187"/>
            <a:chOff x="7215206" y="4786322"/>
            <a:chExt cx="1357322" cy="1500198"/>
          </a:xfrm>
        </p:grpSpPr>
        <p:sp>
          <p:nvSpPr>
            <p:cNvPr id="37" name="타원 36"/>
            <p:cNvSpPr/>
            <p:nvPr/>
          </p:nvSpPr>
          <p:spPr>
            <a:xfrm>
              <a:off x="7429520" y="5072074"/>
              <a:ext cx="928695" cy="92869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49" name="타원 48"/>
            <p:cNvSpPr/>
            <p:nvPr/>
          </p:nvSpPr>
          <p:spPr>
            <a:xfrm>
              <a:off x="7786710" y="4786322"/>
              <a:ext cx="214314" cy="21431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a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타원 49"/>
            <p:cNvSpPr/>
            <p:nvPr/>
          </p:nvSpPr>
          <p:spPr>
            <a:xfrm>
              <a:off x="7786710" y="6072206"/>
              <a:ext cx="214314" cy="214314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d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타원 50"/>
            <p:cNvSpPr/>
            <p:nvPr/>
          </p:nvSpPr>
          <p:spPr>
            <a:xfrm>
              <a:off x="8358214" y="5143512"/>
              <a:ext cx="214314" cy="214315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2" name="타원 51"/>
            <p:cNvSpPr/>
            <p:nvPr/>
          </p:nvSpPr>
          <p:spPr>
            <a:xfrm>
              <a:off x="7215206" y="5143512"/>
              <a:ext cx="214314" cy="214315"/>
            </a:xfrm>
            <a:prstGeom prst="ellipse">
              <a:avLst/>
            </a:prstGeom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타원 52"/>
            <p:cNvSpPr/>
            <p:nvPr/>
          </p:nvSpPr>
          <p:spPr>
            <a:xfrm>
              <a:off x="7215206" y="5715016"/>
              <a:ext cx="214314" cy="214315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e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타원 53"/>
            <p:cNvSpPr/>
            <p:nvPr/>
          </p:nvSpPr>
          <p:spPr>
            <a:xfrm>
              <a:off x="8358214" y="5715016"/>
              <a:ext cx="214314" cy="214315"/>
            </a:xfrm>
            <a:prstGeom prst="ellipse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400" i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c</a:t>
              </a:r>
              <a:endParaRPr lang="ko-KR" altLang="en-US" sz="1400" i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0" name="TextBox 39"/>
          <p:cNvSpPr txBox="1"/>
          <p:nvPr/>
        </p:nvSpPr>
        <p:spPr>
          <a:xfrm>
            <a:off x="7143768" y="1357298"/>
            <a:ext cx="164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RRUURRUR</a:t>
            </a:r>
            <a:endParaRPr lang="ko-KR" alt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000100" y="2857496"/>
            <a:ext cx="2571768" cy="357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995540" y="5805264"/>
            <a:ext cx="3000396" cy="357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3995936" y="5805264"/>
            <a:ext cx="2088232" cy="3571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1000100" y="4077072"/>
            <a:ext cx="5214974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8" name="그룹 67"/>
          <p:cNvGrpSpPr/>
          <p:nvPr/>
        </p:nvGrpSpPr>
        <p:grpSpPr>
          <a:xfrm>
            <a:off x="5652120" y="3754536"/>
            <a:ext cx="1152128" cy="720080"/>
            <a:chOff x="4499992" y="548680"/>
            <a:chExt cx="1152128" cy="720080"/>
          </a:xfrm>
        </p:grpSpPr>
        <p:sp>
          <p:nvSpPr>
            <p:cNvPr id="56" name="직사각형 55"/>
            <p:cNvSpPr/>
            <p:nvPr/>
          </p:nvSpPr>
          <p:spPr>
            <a:xfrm>
              <a:off x="4716016" y="764704"/>
              <a:ext cx="720080" cy="2880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타원 57"/>
            <p:cNvSpPr/>
            <p:nvPr/>
          </p:nvSpPr>
          <p:spPr>
            <a:xfrm>
              <a:off x="4860032" y="548680"/>
              <a:ext cx="144016" cy="14401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타원 58"/>
            <p:cNvSpPr/>
            <p:nvPr/>
          </p:nvSpPr>
          <p:spPr>
            <a:xfrm>
              <a:off x="5148064" y="548680"/>
              <a:ext cx="144016" cy="14401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/>
            <p:cNvSpPr/>
            <p:nvPr/>
          </p:nvSpPr>
          <p:spPr>
            <a:xfrm>
              <a:off x="4860032" y="1124744"/>
              <a:ext cx="144016" cy="14401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/>
            <p:cNvSpPr/>
            <p:nvPr/>
          </p:nvSpPr>
          <p:spPr>
            <a:xfrm>
              <a:off x="5148064" y="1124744"/>
              <a:ext cx="144016" cy="14401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타원 61"/>
            <p:cNvSpPr/>
            <p:nvPr/>
          </p:nvSpPr>
          <p:spPr>
            <a:xfrm>
              <a:off x="4499992" y="836712"/>
              <a:ext cx="144016" cy="14401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타원 62"/>
            <p:cNvSpPr/>
            <p:nvPr/>
          </p:nvSpPr>
          <p:spPr>
            <a:xfrm>
              <a:off x="5508104" y="836712"/>
              <a:ext cx="144016" cy="144016"/>
            </a:xfrm>
            <a:prstGeom prst="ellipse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직사각형 68"/>
          <p:cNvSpPr/>
          <p:nvPr/>
        </p:nvSpPr>
        <p:spPr>
          <a:xfrm>
            <a:off x="5580112" y="3682528"/>
            <a:ext cx="1296144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2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3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0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5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 animBg="1"/>
      <p:bldP spid="43" grpId="0" animBg="1"/>
      <p:bldP spid="55" grpId="0" animBg="1"/>
      <p:bldP spid="42" grpId="0" animBg="1"/>
      <p:bldP spid="6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>
                <a:solidFill>
                  <a:srgbClr val="0000CC"/>
                </a:solidFill>
              </a:rPr>
              <a:t>Combinations: </a:t>
            </a:r>
            <a:r>
              <a:rPr lang="en-US" altLang="ko-KR" smtClean="0"/>
              <a:t>Binomial Theorem</a:t>
            </a:r>
            <a:endParaRPr lang="ko-KR" altLang="en-US" smtClean="0"/>
          </a:p>
        </p:txBody>
      </p:sp>
      <p:sp>
        <p:nvSpPr>
          <p:cNvPr id="3077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808537"/>
          </a:xfrm>
        </p:spPr>
        <p:txBody>
          <a:bodyPr/>
          <a:lstStyle/>
          <a:p>
            <a:r>
              <a:rPr lang="en-US" altLang="ko-KR" dirty="0" smtClean="0"/>
              <a:t>Combination: </a:t>
            </a:r>
            <a:r>
              <a:rPr lang="en-US" altLang="ko-KR" i="1" dirty="0" smtClean="0"/>
              <a:t>Unordered Selection</a:t>
            </a:r>
          </a:p>
          <a:p>
            <a:pPr lvl="1"/>
            <a:r>
              <a:rPr lang="en-US" altLang="ko-KR" dirty="0" smtClean="0"/>
              <a:t>The number of combinations of size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dirty="0" smtClean="0"/>
              <a:t> from a collection of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/>
              <a:t> </a:t>
            </a:r>
            <a:r>
              <a:rPr lang="en-US" altLang="ko-KR" i="1" dirty="0" smtClean="0"/>
              <a:t>distinct</a:t>
            </a:r>
            <a:r>
              <a:rPr lang="en-US" altLang="ko-KR" dirty="0" smtClean="0"/>
              <a:t> objects is</a:t>
            </a:r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endParaRPr lang="en-US" altLang="ko-KR" dirty="0" smtClean="0"/>
          </a:p>
          <a:p>
            <a:pPr lvl="1"/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dirty="0" smtClean="0"/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/>
              <a:t>,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altLang="ko-KR" dirty="0" smtClean="0"/>
              <a:t>) is sometimes read as “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/>
              <a:t> choose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dirty="0" smtClean="0">
                <a:cs typeface="Times New Roman" pitchFamily="18" charset="0"/>
              </a:rPr>
              <a:t>”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Note that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0) = 1</a:t>
            </a:r>
            <a:r>
              <a:rPr lang="en-US" altLang="ko-KR" dirty="0" smtClean="0"/>
              <a:t>, for all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/>
              <a:t> </a:t>
            </a:r>
            <a:r>
              <a:rPr lang="en-US" altLang="ko-KR" dirty="0" smtClean="0">
                <a:sym typeface="Symbol" pitchFamily="18" charset="2"/>
              </a:rPr>
              <a:t></a:t>
            </a:r>
            <a:r>
              <a:rPr lang="en-US" altLang="ko-KR" dirty="0" smtClean="0"/>
              <a:t>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ko-KR" dirty="0" smtClean="0"/>
              <a:t>, and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 n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– </a:t>
            </a:r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dirty="0" smtClean="0"/>
              <a:t>.</a:t>
            </a: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714500" y="2857496"/>
          <a:ext cx="535781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9" name="수식" r:id="rId3" imgW="2857320" imgH="457200" progId="Equation.3">
                  <p:embed/>
                </p:oleObj>
              </mc:Choice>
              <mc:Fallback>
                <p:oleObj name="수식" r:id="rId3" imgW="285732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2857496"/>
                        <a:ext cx="5357813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80" name="Picture 3" descr="C:\Documents and Settings\vision\Local Settings\Temporary Internet Files\Content.IE5\EDXSGGGT\MCj04315370000[1]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14563" y="5072063"/>
            <a:ext cx="1277937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081" name="Group 8"/>
          <p:cNvGrpSpPr>
            <a:grpSpLocks noChangeAspect="1"/>
          </p:cNvGrpSpPr>
          <p:nvPr/>
        </p:nvGrpSpPr>
        <p:grpSpPr bwMode="auto">
          <a:xfrm>
            <a:off x="5089525" y="5000625"/>
            <a:ext cx="1411288" cy="1377950"/>
            <a:chOff x="3718" y="3006"/>
            <a:chExt cx="1036" cy="1012"/>
          </a:xfrm>
        </p:grpSpPr>
        <p:sp>
          <p:nvSpPr>
            <p:cNvPr id="3083" name="Freeform 10"/>
            <p:cNvSpPr>
              <a:spLocks/>
            </p:cNvSpPr>
            <p:nvPr/>
          </p:nvSpPr>
          <p:spPr bwMode="auto">
            <a:xfrm>
              <a:off x="3977" y="3347"/>
              <a:ext cx="533" cy="671"/>
            </a:xfrm>
            <a:custGeom>
              <a:avLst/>
              <a:gdLst>
                <a:gd name="T0" fmla="*/ 257 w 1064"/>
                <a:gd name="T1" fmla="*/ 33 h 1342"/>
                <a:gd name="T2" fmla="*/ 243 w 1064"/>
                <a:gd name="T3" fmla="*/ 30 h 1342"/>
                <a:gd name="T4" fmla="*/ 78 w 1064"/>
                <a:gd name="T5" fmla="*/ 3 h 1342"/>
                <a:gd name="T6" fmla="*/ 58 w 1064"/>
                <a:gd name="T7" fmla="*/ 0 h 1342"/>
                <a:gd name="T8" fmla="*/ 56 w 1064"/>
                <a:gd name="T9" fmla="*/ 1 h 1342"/>
                <a:gd name="T10" fmla="*/ 54 w 1064"/>
                <a:gd name="T11" fmla="*/ 1 h 1342"/>
                <a:gd name="T12" fmla="*/ 53 w 1064"/>
                <a:gd name="T13" fmla="*/ 2 h 1342"/>
                <a:gd name="T14" fmla="*/ 52 w 1064"/>
                <a:gd name="T15" fmla="*/ 3 h 1342"/>
                <a:gd name="T16" fmla="*/ 50 w 1064"/>
                <a:gd name="T17" fmla="*/ 4 h 1342"/>
                <a:gd name="T18" fmla="*/ 49 w 1064"/>
                <a:gd name="T19" fmla="*/ 5 h 1342"/>
                <a:gd name="T20" fmla="*/ 48 w 1064"/>
                <a:gd name="T21" fmla="*/ 6 h 1342"/>
                <a:gd name="T22" fmla="*/ 46 w 1064"/>
                <a:gd name="T23" fmla="*/ 7 h 1342"/>
                <a:gd name="T24" fmla="*/ 10 w 1064"/>
                <a:gd name="T25" fmla="*/ 232 h 1342"/>
                <a:gd name="T26" fmla="*/ 0 w 1064"/>
                <a:gd name="T27" fmla="*/ 291 h 1342"/>
                <a:gd name="T28" fmla="*/ 1 w 1064"/>
                <a:gd name="T29" fmla="*/ 293 h 1342"/>
                <a:gd name="T30" fmla="*/ 2 w 1064"/>
                <a:gd name="T31" fmla="*/ 295 h 1342"/>
                <a:gd name="T32" fmla="*/ 3 w 1064"/>
                <a:gd name="T33" fmla="*/ 296 h 1342"/>
                <a:gd name="T34" fmla="*/ 4 w 1064"/>
                <a:gd name="T35" fmla="*/ 298 h 1342"/>
                <a:gd name="T36" fmla="*/ 5 w 1064"/>
                <a:gd name="T37" fmla="*/ 300 h 1342"/>
                <a:gd name="T38" fmla="*/ 7 w 1064"/>
                <a:gd name="T39" fmla="*/ 301 h 1342"/>
                <a:gd name="T40" fmla="*/ 9 w 1064"/>
                <a:gd name="T41" fmla="*/ 303 h 1342"/>
                <a:gd name="T42" fmla="*/ 10 w 1064"/>
                <a:gd name="T43" fmla="*/ 304 h 1342"/>
                <a:gd name="T44" fmla="*/ 105 w 1064"/>
                <a:gd name="T45" fmla="*/ 319 h 1342"/>
                <a:gd name="T46" fmla="*/ 159 w 1064"/>
                <a:gd name="T47" fmla="*/ 328 h 1342"/>
                <a:gd name="T48" fmla="*/ 207 w 1064"/>
                <a:gd name="T49" fmla="*/ 336 h 1342"/>
                <a:gd name="T50" fmla="*/ 209 w 1064"/>
                <a:gd name="T51" fmla="*/ 335 h 1342"/>
                <a:gd name="T52" fmla="*/ 211 w 1064"/>
                <a:gd name="T53" fmla="*/ 335 h 1342"/>
                <a:gd name="T54" fmla="*/ 213 w 1064"/>
                <a:gd name="T55" fmla="*/ 334 h 1342"/>
                <a:gd name="T56" fmla="*/ 215 w 1064"/>
                <a:gd name="T57" fmla="*/ 333 h 1342"/>
                <a:gd name="T58" fmla="*/ 216 w 1064"/>
                <a:gd name="T59" fmla="*/ 332 h 1342"/>
                <a:gd name="T60" fmla="*/ 218 w 1064"/>
                <a:gd name="T61" fmla="*/ 330 h 1342"/>
                <a:gd name="T62" fmla="*/ 219 w 1064"/>
                <a:gd name="T63" fmla="*/ 329 h 1342"/>
                <a:gd name="T64" fmla="*/ 221 w 1064"/>
                <a:gd name="T65" fmla="*/ 328 h 1342"/>
                <a:gd name="T66" fmla="*/ 267 w 1064"/>
                <a:gd name="T67" fmla="*/ 45 h 1342"/>
                <a:gd name="T68" fmla="*/ 267 w 1064"/>
                <a:gd name="T69" fmla="*/ 43 h 1342"/>
                <a:gd name="T70" fmla="*/ 265 w 1064"/>
                <a:gd name="T71" fmla="*/ 42 h 1342"/>
                <a:gd name="T72" fmla="*/ 264 w 1064"/>
                <a:gd name="T73" fmla="*/ 40 h 1342"/>
                <a:gd name="T74" fmla="*/ 263 w 1064"/>
                <a:gd name="T75" fmla="*/ 39 h 1342"/>
                <a:gd name="T76" fmla="*/ 261 w 1064"/>
                <a:gd name="T77" fmla="*/ 37 h 1342"/>
                <a:gd name="T78" fmla="*/ 260 w 1064"/>
                <a:gd name="T79" fmla="*/ 35 h 1342"/>
                <a:gd name="T80" fmla="*/ 258 w 1064"/>
                <a:gd name="T81" fmla="*/ 34 h 1342"/>
                <a:gd name="T82" fmla="*/ 257 w 1064"/>
                <a:gd name="T83" fmla="*/ 33 h 134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064"/>
                <a:gd name="T127" fmla="*/ 0 h 1342"/>
                <a:gd name="T128" fmla="*/ 1064 w 1064"/>
                <a:gd name="T129" fmla="*/ 1342 h 134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064" h="1342">
                  <a:moveTo>
                    <a:pt x="1024" y="130"/>
                  </a:moveTo>
                  <a:lnTo>
                    <a:pt x="970" y="121"/>
                  </a:lnTo>
                  <a:lnTo>
                    <a:pt x="310" y="13"/>
                  </a:lnTo>
                  <a:lnTo>
                    <a:pt x="229" y="0"/>
                  </a:lnTo>
                  <a:lnTo>
                    <a:pt x="222" y="2"/>
                  </a:lnTo>
                  <a:lnTo>
                    <a:pt x="216" y="4"/>
                  </a:lnTo>
                  <a:lnTo>
                    <a:pt x="211" y="8"/>
                  </a:lnTo>
                  <a:lnTo>
                    <a:pt x="205" y="11"/>
                  </a:lnTo>
                  <a:lnTo>
                    <a:pt x="199" y="16"/>
                  </a:lnTo>
                  <a:lnTo>
                    <a:pt x="193" y="20"/>
                  </a:lnTo>
                  <a:lnTo>
                    <a:pt x="189" y="25"/>
                  </a:lnTo>
                  <a:lnTo>
                    <a:pt x="184" y="31"/>
                  </a:lnTo>
                  <a:lnTo>
                    <a:pt x="37" y="930"/>
                  </a:lnTo>
                  <a:lnTo>
                    <a:pt x="0" y="1161"/>
                  </a:lnTo>
                  <a:lnTo>
                    <a:pt x="2" y="1169"/>
                  </a:lnTo>
                  <a:lnTo>
                    <a:pt x="5" y="1177"/>
                  </a:lnTo>
                  <a:lnTo>
                    <a:pt x="10" y="1184"/>
                  </a:lnTo>
                  <a:lnTo>
                    <a:pt x="15" y="1191"/>
                  </a:lnTo>
                  <a:lnTo>
                    <a:pt x="20" y="1198"/>
                  </a:lnTo>
                  <a:lnTo>
                    <a:pt x="26" y="1204"/>
                  </a:lnTo>
                  <a:lnTo>
                    <a:pt x="33" y="1210"/>
                  </a:lnTo>
                  <a:lnTo>
                    <a:pt x="40" y="1214"/>
                  </a:lnTo>
                  <a:lnTo>
                    <a:pt x="417" y="1275"/>
                  </a:lnTo>
                  <a:lnTo>
                    <a:pt x="634" y="1311"/>
                  </a:lnTo>
                  <a:lnTo>
                    <a:pt x="825" y="1342"/>
                  </a:lnTo>
                  <a:lnTo>
                    <a:pt x="833" y="1340"/>
                  </a:lnTo>
                  <a:lnTo>
                    <a:pt x="841" y="1338"/>
                  </a:lnTo>
                  <a:lnTo>
                    <a:pt x="849" y="1334"/>
                  </a:lnTo>
                  <a:lnTo>
                    <a:pt x="857" y="1331"/>
                  </a:lnTo>
                  <a:lnTo>
                    <a:pt x="863" y="1326"/>
                  </a:lnTo>
                  <a:lnTo>
                    <a:pt x="869" y="1320"/>
                  </a:lnTo>
                  <a:lnTo>
                    <a:pt x="875" y="1314"/>
                  </a:lnTo>
                  <a:lnTo>
                    <a:pt x="881" y="1309"/>
                  </a:lnTo>
                  <a:lnTo>
                    <a:pt x="1064" y="183"/>
                  </a:lnTo>
                  <a:lnTo>
                    <a:pt x="1062" y="175"/>
                  </a:lnTo>
                  <a:lnTo>
                    <a:pt x="1058" y="167"/>
                  </a:lnTo>
                  <a:lnTo>
                    <a:pt x="1054" y="160"/>
                  </a:lnTo>
                  <a:lnTo>
                    <a:pt x="1049" y="153"/>
                  </a:lnTo>
                  <a:lnTo>
                    <a:pt x="1043" y="146"/>
                  </a:lnTo>
                  <a:lnTo>
                    <a:pt x="1038" y="140"/>
                  </a:lnTo>
                  <a:lnTo>
                    <a:pt x="1031" y="134"/>
                  </a:lnTo>
                  <a:lnTo>
                    <a:pt x="1024" y="130"/>
                  </a:lnTo>
                  <a:close/>
                </a:path>
              </a:pathLst>
            </a:custGeom>
            <a:solidFill>
              <a:srgbClr val="FFF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4" name="Freeform 11"/>
            <p:cNvSpPr>
              <a:spLocks/>
            </p:cNvSpPr>
            <p:nvPr/>
          </p:nvSpPr>
          <p:spPr bwMode="auto">
            <a:xfrm>
              <a:off x="4093" y="3713"/>
              <a:ext cx="263" cy="98"/>
            </a:xfrm>
            <a:custGeom>
              <a:avLst/>
              <a:gdLst>
                <a:gd name="T0" fmla="*/ 111 w 528"/>
                <a:gd name="T1" fmla="*/ 15 h 197"/>
                <a:gd name="T2" fmla="*/ 103 w 528"/>
                <a:gd name="T3" fmla="*/ 10 h 197"/>
                <a:gd name="T4" fmla="*/ 94 w 528"/>
                <a:gd name="T5" fmla="*/ 6 h 197"/>
                <a:gd name="T6" fmla="*/ 86 w 528"/>
                <a:gd name="T7" fmla="*/ 3 h 197"/>
                <a:gd name="T8" fmla="*/ 79 w 528"/>
                <a:gd name="T9" fmla="*/ 1 h 197"/>
                <a:gd name="T10" fmla="*/ 72 w 528"/>
                <a:gd name="T11" fmla="*/ 0 h 197"/>
                <a:gd name="T12" fmla="*/ 66 w 528"/>
                <a:gd name="T13" fmla="*/ 0 h 197"/>
                <a:gd name="T14" fmla="*/ 60 w 528"/>
                <a:gd name="T15" fmla="*/ 0 h 197"/>
                <a:gd name="T16" fmla="*/ 55 w 528"/>
                <a:gd name="T17" fmla="*/ 0 h 197"/>
                <a:gd name="T18" fmla="*/ 50 w 528"/>
                <a:gd name="T19" fmla="*/ 0 h 197"/>
                <a:gd name="T20" fmla="*/ 44 w 528"/>
                <a:gd name="T21" fmla="*/ 1 h 197"/>
                <a:gd name="T22" fmla="*/ 38 w 528"/>
                <a:gd name="T23" fmla="*/ 1 h 197"/>
                <a:gd name="T24" fmla="*/ 30 w 528"/>
                <a:gd name="T25" fmla="*/ 3 h 197"/>
                <a:gd name="T26" fmla="*/ 19 w 528"/>
                <a:gd name="T27" fmla="*/ 6 h 197"/>
                <a:gd name="T28" fmla="*/ 9 w 528"/>
                <a:gd name="T29" fmla="*/ 10 h 197"/>
                <a:gd name="T30" fmla="*/ 2 w 528"/>
                <a:gd name="T31" fmla="*/ 15 h 197"/>
                <a:gd name="T32" fmla="*/ 1 w 528"/>
                <a:gd name="T33" fmla="*/ 18 h 197"/>
                <a:gd name="T34" fmla="*/ 4 w 528"/>
                <a:gd name="T35" fmla="*/ 21 h 197"/>
                <a:gd name="T36" fmla="*/ 7 w 528"/>
                <a:gd name="T37" fmla="*/ 23 h 197"/>
                <a:gd name="T38" fmla="*/ 11 w 528"/>
                <a:gd name="T39" fmla="*/ 25 h 197"/>
                <a:gd name="T40" fmla="*/ 13 w 528"/>
                <a:gd name="T41" fmla="*/ 26 h 197"/>
                <a:gd name="T42" fmla="*/ 15 w 528"/>
                <a:gd name="T43" fmla="*/ 25 h 197"/>
                <a:gd name="T44" fmla="*/ 17 w 528"/>
                <a:gd name="T45" fmla="*/ 24 h 197"/>
                <a:gd name="T46" fmla="*/ 18 w 528"/>
                <a:gd name="T47" fmla="*/ 26 h 197"/>
                <a:gd name="T48" fmla="*/ 21 w 528"/>
                <a:gd name="T49" fmla="*/ 26 h 197"/>
                <a:gd name="T50" fmla="*/ 26 w 528"/>
                <a:gd name="T51" fmla="*/ 26 h 197"/>
                <a:gd name="T52" fmla="*/ 30 w 528"/>
                <a:gd name="T53" fmla="*/ 29 h 197"/>
                <a:gd name="T54" fmla="*/ 34 w 528"/>
                <a:gd name="T55" fmla="*/ 33 h 197"/>
                <a:gd name="T56" fmla="*/ 37 w 528"/>
                <a:gd name="T57" fmla="*/ 36 h 197"/>
                <a:gd name="T58" fmla="*/ 37 w 528"/>
                <a:gd name="T59" fmla="*/ 36 h 197"/>
                <a:gd name="T60" fmla="*/ 38 w 528"/>
                <a:gd name="T61" fmla="*/ 36 h 197"/>
                <a:gd name="T62" fmla="*/ 39 w 528"/>
                <a:gd name="T63" fmla="*/ 36 h 197"/>
                <a:gd name="T64" fmla="*/ 39 w 528"/>
                <a:gd name="T65" fmla="*/ 37 h 197"/>
                <a:gd name="T66" fmla="*/ 39 w 528"/>
                <a:gd name="T67" fmla="*/ 37 h 197"/>
                <a:gd name="T68" fmla="*/ 40 w 528"/>
                <a:gd name="T69" fmla="*/ 38 h 197"/>
                <a:gd name="T70" fmla="*/ 42 w 528"/>
                <a:gd name="T71" fmla="*/ 41 h 197"/>
                <a:gd name="T72" fmla="*/ 45 w 528"/>
                <a:gd name="T73" fmla="*/ 42 h 197"/>
                <a:gd name="T74" fmla="*/ 49 w 528"/>
                <a:gd name="T75" fmla="*/ 41 h 197"/>
                <a:gd name="T76" fmla="*/ 52 w 528"/>
                <a:gd name="T77" fmla="*/ 40 h 197"/>
                <a:gd name="T78" fmla="*/ 56 w 528"/>
                <a:gd name="T79" fmla="*/ 40 h 197"/>
                <a:gd name="T80" fmla="*/ 61 w 528"/>
                <a:gd name="T81" fmla="*/ 39 h 197"/>
                <a:gd name="T82" fmla="*/ 68 w 528"/>
                <a:gd name="T83" fmla="*/ 39 h 197"/>
                <a:gd name="T84" fmla="*/ 75 w 528"/>
                <a:gd name="T85" fmla="*/ 41 h 197"/>
                <a:gd name="T86" fmla="*/ 82 w 528"/>
                <a:gd name="T87" fmla="*/ 43 h 197"/>
                <a:gd name="T88" fmla="*/ 87 w 528"/>
                <a:gd name="T89" fmla="*/ 45 h 197"/>
                <a:gd name="T90" fmla="*/ 89 w 528"/>
                <a:gd name="T91" fmla="*/ 46 h 197"/>
                <a:gd name="T92" fmla="*/ 91 w 528"/>
                <a:gd name="T93" fmla="*/ 47 h 197"/>
                <a:gd name="T94" fmla="*/ 93 w 528"/>
                <a:gd name="T95" fmla="*/ 48 h 197"/>
                <a:gd name="T96" fmla="*/ 98 w 528"/>
                <a:gd name="T97" fmla="*/ 47 h 197"/>
                <a:gd name="T98" fmla="*/ 108 w 528"/>
                <a:gd name="T99" fmla="*/ 44 h 197"/>
                <a:gd name="T100" fmla="*/ 117 w 528"/>
                <a:gd name="T101" fmla="*/ 41 h 197"/>
                <a:gd name="T102" fmla="*/ 126 w 528"/>
                <a:gd name="T103" fmla="*/ 38 h 197"/>
                <a:gd name="T104" fmla="*/ 131 w 528"/>
                <a:gd name="T105" fmla="*/ 35 h 197"/>
                <a:gd name="T106" fmla="*/ 128 w 528"/>
                <a:gd name="T107" fmla="*/ 31 h 197"/>
                <a:gd name="T108" fmla="*/ 124 w 528"/>
                <a:gd name="T109" fmla="*/ 26 h 197"/>
                <a:gd name="T110" fmla="*/ 120 w 528"/>
                <a:gd name="T111" fmla="*/ 22 h 197"/>
                <a:gd name="T112" fmla="*/ 116 w 528"/>
                <a:gd name="T113" fmla="*/ 18 h 197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528"/>
                <a:gd name="T172" fmla="*/ 0 h 197"/>
                <a:gd name="T173" fmla="*/ 528 w 528"/>
                <a:gd name="T174" fmla="*/ 197 h 197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528" h="197">
                  <a:moveTo>
                    <a:pt x="466" y="74"/>
                  </a:moveTo>
                  <a:lnTo>
                    <a:pt x="447" y="61"/>
                  </a:lnTo>
                  <a:lnTo>
                    <a:pt x="430" y="50"/>
                  </a:lnTo>
                  <a:lnTo>
                    <a:pt x="413" y="41"/>
                  </a:lnTo>
                  <a:lnTo>
                    <a:pt x="395" y="33"/>
                  </a:lnTo>
                  <a:lnTo>
                    <a:pt x="379" y="26"/>
                  </a:lnTo>
                  <a:lnTo>
                    <a:pt x="363" y="20"/>
                  </a:lnTo>
                  <a:lnTo>
                    <a:pt x="347" y="14"/>
                  </a:lnTo>
                  <a:lnTo>
                    <a:pt x="332" y="11"/>
                  </a:lnTo>
                  <a:lnTo>
                    <a:pt x="317" y="7"/>
                  </a:lnTo>
                  <a:lnTo>
                    <a:pt x="303" y="5"/>
                  </a:lnTo>
                  <a:lnTo>
                    <a:pt x="289" y="3"/>
                  </a:lnTo>
                  <a:lnTo>
                    <a:pt x="277" y="2"/>
                  </a:lnTo>
                  <a:lnTo>
                    <a:pt x="265" y="2"/>
                  </a:lnTo>
                  <a:lnTo>
                    <a:pt x="254" y="0"/>
                  </a:lnTo>
                  <a:lnTo>
                    <a:pt x="243" y="0"/>
                  </a:lnTo>
                  <a:lnTo>
                    <a:pt x="233" y="0"/>
                  </a:lnTo>
                  <a:lnTo>
                    <a:pt x="222" y="0"/>
                  </a:lnTo>
                  <a:lnTo>
                    <a:pt x="212" y="2"/>
                  </a:lnTo>
                  <a:lnTo>
                    <a:pt x="201" y="2"/>
                  </a:lnTo>
                  <a:lnTo>
                    <a:pt x="189" y="3"/>
                  </a:lnTo>
                  <a:lnTo>
                    <a:pt x="178" y="4"/>
                  </a:lnTo>
                  <a:lnTo>
                    <a:pt x="166" y="6"/>
                  </a:lnTo>
                  <a:lnTo>
                    <a:pt x="153" y="7"/>
                  </a:lnTo>
                  <a:lnTo>
                    <a:pt x="142" y="10"/>
                  </a:lnTo>
                  <a:lnTo>
                    <a:pt x="120" y="14"/>
                  </a:lnTo>
                  <a:lnTo>
                    <a:pt x="98" y="20"/>
                  </a:lnTo>
                  <a:lnTo>
                    <a:pt x="77" y="27"/>
                  </a:lnTo>
                  <a:lnTo>
                    <a:pt x="58" y="34"/>
                  </a:lnTo>
                  <a:lnTo>
                    <a:pt x="39" y="42"/>
                  </a:lnTo>
                  <a:lnTo>
                    <a:pt x="24" y="51"/>
                  </a:lnTo>
                  <a:lnTo>
                    <a:pt x="10" y="60"/>
                  </a:lnTo>
                  <a:lnTo>
                    <a:pt x="0" y="71"/>
                  </a:lnTo>
                  <a:lnTo>
                    <a:pt x="6" y="75"/>
                  </a:lnTo>
                  <a:lnTo>
                    <a:pt x="13" y="80"/>
                  </a:lnTo>
                  <a:lnTo>
                    <a:pt x="19" y="84"/>
                  </a:lnTo>
                  <a:lnTo>
                    <a:pt x="25" y="88"/>
                  </a:lnTo>
                  <a:lnTo>
                    <a:pt x="31" y="93"/>
                  </a:lnTo>
                  <a:lnTo>
                    <a:pt x="38" y="97"/>
                  </a:lnTo>
                  <a:lnTo>
                    <a:pt x="45" y="102"/>
                  </a:lnTo>
                  <a:lnTo>
                    <a:pt x="52" y="106"/>
                  </a:lnTo>
                  <a:lnTo>
                    <a:pt x="55" y="104"/>
                  </a:lnTo>
                  <a:lnTo>
                    <a:pt x="60" y="103"/>
                  </a:lnTo>
                  <a:lnTo>
                    <a:pt x="63" y="101"/>
                  </a:lnTo>
                  <a:lnTo>
                    <a:pt x="67" y="98"/>
                  </a:lnTo>
                  <a:lnTo>
                    <a:pt x="68" y="99"/>
                  </a:lnTo>
                  <a:lnTo>
                    <a:pt x="69" y="101"/>
                  </a:lnTo>
                  <a:lnTo>
                    <a:pt x="73" y="104"/>
                  </a:lnTo>
                  <a:lnTo>
                    <a:pt x="76" y="109"/>
                  </a:lnTo>
                  <a:lnTo>
                    <a:pt x="85" y="104"/>
                  </a:lnTo>
                  <a:lnTo>
                    <a:pt x="96" y="104"/>
                  </a:lnTo>
                  <a:lnTo>
                    <a:pt x="105" y="106"/>
                  </a:lnTo>
                  <a:lnTo>
                    <a:pt x="114" y="111"/>
                  </a:lnTo>
                  <a:lnTo>
                    <a:pt x="123" y="118"/>
                  </a:lnTo>
                  <a:lnTo>
                    <a:pt x="131" y="126"/>
                  </a:lnTo>
                  <a:lnTo>
                    <a:pt x="139" y="135"/>
                  </a:lnTo>
                  <a:lnTo>
                    <a:pt x="145" y="144"/>
                  </a:lnTo>
                  <a:lnTo>
                    <a:pt x="148" y="144"/>
                  </a:lnTo>
                  <a:lnTo>
                    <a:pt x="149" y="144"/>
                  </a:lnTo>
                  <a:lnTo>
                    <a:pt x="151" y="146"/>
                  </a:lnTo>
                  <a:lnTo>
                    <a:pt x="153" y="146"/>
                  </a:lnTo>
                  <a:lnTo>
                    <a:pt x="154" y="147"/>
                  </a:lnTo>
                  <a:lnTo>
                    <a:pt x="156" y="147"/>
                  </a:lnTo>
                  <a:lnTo>
                    <a:pt x="157" y="147"/>
                  </a:lnTo>
                  <a:lnTo>
                    <a:pt x="158" y="148"/>
                  </a:lnTo>
                  <a:lnTo>
                    <a:pt x="158" y="149"/>
                  </a:lnTo>
                  <a:lnTo>
                    <a:pt x="159" y="149"/>
                  </a:lnTo>
                  <a:lnTo>
                    <a:pt x="163" y="155"/>
                  </a:lnTo>
                  <a:lnTo>
                    <a:pt x="167" y="159"/>
                  </a:lnTo>
                  <a:lnTo>
                    <a:pt x="171" y="165"/>
                  </a:lnTo>
                  <a:lnTo>
                    <a:pt x="174" y="171"/>
                  </a:lnTo>
                  <a:lnTo>
                    <a:pt x="181" y="169"/>
                  </a:lnTo>
                  <a:lnTo>
                    <a:pt x="189" y="167"/>
                  </a:lnTo>
                  <a:lnTo>
                    <a:pt x="196" y="165"/>
                  </a:lnTo>
                  <a:lnTo>
                    <a:pt x="203" y="164"/>
                  </a:lnTo>
                  <a:lnTo>
                    <a:pt x="211" y="163"/>
                  </a:lnTo>
                  <a:lnTo>
                    <a:pt x="218" y="162"/>
                  </a:lnTo>
                  <a:lnTo>
                    <a:pt x="225" y="161"/>
                  </a:lnTo>
                  <a:lnTo>
                    <a:pt x="232" y="159"/>
                  </a:lnTo>
                  <a:lnTo>
                    <a:pt x="245" y="158"/>
                  </a:lnTo>
                  <a:lnTo>
                    <a:pt x="260" y="158"/>
                  </a:lnTo>
                  <a:lnTo>
                    <a:pt x="274" y="159"/>
                  </a:lnTo>
                  <a:lnTo>
                    <a:pt x="288" y="162"/>
                  </a:lnTo>
                  <a:lnTo>
                    <a:pt x="303" y="164"/>
                  </a:lnTo>
                  <a:lnTo>
                    <a:pt x="317" y="169"/>
                  </a:lnTo>
                  <a:lnTo>
                    <a:pt x="331" y="172"/>
                  </a:lnTo>
                  <a:lnTo>
                    <a:pt x="345" y="178"/>
                  </a:lnTo>
                  <a:lnTo>
                    <a:pt x="349" y="180"/>
                  </a:lnTo>
                  <a:lnTo>
                    <a:pt x="354" y="181"/>
                  </a:lnTo>
                  <a:lnTo>
                    <a:pt x="358" y="184"/>
                  </a:lnTo>
                  <a:lnTo>
                    <a:pt x="363" y="186"/>
                  </a:lnTo>
                  <a:lnTo>
                    <a:pt x="366" y="189"/>
                  </a:lnTo>
                  <a:lnTo>
                    <a:pt x="371" y="192"/>
                  </a:lnTo>
                  <a:lnTo>
                    <a:pt x="376" y="194"/>
                  </a:lnTo>
                  <a:lnTo>
                    <a:pt x="379" y="197"/>
                  </a:lnTo>
                  <a:lnTo>
                    <a:pt x="396" y="189"/>
                  </a:lnTo>
                  <a:lnTo>
                    <a:pt x="415" y="182"/>
                  </a:lnTo>
                  <a:lnTo>
                    <a:pt x="433" y="176"/>
                  </a:lnTo>
                  <a:lnTo>
                    <a:pt x="452" y="170"/>
                  </a:lnTo>
                  <a:lnTo>
                    <a:pt x="470" y="164"/>
                  </a:lnTo>
                  <a:lnTo>
                    <a:pt x="490" y="158"/>
                  </a:lnTo>
                  <a:lnTo>
                    <a:pt x="508" y="152"/>
                  </a:lnTo>
                  <a:lnTo>
                    <a:pt x="528" y="146"/>
                  </a:lnTo>
                  <a:lnTo>
                    <a:pt x="528" y="142"/>
                  </a:lnTo>
                  <a:lnTo>
                    <a:pt x="521" y="133"/>
                  </a:lnTo>
                  <a:lnTo>
                    <a:pt x="514" y="124"/>
                  </a:lnTo>
                  <a:lnTo>
                    <a:pt x="507" y="114"/>
                  </a:lnTo>
                  <a:lnTo>
                    <a:pt x="499" y="105"/>
                  </a:lnTo>
                  <a:lnTo>
                    <a:pt x="492" y="97"/>
                  </a:lnTo>
                  <a:lnTo>
                    <a:pt x="483" y="89"/>
                  </a:lnTo>
                  <a:lnTo>
                    <a:pt x="475" y="81"/>
                  </a:lnTo>
                  <a:lnTo>
                    <a:pt x="466" y="74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5" name="Freeform 12"/>
            <p:cNvSpPr>
              <a:spLocks/>
            </p:cNvSpPr>
            <p:nvPr/>
          </p:nvSpPr>
          <p:spPr bwMode="auto">
            <a:xfrm>
              <a:off x="3718" y="3172"/>
              <a:ext cx="467" cy="664"/>
            </a:xfrm>
            <a:custGeom>
              <a:avLst/>
              <a:gdLst>
                <a:gd name="T0" fmla="*/ 221 w 936"/>
                <a:gd name="T1" fmla="*/ 9 h 1329"/>
                <a:gd name="T2" fmla="*/ 220 w 936"/>
                <a:gd name="T3" fmla="*/ 7 h 1329"/>
                <a:gd name="T4" fmla="*/ 218 w 936"/>
                <a:gd name="T5" fmla="*/ 6 h 1329"/>
                <a:gd name="T6" fmla="*/ 217 w 936"/>
                <a:gd name="T7" fmla="*/ 5 h 1329"/>
                <a:gd name="T8" fmla="*/ 215 w 936"/>
                <a:gd name="T9" fmla="*/ 3 h 1329"/>
                <a:gd name="T10" fmla="*/ 213 w 936"/>
                <a:gd name="T11" fmla="*/ 2 h 1329"/>
                <a:gd name="T12" fmla="*/ 211 w 936"/>
                <a:gd name="T13" fmla="*/ 1 h 1329"/>
                <a:gd name="T14" fmla="*/ 209 w 936"/>
                <a:gd name="T15" fmla="*/ 0 h 1329"/>
                <a:gd name="T16" fmla="*/ 207 w 936"/>
                <a:gd name="T17" fmla="*/ 0 h 1329"/>
                <a:gd name="T18" fmla="*/ 199 w 936"/>
                <a:gd name="T19" fmla="*/ 1 h 1329"/>
                <a:gd name="T20" fmla="*/ 8 w 936"/>
                <a:gd name="T21" fmla="*/ 28 h 1329"/>
                <a:gd name="T22" fmla="*/ 7 w 936"/>
                <a:gd name="T23" fmla="*/ 29 h 1329"/>
                <a:gd name="T24" fmla="*/ 5 w 936"/>
                <a:gd name="T25" fmla="*/ 30 h 1329"/>
                <a:gd name="T26" fmla="*/ 4 w 936"/>
                <a:gd name="T27" fmla="*/ 32 h 1329"/>
                <a:gd name="T28" fmla="*/ 3 w 936"/>
                <a:gd name="T29" fmla="*/ 33 h 1329"/>
                <a:gd name="T30" fmla="*/ 2 w 936"/>
                <a:gd name="T31" fmla="*/ 34 h 1329"/>
                <a:gd name="T32" fmla="*/ 1 w 936"/>
                <a:gd name="T33" fmla="*/ 36 h 1329"/>
                <a:gd name="T34" fmla="*/ 0 w 936"/>
                <a:gd name="T35" fmla="*/ 37 h 1329"/>
                <a:gd name="T36" fmla="*/ 0 w 936"/>
                <a:gd name="T37" fmla="*/ 39 h 1329"/>
                <a:gd name="T38" fmla="*/ 40 w 936"/>
                <a:gd name="T39" fmla="*/ 322 h 1329"/>
                <a:gd name="T40" fmla="*/ 41 w 936"/>
                <a:gd name="T41" fmla="*/ 324 h 1329"/>
                <a:gd name="T42" fmla="*/ 43 w 936"/>
                <a:gd name="T43" fmla="*/ 326 h 1329"/>
                <a:gd name="T44" fmla="*/ 45 w 936"/>
                <a:gd name="T45" fmla="*/ 327 h 1329"/>
                <a:gd name="T46" fmla="*/ 46 w 936"/>
                <a:gd name="T47" fmla="*/ 328 h 1329"/>
                <a:gd name="T48" fmla="*/ 48 w 936"/>
                <a:gd name="T49" fmla="*/ 330 h 1329"/>
                <a:gd name="T50" fmla="*/ 50 w 936"/>
                <a:gd name="T51" fmla="*/ 330 h 1329"/>
                <a:gd name="T52" fmla="*/ 52 w 936"/>
                <a:gd name="T53" fmla="*/ 331 h 1329"/>
                <a:gd name="T54" fmla="*/ 54 w 936"/>
                <a:gd name="T55" fmla="*/ 332 h 1329"/>
                <a:gd name="T56" fmla="*/ 139 w 936"/>
                <a:gd name="T57" fmla="*/ 320 h 1329"/>
                <a:gd name="T58" fmla="*/ 175 w 936"/>
                <a:gd name="T59" fmla="*/ 95 h 1329"/>
                <a:gd name="T60" fmla="*/ 177 w 936"/>
                <a:gd name="T61" fmla="*/ 94 h 1329"/>
                <a:gd name="T62" fmla="*/ 178 w 936"/>
                <a:gd name="T63" fmla="*/ 92 h 1329"/>
                <a:gd name="T64" fmla="*/ 179 w 936"/>
                <a:gd name="T65" fmla="*/ 91 h 1329"/>
                <a:gd name="T66" fmla="*/ 181 w 936"/>
                <a:gd name="T67" fmla="*/ 90 h 1329"/>
                <a:gd name="T68" fmla="*/ 182 w 936"/>
                <a:gd name="T69" fmla="*/ 89 h 1329"/>
                <a:gd name="T70" fmla="*/ 183 w 936"/>
                <a:gd name="T71" fmla="*/ 88 h 1329"/>
                <a:gd name="T72" fmla="*/ 185 w 936"/>
                <a:gd name="T73" fmla="*/ 88 h 1329"/>
                <a:gd name="T74" fmla="*/ 187 w 936"/>
                <a:gd name="T75" fmla="*/ 87 h 1329"/>
                <a:gd name="T76" fmla="*/ 207 w 936"/>
                <a:gd name="T77" fmla="*/ 91 h 1329"/>
                <a:gd name="T78" fmla="*/ 233 w 936"/>
                <a:gd name="T79" fmla="*/ 95 h 1329"/>
                <a:gd name="T80" fmla="*/ 221 w 936"/>
                <a:gd name="T81" fmla="*/ 9 h 132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936"/>
                <a:gd name="T124" fmla="*/ 0 h 1329"/>
                <a:gd name="T125" fmla="*/ 936 w 936"/>
                <a:gd name="T126" fmla="*/ 1329 h 1329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936" h="1329">
                  <a:moveTo>
                    <a:pt x="886" y="38"/>
                  </a:moveTo>
                  <a:lnTo>
                    <a:pt x="881" y="31"/>
                  </a:lnTo>
                  <a:lnTo>
                    <a:pt x="876" y="26"/>
                  </a:lnTo>
                  <a:lnTo>
                    <a:pt x="869" y="20"/>
                  </a:lnTo>
                  <a:lnTo>
                    <a:pt x="862" y="14"/>
                  </a:lnTo>
                  <a:lnTo>
                    <a:pt x="855" y="9"/>
                  </a:lnTo>
                  <a:lnTo>
                    <a:pt x="847" y="6"/>
                  </a:lnTo>
                  <a:lnTo>
                    <a:pt x="839" y="3"/>
                  </a:lnTo>
                  <a:lnTo>
                    <a:pt x="831" y="0"/>
                  </a:lnTo>
                  <a:lnTo>
                    <a:pt x="800" y="5"/>
                  </a:lnTo>
                  <a:lnTo>
                    <a:pt x="35" y="114"/>
                  </a:lnTo>
                  <a:lnTo>
                    <a:pt x="29" y="119"/>
                  </a:lnTo>
                  <a:lnTo>
                    <a:pt x="23" y="122"/>
                  </a:lnTo>
                  <a:lnTo>
                    <a:pt x="19" y="128"/>
                  </a:lnTo>
                  <a:lnTo>
                    <a:pt x="14" y="133"/>
                  </a:lnTo>
                  <a:lnTo>
                    <a:pt x="9" y="139"/>
                  </a:lnTo>
                  <a:lnTo>
                    <a:pt x="6" y="144"/>
                  </a:lnTo>
                  <a:lnTo>
                    <a:pt x="2" y="150"/>
                  </a:lnTo>
                  <a:lnTo>
                    <a:pt x="0" y="157"/>
                  </a:lnTo>
                  <a:lnTo>
                    <a:pt x="163" y="1291"/>
                  </a:lnTo>
                  <a:lnTo>
                    <a:pt x="167" y="1298"/>
                  </a:lnTo>
                  <a:lnTo>
                    <a:pt x="173" y="1304"/>
                  </a:lnTo>
                  <a:lnTo>
                    <a:pt x="180" y="1309"/>
                  </a:lnTo>
                  <a:lnTo>
                    <a:pt x="187" y="1315"/>
                  </a:lnTo>
                  <a:lnTo>
                    <a:pt x="194" y="1320"/>
                  </a:lnTo>
                  <a:lnTo>
                    <a:pt x="202" y="1323"/>
                  </a:lnTo>
                  <a:lnTo>
                    <a:pt x="210" y="1327"/>
                  </a:lnTo>
                  <a:lnTo>
                    <a:pt x="218" y="1329"/>
                  </a:lnTo>
                  <a:lnTo>
                    <a:pt x="557" y="1281"/>
                  </a:lnTo>
                  <a:lnTo>
                    <a:pt x="704" y="382"/>
                  </a:lnTo>
                  <a:lnTo>
                    <a:pt x="709" y="376"/>
                  </a:lnTo>
                  <a:lnTo>
                    <a:pt x="713" y="371"/>
                  </a:lnTo>
                  <a:lnTo>
                    <a:pt x="719" y="367"/>
                  </a:lnTo>
                  <a:lnTo>
                    <a:pt x="725" y="362"/>
                  </a:lnTo>
                  <a:lnTo>
                    <a:pt x="731" y="359"/>
                  </a:lnTo>
                  <a:lnTo>
                    <a:pt x="736" y="355"/>
                  </a:lnTo>
                  <a:lnTo>
                    <a:pt x="742" y="353"/>
                  </a:lnTo>
                  <a:lnTo>
                    <a:pt x="749" y="351"/>
                  </a:lnTo>
                  <a:lnTo>
                    <a:pt x="830" y="364"/>
                  </a:lnTo>
                  <a:lnTo>
                    <a:pt x="936" y="382"/>
                  </a:lnTo>
                  <a:lnTo>
                    <a:pt x="886" y="38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6" name="Freeform 13"/>
            <p:cNvSpPr>
              <a:spLocks/>
            </p:cNvSpPr>
            <p:nvPr/>
          </p:nvSpPr>
          <p:spPr bwMode="auto">
            <a:xfrm>
              <a:off x="4256" y="3006"/>
              <a:ext cx="498" cy="671"/>
            </a:xfrm>
            <a:custGeom>
              <a:avLst/>
              <a:gdLst>
                <a:gd name="T0" fmla="*/ 239 w 996"/>
                <a:gd name="T1" fmla="*/ 33 h 1342"/>
                <a:gd name="T2" fmla="*/ 155 w 996"/>
                <a:gd name="T3" fmla="*/ 19 h 1342"/>
                <a:gd name="T4" fmla="*/ 40 w 996"/>
                <a:gd name="T5" fmla="*/ 0 h 1342"/>
                <a:gd name="T6" fmla="*/ 39 w 996"/>
                <a:gd name="T7" fmla="*/ 1 h 1342"/>
                <a:gd name="T8" fmla="*/ 37 w 996"/>
                <a:gd name="T9" fmla="*/ 1 h 1342"/>
                <a:gd name="T10" fmla="*/ 36 w 996"/>
                <a:gd name="T11" fmla="*/ 3 h 1342"/>
                <a:gd name="T12" fmla="*/ 34 w 996"/>
                <a:gd name="T13" fmla="*/ 3 h 1342"/>
                <a:gd name="T14" fmla="*/ 33 w 996"/>
                <a:gd name="T15" fmla="*/ 5 h 1342"/>
                <a:gd name="T16" fmla="*/ 31 w 996"/>
                <a:gd name="T17" fmla="*/ 5 h 1342"/>
                <a:gd name="T18" fmla="*/ 30 w 996"/>
                <a:gd name="T19" fmla="*/ 6 h 1342"/>
                <a:gd name="T20" fmla="*/ 29 w 996"/>
                <a:gd name="T21" fmla="*/ 8 h 1342"/>
                <a:gd name="T22" fmla="*/ 0 w 996"/>
                <a:gd name="T23" fmla="*/ 184 h 1342"/>
                <a:gd name="T24" fmla="*/ 57 w 996"/>
                <a:gd name="T25" fmla="*/ 192 h 1342"/>
                <a:gd name="T26" fmla="*/ 55 w 996"/>
                <a:gd name="T27" fmla="*/ 188 h 1342"/>
                <a:gd name="T28" fmla="*/ 76 w 996"/>
                <a:gd name="T29" fmla="*/ 165 h 1342"/>
                <a:gd name="T30" fmla="*/ 89 w 996"/>
                <a:gd name="T31" fmla="*/ 193 h 1342"/>
                <a:gd name="T32" fmla="*/ 85 w 996"/>
                <a:gd name="T33" fmla="*/ 197 h 1342"/>
                <a:gd name="T34" fmla="*/ 104 w 996"/>
                <a:gd name="T35" fmla="*/ 200 h 1342"/>
                <a:gd name="T36" fmla="*/ 117 w 996"/>
                <a:gd name="T37" fmla="*/ 203 h 1342"/>
                <a:gd name="T38" fmla="*/ 119 w 996"/>
                <a:gd name="T39" fmla="*/ 204 h 1342"/>
                <a:gd name="T40" fmla="*/ 121 w 996"/>
                <a:gd name="T41" fmla="*/ 205 h 1342"/>
                <a:gd name="T42" fmla="*/ 122 w 996"/>
                <a:gd name="T43" fmla="*/ 207 h 1342"/>
                <a:gd name="T44" fmla="*/ 123 w 996"/>
                <a:gd name="T45" fmla="*/ 208 h 1342"/>
                <a:gd name="T46" fmla="*/ 125 w 996"/>
                <a:gd name="T47" fmla="*/ 210 h 1342"/>
                <a:gd name="T48" fmla="*/ 125 w 996"/>
                <a:gd name="T49" fmla="*/ 212 h 1342"/>
                <a:gd name="T50" fmla="*/ 126 w 996"/>
                <a:gd name="T51" fmla="*/ 214 h 1342"/>
                <a:gd name="T52" fmla="*/ 126 w 996"/>
                <a:gd name="T53" fmla="*/ 216 h 1342"/>
                <a:gd name="T54" fmla="*/ 110 w 996"/>
                <a:gd name="T55" fmla="*/ 323 h 1342"/>
                <a:gd name="T56" fmla="*/ 190 w 996"/>
                <a:gd name="T57" fmla="*/ 336 h 1342"/>
                <a:gd name="T58" fmla="*/ 192 w 996"/>
                <a:gd name="T59" fmla="*/ 335 h 1342"/>
                <a:gd name="T60" fmla="*/ 194 w 996"/>
                <a:gd name="T61" fmla="*/ 335 h 1342"/>
                <a:gd name="T62" fmla="*/ 196 w 996"/>
                <a:gd name="T63" fmla="*/ 334 h 1342"/>
                <a:gd name="T64" fmla="*/ 198 w 996"/>
                <a:gd name="T65" fmla="*/ 333 h 1342"/>
                <a:gd name="T66" fmla="*/ 199 w 996"/>
                <a:gd name="T67" fmla="*/ 332 h 1342"/>
                <a:gd name="T68" fmla="*/ 201 w 996"/>
                <a:gd name="T69" fmla="*/ 330 h 1342"/>
                <a:gd name="T70" fmla="*/ 202 w 996"/>
                <a:gd name="T71" fmla="*/ 329 h 1342"/>
                <a:gd name="T72" fmla="*/ 204 w 996"/>
                <a:gd name="T73" fmla="*/ 327 h 1342"/>
                <a:gd name="T74" fmla="*/ 249 w 996"/>
                <a:gd name="T75" fmla="*/ 45 h 1342"/>
                <a:gd name="T76" fmla="*/ 249 w 996"/>
                <a:gd name="T77" fmla="*/ 43 h 1342"/>
                <a:gd name="T78" fmla="*/ 248 w 996"/>
                <a:gd name="T79" fmla="*/ 42 h 1342"/>
                <a:gd name="T80" fmla="*/ 247 w 996"/>
                <a:gd name="T81" fmla="*/ 40 h 1342"/>
                <a:gd name="T82" fmla="*/ 246 w 996"/>
                <a:gd name="T83" fmla="*/ 39 h 1342"/>
                <a:gd name="T84" fmla="*/ 244 w 996"/>
                <a:gd name="T85" fmla="*/ 37 h 1342"/>
                <a:gd name="T86" fmla="*/ 243 w 996"/>
                <a:gd name="T87" fmla="*/ 35 h 1342"/>
                <a:gd name="T88" fmla="*/ 241 w 996"/>
                <a:gd name="T89" fmla="*/ 34 h 1342"/>
                <a:gd name="T90" fmla="*/ 239 w 996"/>
                <a:gd name="T91" fmla="*/ 33 h 134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996"/>
                <a:gd name="T139" fmla="*/ 0 h 1342"/>
                <a:gd name="T140" fmla="*/ 996 w 996"/>
                <a:gd name="T141" fmla="*/ 1342 h 134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996" h="1342">
                  <a:moveTo>
                    <a:pt x="954" y="130"/>
                  </a:moveTo>
                  <a:lnTo>
                    <a:pt x="618" y="74"/>
                  </a:lnTo>
                  <a:lnTo>
                    <a:pt x="160" y="0"/>
                  </a:lnTo>
                  <a:lnTo>
                    <a:pt x="153" y="3"/>
                  </a:lnTo>
                  <a:lnTo>
                    <a:pt x="147" y="5"/>
                  </a:lnTo>
                  <a:lnTo>
                    <a:pt x="141" y="9"/>
                  </a:lnTo>
                  <a:lnTo>
                    <a:pt x="135" y="12"/>
                  </a:lnTo>
                  <a:lnTo>
                    <a:pt x="129" y="17"/>
                  </a:lnTo>
                  <a:lnTo>
                    <a:pt x="124" y="21"/>
                  </a:lnTo>
                  <a:lnTo>
                    <a:pt x="119" y="26"/>
                  </a:lnTo>
                  <a:lnTo>
                    <a:pt x="114" y="32"/>
                  </a:lnTo>
                  <a:lnTo>
                    <a:pt x="0" y="736"/>
                  </a:lnTo>
                  <a:lnTo>
                    <a:pt x="225" y="771"/>
                  </a:lnTo>
                  <a:lnTo>
                    <a:pt x="218" y="755"/>
                  </a:lnTo>
                  <a:lnTo>
                    <a:pt x="301" y="657"/>
                  </a:lnTo>
                  <a:lnTo>
                    <a:pt x="353" y="775"/>
                  </a:lnTo>
                  <a:lnTo>
                    <a:pt x="339" y="791"/>
                  </a:lnTo>
                  <a:lnTo>
                    <a:pt x="413" y="803"/>
                  </a:lnTo>
                  <a:lnTo>
                    <a:pt x="467" y="812"/>
                  </a:lnTo>
                  <a:lnTo>
                    <a:pt x="474" y="816"/>
                  </a:lnTo>
                  <a:lnTo>
                    <a:pt x="481" y="822"/>
                  </a:lnTo>
                  <a:lnTo>
                    <a:pt x="486" y="828"/>
                  </a:lnTo>
                  <a:lnTo>
                    <a:pt x="492" y="835"/>
                  </a:lnTo>
                  <a:lnTo>
                    <a:pt x="497" y="842"/>
                  </a:lnTo>
                  <a:lnTo>
                    <a:pt x="501" y="849"/>
                  </a:lnTo>
                  <a:lnTo>
                    <a:pt x="505" y="857"/>
                  </a:lnTo>
                  <a:lnTo>
                    <a:pt x="507" y="865"/>
                  </a:lnTo>
                  <a:lnTo>
                    <a:pt x="438" y="1290"/>
                  </a:lnTo>
                  <a:lnTo>
                    <a:pt x="757" y="1342"/>
                  </a:lnTo>
                  <a:lnTo>
                    <a:pt x="765" y="1340"/>
                  </a:lnTo>
                  <a:lnTo>
                    <a:pt x="773" y="1337"/>
                  </a:lnTo>
                  <a:lnTo>
                    <a:pt x="781" y="1334"/>
                  </a:lnTo>
                  <a:lnTo>
                    <a:pt x="789" y="1330"/>
                  </a:lnTo>
                  <a:lnTo>
                    <a:pt x="795" y="1326"/>
                  </a:lnTo>
                  <a:lnTo>
                    <a:pt x="802" y="1320"/>
                  </a:lnTo>
                  <a:lnTo>
                    <a:pt x="808" y="1314"/>
                  </a:lnTo>
                  <a:lnTo>
                    <a:pt x="814" y="1308"/>
                  </a:lnTo>
                  <a:lnTo>
                    <a:pt x="996" y="183"/>
                  </a:lnTo>
                  <a:lnTo>
                    <a:pt x="993" y="175"/>
                  </a:lnTo>
                  <a:lnTo>
                    <a:pt x="990" y="166"/>
                  </a:lnTo>
                  <a:lnTo>
                    <a:pt x="985" y="160"/>
                  </a:lnTo>
                  <a:lnTo>
                    <a:pt x="981" y="153"/>
                  </a:lnTo>
                  <a:lnTo>
                    <a:pt x="975" y="146"/>
                  </a:lnTo>
                  <a:lnTo>
                    <a:pt x="969" y="140"/>
                  </a:lnTo>
                  <a:lnTo>
                    <a:pt x="962" y="134"/>
                  </a:lnTo>
                  <a:lnTo>
                    <a:pt x="954" y="130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7" name="Freeform 14"/>
            <p:cNvSpPr>
              <a:spLocks/>
            </p:cNvSpPr>
            <p:nvPr/>
          </p:nvSpPr>
          <p:spPr bwMode="auto">
            <a:xfrm>
              <a:off x="3765" y="3279"/>
              <a:ext cx="50" cy="71"/>
            </a:xfrm>
            <a:custGeom>
              <a:avLst/>
              <a:gdLst>
                <a:gd name="T0" fmla="*/ 6 w 100"/>
                <a:gd name="T1" fmla="*/ 27 h 141"/>
                <a:gd name="T2" fmla="*/ 18 w 100"/>
                <a:gd name="T3" fmla="*/ 26 h 141"/>
                <a:gd name="T4" fmla="*/ 21 w 100"/>
                <a:gd name="T5" fmla="*/ 33 h 141"/>
                <a:gd name="T6" fmla="*/ 25 w 100"/>
                <a:gd name="T7" fmla="*/ 32 h 141"/>
                <a:gd name="T8" fmla="*/ 10 w 100"/>
                <a:gd name="T9" fmla="*/ 0 h 141"/>
                <a:gd name="T10" fmla="*/ 6 w 100"/>
                <a:gd name="T11" fmla="*/ 1 h 141"/>
                <a:gd name="T12" fmla="*/ 0 w 100"/>
                <a:gd name="T13" fmla="*/ 36 h 141"/>
                <a:gd name="T14" fmla="*/ 5 w 100"/>
                <a:gd name="T15" fmla="*/ 35 h 141"/>
                <a:gd name="T16" fmla="*/ 6 w 100"/>
                <a:gd name="T17" fmla="*/ 27 h 14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0"/>
                <a:gd name="T28" fmla="*/ 0 h 141"/>
                <a:gd name="T29" fmla="*/ 100 w 100"/>
                <a:gd name="T30" fmla="*/ 141 h 14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0" h="141">
                  <a:moveTo>
                    <a:pt x="22" y="108"/>
                  </a:moveTo>
                  <a:lnTo>
                    <a:pt x="69" y="101"/>
                  </a:lnTo>
                  <a:lnTo>
                    <a:pt x="81" y="130"/>
                  </a:lnTo>
                  <a:lnTo>
                    <a:pt x="100" y="126"/>
                  </a:lnTo>
                  <a:lnTo>
                    <a:pt x="40" y="0"/>
                  </a:lnTo>
                  <a:lnTo>
                    <a:pt x="22" y="2"/>
                  </a:lnTo>
                  <a:lnTo>
                    <a:pt x="0" y="141"/>
                  </a:lnTo>
                  <a:lnTo>
                    <a:pt x="17" y="139"/>
                  </a:lnTo>
                  <a:lnTo>
                    <a:pt x="22" y="10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8" name="Freeform 15"/>
            <p:cNvSpPr>
              <a:spLocks/>
            </p:cNvSpPr>
            <p:nvPr/>
          </p:nvSpPr>
          <p:spPr bwMode="auto">
            <a:xfrm>
              <a:off x="3917" y="3421"/>
              <a:ext cx="115" cy="137"/>
            </a:xfrm>
            <a:custGeom>
              <a:avLst/>
              <a:gdLst>
                <a:gd name="T0" fmla="*/ 41 w 229"/>
                <a:gd name="T1" fmla="*/ 19 h 276"/>
                <a:gd name="T2" fmla="*/ 38 w 229"/>
                <a:gd name="T3" fmla="*/ 20 h 276"/>
                <a:gd name="T4" fmla="*/ 37 w 229"/>
                <a:gd name="T5" fmla="*/ 20 h 276"/>
                <a:gd name="T6" fmla="*/ 37 w 229"/>
                <a:gd name="T7" fmla="*/ 20 h 276"/>
                <a:gd name="T8" fmla="*/ 38 w 229"/>
                <a:gd name="T9" fmla="*/ 18 h 276"/>
                <a:gd name="T10" fmla="*/ 39 w 229"/>
                <a:gd name="T11" fmla="*/ 13 h 276"/>
                <a:gd name="T12" fmla="*/ 38 w 229"/>
                <a:gd name="T13" fmla="*/ 8 h 276"/>
                <a:gd name="T14" fmla="*/ 35 w 229"/>
                <a:gd name="T15" fmla="*/ 4 h 276"/>
                <a:gd name="T16" fmla="*/ 31 w 229"/>
                <a:gd name="T17" fmla="*/ 1 h 276"/>
                <a:gd name="T18" fmla="*/ 27 w 229"/>
                <a:gd name="T19" fmla="*/ 0 h 276"/>
                <a:gd name="T20" fmla="*/ 21 w 229"/>
                <a:gd name="T21" fmla="*/ 0 h 276"/>
                <a:gd name="T22" fmla="*/ 17 w 229"/>
                <a:gd name="T23" fmla="*/ 3 h 276"/>
                <a:gd name="T24" fmla="*/ 14 w 229"/>
                <a:gd name="T25" fmla="*/ 7 h 276"/>
                <a:gd name="T26" fmla="*/ 13 w 229"/>
                <a:gd name="T27" fmla="*/ 12 h 276"/>
                <a:gd name="T28" fmla="*/ 13 w 229"/>
                <a:gd name="T29" fmla="*/ 17 h 276"/>
                <a:gd name="T30" fmla="*/ 16 w 229"/>
                <a:gd name="T31" fmla="*/ 21 h 276"/>
                <a:gd name="T32" fmla="*/ 18 w 229"/>
                <a:gd name="T33" fmla="*/ 23 h 276"/>
                <a:gd name="T34" fmla="*/ 18 w 229"/>
                <a:gd name="T35" fmla="*/ 24 h 276"/>
                <a:gd name="T36" fmla="*/ 16 w 229"/>
                <a:gd name="T37" fmla="*/ 24 h 276"/>
                <a:gd name="T38" fmla="*/ 13 w 229"/>
                <a:gd name="T39" fmla="*/ 23 h 276"/>
                <a:gd name="T40" fmla="*/ 9 w 229"/>
                <a:gd name="T41" fmla="*/ 24 h 276"/>
                <a:gd name="T42" fmla="*/ 5 w 229"/>
                <a:gd name="T43" fmla="*/ 27 h 276"/>
                <a:gd name="T44" fmla="*/ 2 w 229"/>
                <a:gd name="T45" fmla="*/ 31 h 276"/>
                <a:gd name="T46" fmla="*/ 0 w 229"/>
                <a:gd name="T47" fmla="*/ 35 h 276"/>
                <a:gd name="T48" fmla="*/ 1 w 229"/>
                <a:gd name="T49" fmla="*/ 41 h 276"/>
                <a:gd name="T50" fmla="*/ 4 w 229"/>
                <a:gd name="T51" fmla="*/ 45 h 276"/>
                <a:gd name="T52" fmla="*/ 8 w 229"/>
                <a:gd name="T53" fmla="*/ 48 h 276"/>
                <a:gd name="T54" fmla="*/ 12 w 229"/>
                <a:gd name="T55" fmla="*/ 49 h 276"/>
                <a:gd name="T56" fmla="*/ 17 w 229"/>
                <a:gd name="T57" fmla="*/ 48 h 276"/>
                <a:gd name="T58" fmla="*/ 21 w 229"/>
                <a:gd name="T59" fmla="*/ 47 h 276"/>
                <a:gd name="T60" fmla="*/ 24 w 229"/>
                <a:gd name="T61" fmla="*/ 44 h 276"/>
                <a:gd name="T62" fmla="*/ 26 w 229"/>
                <a:gd name="T63" fmla="*/ 41 h 276"/>
                <a:gd name="T64" fmla="*/ 27 w 229"/>
                <a:gd name="T65" fmla="*/ 39 h 276"/>
                <a:gd name="T66" fmla="*/ 27 w 229"/>
                <a:gd name="T67" fmla="*/ 39 h 276"/>
                <a:gd name="T68" fmla="*/ 27 w 229"/>
                <a:gd name="T69" fmla="*/ 42 h 276"/>
                <a:gd name="T70" fmla="*/ 28 w 229"/>
                <a:gd name="T71" fmla="*/ 50 h 276"/>
                <a:gd name="T72" fmla="*/ 27 w 229"/>
                <a:gd name="T73" fmla="*/ 57 h 276"/>
                <a:gd name="T74" fmla="*/ 25 w 229"/>
                <a:gd name="T75" fmla="*/ 65 h 276"/>
                <a:gd name="T76" fmla="*/ 26 w 229"/>
                <a:gd name="T77" fmla="*/ 68 h 276"/>
                <a:gd name="T78" fmla="*/ 31 w 229"/>
                <a:gd name="T79" fmla="*/ 67 h 276"/>
                <a:gd name="T80" fmla="*/ 36 w 229"/>
                <a:gd name="T81" fmla="*/ 67 h 276"/>
                <a:gd name="T82" fmla="*/ 42 w 229"/>
                <a:gd name="T83" fmla="*/ 66 h 276"/>
                <a:gd name="T84" fmla="*/ 42 w 229"/>
                <a:gd name="T85" fmla="*/ 63 h 276"/>
                <a:gd name="T86" fmla="*/ 39 w 229"/>
                <a:gd name="T87" fmla="*/ 58 h 276"/>
                <a:gd name="T88" fmla="*/ 36 w 229"/>
                <a:gd name="T89" fmla="*/ 54 h 276"/>
                <a:gd name="T90" fmla="*/ 35 w 229"/>
                <a:gd name="T91" fmla="*/ 48 h 276"/>
                <a:gd name="T92" fmla="*/ 33 w 229"/>
                <a:gd name="T93" fmla="*/ 43 h 276"/>
                <a:gd name="T94" fmla="*/ 33 w 229"/>
                <a:gd name="T95" fmla="*/ 39 h 276"/>
                <a:gd name="T96" fmla="*/ 33 w 229"/>
                <a:gd name="T97" fmla="*/ 38 h 276"/>
                <a:gd name="T98" fmla="*/ 33 w 229"/>
                <a:gd name="T99" fmla="*/ 37 h 276"/>
                <a:gd name="T100" fmla="*/ 34 w 229"/>
                <a:gd name="T101" fmla="*/ 39 h 276"/>
                <a:gd name="T102" fmla="*/ 37 w 229"/>
                <a:gd name="T103" fmla="*/ 42 h 276"/>
                <a:gd name="T104" fmla="*/ 40 w 229"/>
                <a:gd name="T105" fmla="*/ 43 h 276"/>
                <a:gd name="T106" fmla="*/ 44 w 229"/>
                <a:gd name="T107" fmla="*/ 44 h 276"/>
                <a:gd name="T108" fmla="*/ 49 w 229"/>
                <a:gd name="T109" fmla="*/ 43 h 276"/>
                <a:gd name="T110" fmla="*/ 53 w 229"/>
                <a:gd name="T111" fmla="*/ 41 h 276"/>
                <a:gd name="T112" fmla="*/ 57 w 229"/>
                <a:gd name="T113" fmla="*/ 37 h 276"/>
                <a:gd name="T114" fmla="*/ 58 w 229"/>
                <a:gd name="T115" fmla="*/ 32 h 276"/>
                <a:gd name="T116" fmla="*/ 57 w 229"/>
                <a:gd name="T117" fmla="*/ 27 h 276"/>
                <a:gd name="T118" fmla="*/ 54 w 229"/>
                <a:gd name="T119" fmla="*/ 22 h 276"/>
                <a:gd name="T120" fmla="*/ 50 w 229"/>
                <a:gd name="T121" fmla="*/ 19 h 276"/>
                <a:gd name="T122" fmla="*/ 45 w 229"/>
                <a:gd name="T123" fmla="*/ 18 h 27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229"/>
                <a:gd name="T187" fmla="*/ 0 h 276"/>
                <a:gd name="T188" fmla="*/ 229 w 229"/>
                <a:gd name="T189" fmla="*/ 276 h 27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229" h="276">
                  <a:moveTo>
                    <a:pt x="169" y="74"/>
                  </a:moveTo>
                  <a:lnTo>
                    <a:pt x="163" y="76"/>
                  </a:lnTo>
                  <a:lnTo>
                    <a:pt x="158" y="77"/>
                  </a:lnTo>
                  <a:lnTo>
                    <a:pt x="152" y="80"/>
                  </a:lnTo>
                  <a:lnTo>
                    <a:pt x="147" y="83"/>
                  </a:lnTo>
                  <a:lnTo>
                    <a:pt x="146" y="83"/>
                  </a:lnTo>
                  <a:lnTo>
                    <a:pt x="146" y="82"/>
                  </a:lnTo>
                  <a:lnTo>
                    <a:pt x="145" y="82"/>
                  </a:lnTo>
                  <a:lnTo>
                    <a:pt x="150" y="74"/>
                  </a:lnTo>
                  <a:lnTo>
                    <a:pt x="153" y="65"/>
                  </a:lnTo>
                  <a:lnTo>
                    <a:pt x="154" y="54"/>
                  </a:lnTo>
                  <a:lnTo>
                    <a:pt x="153" y="45"/>
                  </a:lnTo>
                  <a:lnTo>
                    <a:pt x="151" y="35"/>
                  </a:lnTo>
                  <a:lnTo>
                    <a:pt x="146" y="25"/>
                  </a:lnTo>
                  <a:lnTo>
                    <a:pt x="140" y="17"/>
                  </a:lnTo>
                  <a:lnTo>
                    <a:pt x="134" y="10"/>
                  </a:lnTo>
                  <a:lnTo>
                    <a:pt x="124" y="5"/>
                  </a:lnTo>
                  <a:lnTo>
                    <a:pt x="115" y="1"/>
                  </a:lnTo>
                  <a:lnTo>
                    <a:pt x="105" y="0"/>
                  </a:lnTo>
                  <a:lnTo>
                    <a:pt x="94" y="0"/>
                  </a:lnTo>
                  <a:lnTo>
                    <a:pt x="84" y="2"/>
                  </a:lnTo>
                  <a:lnTo>
                    <a:pt x="75" y="7"/>
                  </a:lnTo>
                  <a:lnTo>
                    <a:pt x="67" y="14"/>
                  </a:lnTo>
                  <a:lnTo>
                    <a:pt x="60" y="21"/>
                  </a:lnTo>
                  <a:lnTo>
                    <a:pt x="54" y="30"/>
                  </a:lnTo>
                  <a:lnTo>
                    <a:pt x="51" y="39"/>
                  </a:lnTo>
                  <a:lnTo>
                    <a:pt x="49" y="50"/>
                  </a:lnTo>
                  <a:lnTo>
                    <a:pt x="49" y="60"/>
                  </a:lnTo>
                  <a:lnTo>
                    <a:pt x="52" y="70"/>
                  </a:lnTo>
                  <a:lnTo>
                    <a:pt x="56" y="78"/>
                  </a:lnTo>
                  <a:lnTo>
                    <a:pt x="63" y="87"/>
                  </a:lnTo>
                  <a:lnTo>
                    <a:pt x="70" y="93"/>
                  </a:lnTo>
                  <a:lnTo>
                    <a:pt x="69" y="95"/>
                  </a:lnTo>
                  <a:lnTo>
                    <a:pt x="69" y="96"/>
                  </a:lnTo>
                  <a:lnTo>
                    <a:pt x="68" y="97"/>
                  </a:lnTo>
                  <a:lnTo>
                    <a:pt x="62" y="96"/>
                  </a:lnTo>
                  <a:lnTo>
                    <a:pt x="56" y="95"/>
                  </a:lnTo>
                  <a:lnTo>
                    <a:pt x="51" y="95"/>
                  </a:lnTo>
                  <a:lnTo>
                    <a:pt x="45" y="95"/>
                  </a:lnTo>
                  <a:lnTo>
                    <a:pt x="34" y="97"/>
                  </a:lnTo>
                  <a:lnTo>
                    <a:pt x="25" y="101"/>
                  </a:lnTo>
                  <a:lnTo>
                    <a:pt x="17" y="108"/>
                  </a:lnTo>
                  <a:lnTo>
                    <a:pt x="10" y="115"/>
                  </a:lnTo>
                  <a:lnTo>
                    <a:pt x="5" y="125"/>
                  </a:lnTo>
                  <a:lnTo>
                    <a:pt x="1" y="134"/>
                  </a:lnTo>
                  <a:lnTo>
                    <a:pt x="0" y="144"/>
                  </a:lnTo>
                  <a:lnTo>
                    <a:pt x="0" y="155"/>
                  </a:lnTo>
                  <a:lnTo>
                    <a:pt x="2" y="165"/>
                  </a:lnTo>
                  <a:lnTo>
                    <a:pt x="7" y="174"/>
                  </a:lnTo>
                  <a:lnTo>
                    <a:pt x="14" y="182"/>
                  </a:lnTo>
                  <a:lnTo>
                    <a:pt x="21" y="189"/>
                  </a:lnTo>
                  <a:lnTo>
                    <a:pt x="29" y="194"/>
                  </a:lnTo>
                  <a:lnTo>
                    <a:pt x="38" y="197"/>
                  </a:lnTo>
                  <a:lnTo>
                    <a:pt x="48" y="199"/>
                  </a:lnTo>
                  <a:lnTo>
                    <a:pt x="59" y="198"/>
                  </a:lnTo>
                  <a:lnTo>
                    <a:pt x="67" y="196"/>
                  </a:lnTo>
                  <a:lnTo>
                    <a:pt x="75" y="194"/>
                  </a:lnTo>
                  <a:lnTo>
                    <a:pt x="82" y="189"/>
                  </a:lnTo>
                  <a:lnTo>
                    <a:pt x="89" y="184"/>
                  </a:lnTo>
                  <a:lnTo>
                    <a:pt x="93" y="179"/>
                  </a:lnTo>
                  <a:lnTo>
                    <a:pt x="98" y="172"/>
                  </a:lnTo>
                  <a:lnTo>
                    <a:pt x="101" y="165"/>
                  </a:lnTo>
                  <a:lnTo>
                    <a:pt x="104" y="157"/>
                  </a:lnTo>
                  <a:lnTo>
                    <a:pt x="105" y="157"/>
                  </a:lnTo>
                  <a:lnTo>
                    <a:pt x="106" y="157"/>
                  </a:lnTo>
                  <a:lnTo>
                    <a:pt x="107" y="157"/>
                  </a:lnTo>
                  <a:lnTo>
                    <a:pt x="108" y="169"/>
                  </a:lnTo>
                  <a:lnTo>
                    <a:pt x="109" y="184"/>
                  </a:lnTo>
                  <a:lnTo>
                    <a:pt x="109" y="201"/>
                  </a:lnTo>
                  <a:lnTo>
                    <a:pt x="107" y="219"/>
                  </a:lnTo>
                  <a:lnTo>
                    <a:pt x="105" y="232"/>
                  </a:lnTo>
                  <a:lnTo>
                    <a:pt x="101" y="246"/>
                  </a:lnTo>
                  <a:lnTo>
                    <a:pt x="97" y="261"/>
                  </a:lnTo>
                  <a:lnTo>
                    <a:pt x="90" y="276"/>
                  </a:lnTo>
                  <a:lnTo>
                    <a:pt x="101" y="274"/>
                  </a:lnTo>
                  <a:lnTo>
                    <a:pt x="112" y="273"/>
                  </a:lnTo>
                  <a:lnTo>
                    <a:pt x="122" y="272"/>
                  </a:lnTo>
                  <a:lnTo>
                    <a:pt x="131" y="271"/>
                  </a:lnTo>
                  <a:lnTo>
                    <a:pt x="142" y="270"/>
                  </a:lnTo>
                  <a:lnTo>
                    <a:pt x="153" y="267"/>
                  </a:lnTo>
                  <a:lnTo>
                    <a:pt x="165" y="265"/>
                  </a:lnTo>
                  <a:lnTo>
                    <a:pt x="178" y="263"/>
                  </a:lnTo>
                  <a:lnTo>
                    <a:pt x="168" y="254"/>
                  </a:lnTo>
                  <a:lnTo>
                    <a:pt x="160" y="244"/>
                  </a:lnTo>
                  <a:lnTo>
                    <a:pt x="154" y="236"/>
                  </a:lnTo>
                  <a:lnTo>
                    <a:pt x="149" y="227"/>
                  </a:lnTo>
                  <a:lnTo>
                    <a:pt x="144" y="219"/>
                  </a:lnTo>
                  <a:lnTo>
                    <a:pt x="140" y="209"/>
                  </a:lnTo>
                  <a:lnTo>
                    <a:pt x="137" y="196"/>
                  </a:lnTo>
                  <a:lnTo>
                    <a:pt x="134" y="182"/>
                  </a:lnTo>
                  <a:lnTo>
                    <a:pt x="132" y="175"/>
                  </a:lnTo>
                  <a:lnTo>
                    <a:pt x="132" y="167"/>
                  </a:lnTo>
                  <a:lnTo>
                    <a:pt x="131" y="160"/>
                  </a:lnTo>
                  <a:lnTo>
                    <a:pt x="130" y="153"/>
                  </a:lnTo>
                  <a:lnTo>
                    <a:pt x="131" y="152"/>
                  </a:lnTo>
                  <a:lnTo>
                    <a:pt x="136" y="159"/>
                  </a:lnTo>
                  <a:lnTo>
                    <a:pt x="140" y="165"/>
                  </a:lnTo>
                  <a:lnTo>
                    <a:pt x="147" y="169"/>
                  </a:lnTo>
                  <a:lnTo>
                    <a:pt x="153" y="173"/>
                  </a:lnTo>
                  <a:lnTo>
                    <a:pt x="160" y="176"/>
                  </a:lnTo>
                  <a:lnTo>
                    <a:pt x="168" y="178"/>
                  </a:lnTo>
                  <a:lnTo>
                    <a:pt x="176" y="179"/>
                  </a:lnTo>
                  <a:lnTo>
                    <a:pt x="184" y="178"/>
                  </a:lnTo>
                  <a:lnTo>
                    <a:pt x="195" y="175"/>
                  </a:lnTo>
                  <a:lnTo>
                    <a:pt x="204" y="171"/>
                  </a:lnTo>
                  <a:lnTo>
                    <a:pt x="212" y="165"/>
                  </a:lnTo>
                  <a:lnTo>
                    <a:pt x="219" y="158"/>
                  </a:lnTo>
                  <a:lnTo>
                    <a:pt x="225" y="149"/>
                  </a:lnTo>
                  <a:lnTo>
                    <a:pt x="228" y="140"/>
                  </a:lnTo>
                  <a:lnTo>
                    <a:pt x="229" y="129"/>
                  </a:lnTo>
                  <a:lnTo>
                    <a:pt x="229" y="119"/>
                  </a:lnTo>
                  <a:lnTo>
                    <a:pt x="227" y="108"/>
                  </a:lnTo>
                  <a:lnTo>
                    <a:pt x="222" y="99"/>
                  </a:lnTo>
                  <a:lnTo>
                    <a:pt x="215" y="91"/>
                  </a:lnTo>
                  <a:lnTo>
                    <a:pt x="208" y="84"/>
                  </a:lnTo>
                  <a:lnTo>
                    <a:pt x="199" y="78"/>
                  </a:lnTo>
                  <a:lnTo>
                    <a:pt x="190" y="75"/>
                  </a:lnTo>
                  <a:lnTo>
                    <a:pt x="180" y="74"/>
                  </a:lnTo>
                  <a:lnTo>
                    <a:pt x="169" y="7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89" name="Freeform 16"/>
            <p:cNvSpPr>
              <a:spLocks/>
            </p:cNvSpPr>
            <p:nvPr/>
          </p:nvSpPr>
          <p:spPr bwMode="auto">
            <a:xfrm>
              <a:off x="3773" y="3355"/>
              <a:ext cx="46" cy="56"/>
            </a:xfrm>
            <a:custGeom>
              <a:avLst/>
              <a:gdLst>
                <a:gd name="T0" fmla="*/ 17 w 92"/>
                <a:gd name="T1" fmla="*/ 8 h 110"/>
                <a:gd name="T2" fmla="*/ 15 w 92"/>
                <a:gd name="T3" fmla="*/ 8 h 110"/>
                <a:gd name="T4" fmla="*/ 14 w 92"/>
                <a:gd name="T5" fmla="*/ 9 h 110"/>
                <a:gd name="T6" fmla="*/ 14 w 92"/>
                <a:gd name="T7" fmla="*/ 8 h 110"/>
                <a:gd name="T8" fmla="*/ 15 w 92"/>
                <a:gd name="T9" fmla="*/ 8 h 110"/>
                <a:gd name="T10" fmla="*/ 15 w 92"/>
                <a:gd name="T11" fmla="*/ 6 h 110"/>
                <a:gd name="T12" fmla="*/ 14 w 92"/>
                <a:gd name="T13" fmla="*/ 3 h 110"/>
                <a:gd name="T14" fmla="*/ 12 w 92"/>
                <a:gd name="T15" fmla="*/ 1 h 110"/>
                <a:gd name="T16" fmla="*/ 7 w 92"/>
                <a:gd name="T17" fmla="*/ 1 h 110"/>
                <a:gd name="T18" fmla="*/ 5 w 92"/>
                <a:gd name="T19" fmla="*/ 4 h 110"/>
                <a:gd name="T20" fmla="*/ 6 w 92"/>
                <a:gd name="T21" fmla="*/ 7 h 110"/>
                <a:gd name="T22" fmla="*/ 6 w 92"/>
                <a:gd name="T23" fmla="*/ 9 h 110"/>
                <a:gd name="T24" fmla="*/ 6 w 92"/>
                <a:gd name="T25" fmla="*/ 10 h 110"/>
                <a:gd name="T26" fmla="*/ 6 w 92"/>
                <a:gd name="T27" fmla="*/ 10 h 110"/>
                <a:gd name="T28" fmla="*/ 6 w 92"/>
                <a:gd name="T29" fmla="*/ 10 h 110"/>
                <a:gd name="T30" fmla="*/ 5 w 92"/>
                <a:gd name="T31" fmla="*/ 10 h 110"/>
                <a:gd name="T32" fmla="*/ 3 w 92"/>
                <a:gd name="T33" fmla="*/ 10 h 110"/>
                <a:gd name="T34" fmla="*/ 1 w 92"/>
                <a:gd name="T35" fmla="*/ 14 h 110"/>
                <a:gd name="T36" fmla="*/ 1 w 92"/>
                <a:gd name="T37" fmla="*/ 18 h 110"/>
                <a:gd name="T38" fmla="*/ 4 w 92"/>
                <a:gd name="T39" fmla="*/ 20 h 110"/>
                <a:gd name="T40" fmla="*/ 7 w 92"/>
                <a:gd name="T41" fmla="*/ 20 h 110"/>
                <a:gd name="T42" fmla="*/ 10 w 92"/>
                <a:gd name="T43" fmla="*/ 18 h 110"/>
                <a:gd name="T44" fmla="*/ 11 w 92"/>
                <a:gd name="T45" fmla="*/ 16 h 110"/>
                <a:gd name="T46" fmla="*/ 11 w 92"/>
                <a:gd name="T47" fmla="*/ 16 h 110"/>
                <a:gd name="T48" fmla="*/ 11 w 92"/>
                <a:gd name="T49" fmla="*/ 18 h 110"/>
                <a:gd name="T50" fmla="*/ 11 w 92"/>
                <a:gd name="T51" fmla="*/ 21 h 110"/>
                <a:gd name="T52" fmla="*/ 11 w 92"/>
                <a:gd name="T53" fmla="*/ 24 h 110"/>
                <a:gd name="T54" fmla="*/ 10 w 92"/>
                <a:gd name="T55" fmla="*/ 27 h 110"/>
                <a:gd name="T56" fmla="*/ 10 w 92"/>
                <a:gd name="T57" fmla="*/ 28 h 110"/>
                <a:gd name="T58" fmla="*/ 12 w 92"/>
                <a:gd name="T59" fmla="*/ 28 h 110"/>
                <a:gd name="T60" fmla="*/ 14 w 92"/>
                <a:gd name="T61" fmla="*/ 27 h 110"/>
                <a:gd name="T62" fmla="*/ 17 w 92"/>
                <a:gd name="T63" fmla="*/ 27 h 110"/>
                <a:gd name="T64" fmla="*/ 16 w 92"/>
                <a:gd name="T65" fmla="*/ 25 h 110"/>
                <a:gd name="T66" fmla="*/ 14 w 92"/>
                <a:gd name="T67" fmla="*/ 21 h 110"/>
                <a:gd name="T68" fmla="*/ 13 w 92"/>
                <a:gd name="T69" fmla="*/ 18 h 110"/>
                <a:gd name="T70" fmla="*/ 13 w 92"/>
                <a:gd name="T71" fmla="*/ 16 h 110"/>
                <a:gd name="T72" fmla="*/ 13 w 92"/>
                <a:gd name="T73" fmla="*/ 16 h 110"/>
                <a:gd name="T74" fmla="*/ 13 w 92"/>
                <a:gd name="T75" fmla="*/ 16 h 110"/>
                <a:gd name="T76" fmla="*/ 14 w 92"/>
                <a:gd name="T77" fmla="*/ 17 h 110"/>
                <a:gd name="T78" fmla="*/ 17 w 92"/>
                <a:gd name="T79" fmla="*/ 18 h 110"/>
                <a:gd name="T80" fmla="*/ 21 w 92"/>
                <a:gd name="T81" fmla="*/ 18 h 110"/>
                <a:gd name="T82" fmla="*/ 23 w 92"/>
                <a:gd name="T83" fmla="*/ 14 h 110"/>
                <a:gd name="T84" fmla="*/ 22 w 92"/>
                <a:gd name="T85" fmla="*/ 10 h 110"/>
                <a:gd name="T86" fmla="*/ 19 w 92"/>
                <a:gd name="T87" fmla="*/ 8 h 11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92"/>
                <a:gd name="T133" fmla="*/ 0 h 110"/>
                <a:gd name="T134" fmla="*/ 92 w 92"/>
                <a:gd name="T135" fmla="*/ 110 h 110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92" h="110">
                  <a:moveTo>
                    <a:pt x="68" y="30"/>
                  </a:moveTo>
                  <a:lnTo>
                    <a:pt x="65" y="30"/>
                  </a:lnTo>
                  <a:lnTo>
                    <a:pt x="63" y="31"/>
                  </a:lnTo>
                  <a:lnTo>
                    <a:pt x="61" y="32"/>
                  </a:lnTo>
                  <a:lnTo>
                    <a:pt x="58" y="33"/>
                  </a:lnTo>
                  <a:lnTo>
                    <a:pt x="58" y="32"/>
                  </a:lnTo>
                  <a:lnTo>
                    <a:pt x="60" y="29"/>
                  </a:lnTo>
                  <a:lnTo>
                    <a:pt x="61" y="25"/>
                  </a:lnTo>
                  <a:lnTo>
                    <a:pt x="62" y="22"/>
                  </a:lnTo>
                  <a:lnTo>
                    <a:pt x="62" y="17"/>
                  </a:lnTo>
                  <a:lnTo>
                    <a:pt x="58" y="9"/>
                  </a:lnTo>
                  <a:lnTo>
                    <a:pt x="54" y="3"/>
                  </a:lnTo>
                  <a:lnTo>
                    <a:pt x="46" y="1"/>
                  </a:lnTo>
                  <a:lnTo>
                    <a:pt x="38" y="0"/>
                  </a:lnTo>
                  <a:lnTo>
                    <a:pt x="30" y="2"/>
                  </a:lnTo>
                  <a:lnTo>
                    <a:pt x="24" y="8"/>
                  </a:lnTo>
                  <a:lnTo>
                    <a:pt x="20" y="16"/>
                  </a:lnTo>
                  <a:lnTo>
                    <a:pt x="20" y="24"/>
                  </a:lnTo>
                  <a:lnTo>
                    <a:pt x="22" y="28"/>
                  </a:lnTo>
                  <a:lnTo>
                    <a:pt x="23" y="31"/>
                  </a:lnTo>
                  <a:lnTo>
                    <a:pt x="25" y="34"/>
                  </a:lnTo>
                  <a:lnTo>
                    <a:pt x="27" y="37"/>
                  </a:lnTo>
                  <a:lnTo>
                    <a:pt x="27" y="38"/>
                  </a:lnTo>
                  <a:lnTo>
                    <a:pt x="27" y="39"/>
                  </a:lnTo>
                  <a:lnTo>
                    <a:pt x="25" y="38"/>
                  </a:lnTo>
                  <a:lnTo>
                    <a:pt x="23" y="38"/>
                  </a:lnTo>
                  <a:lnTo>
                    <a:pt x="20" y="38"/>
                  </a:lnTo>
                  <a:lnTo>
                    <a:pt x="18" y="38"/>
                  </a:lnTo>
                  <a:lnTo>
                    <a:pt x="10" y="40"/>
                  </a:lnTo>
                  <a:lnTo>
                    <a:pt x="4" y="46"/>
                  </a:lnTo>
                  <a:lnTo>
                    <a:pt x="1" y="53"/>
                  </a:lnTo>
                  <a:lnTo>
                    <a:pt x="0" y="61"/>
                  </a:lnTo>
                  <a:lnTo>
                    <a:pt x="3" y="69"/>
                  </a:lnTo>
                  <a:lnTo>
                    <a:pt x="9" y="75"/>
                  </a:lnTo>
                  <a:lnTo>
                    <a:pt x="16" y="78"/>
                  </a:lnTo>
                  <a:lnTo>
                    <a:pt x="24" y="79"/>
                  </a:lnTo>
                  <a:lnTo>
                    <a:pt x="31" y="77"/>
                  </a:lnTo>
                  <a:lnTo>
                    <a:pt x="35" y="74"/>
                  </a:lnTo>
                  <a:lnTo>
                    <a:pt x="39" y="69"/>
                  </a:lnTo>
                  <a:lnTo>
                    <a:pt x="41" y="62"/>
                  </a:lnTo>
                  <a:lnTo>
                    <a:pt x="42" y="62"/>
                  </a:lnTo>
                  <a:lnTo>
                    <a:pt x="44" y="68"/>
                  </a:lnTo>
                  <a:lnTo>
                    <a:pt x="44" y="74"/>
                  </a:lnTo>
                  <a:lnTo>
                    <a:pt x="44" y="81"/>
                  </a:lnTo>
                  <a:lnTo>
                    <a:pt x="42" y="87"/>
                  </a:lnTo>
                  <a:lnTo>
                    <a:pt x="41" y="93"/>
                  </a:lnTo>
                  <a:lnTo>
                    <a:pt x="40" y="98"/>
                  </a:lnTo>
                  <a:lnTo>
                    <a:pt x="38" y="104"/>
                  </a:lnTo>
                  <a:lnTo>
                    <a:pt x="35" y="110"/>
                  </a:lnTo>
                  <a:lnTo>
                    <a:pt x="40" y="109"/>
                  </a:lnTo>
                  <a:lnTo>
                    <a:pt x="45" y="109"/>
                  </a:lnTo>
                  <a:lnTo>
                    <a:pt x="49" y="108"/>
                  </a:lnTo>
                  <a:lnTo>
                    <a:pt x="53" y="108"/>
                  </a:lnTo>
                  <a:lnTo>
                    <a:pt x="57" y="107"/>
                  </a:lnTo>
                  <a:lnTo>
                    <a:pt x="61" y="107"/>
                  </a:lnTo>
                  <a:lnTo>
                    <a:pt x="65" y="106"/>
                  </a:lnTo>
                  <a:lnTo>
                    <a:pt x="71" y="105"/>
                  </a:lnTo>
                  <a:lnTo>
                    <a:pt x="64" y="97"/>
                  </a:lnTo>
                  <a:lnTo>
                    <a:pt x="60" y="90"/>
                  </a:lnTo>
                  <a:lnTo>
                    <a:pt x="56" y="83"/>
                  </a:lnTo>
                  <a:lnTo>
                    <a:pt x="54" y="72"/>
                  </a:lnTo>
                  <a:lnTo>
                    <a:pt x="53" y="70"/>
                  </a:lnTo>
                  <a:lnTo>
                    <a:pt x="53" y="67"/>
                  </a:lnTo>
                  <a:lnTo>
                    <a:pt x="53" y="63"/>
                  </a:lnTo>
                  <a:lnTo>
                    <a:pt x="52" y="61"/>
                  </a:lnTo>
                  <a:lnTo>
                    <a:pt x="53" y="61"/>
                  </a:lnTo>
                  <a:lnTo>
                    <a:pt x="57" y="66"/>
                  </a:lnTo>
                  <a:lnTo>
                    <a:pt x="62" y="69"/>
                  </a:lnTo>
                  <a:lnTo>
                    <a:pt x="68" y="71"/>
                  </a:lnTo>
                  <a:lnTo>
                    <a:pt x="73" y="71"/>
                  </a:lnTo>
                  <a:lnTo>
                    <a:pt x="82" y="68"/>
                  </a:lnTo>
                  <a:lnTo>
                    <a:pt x="87" y="62"/>
                  </a:lnTo>
                  <a:lnTo>
                    <a:pt x="91" y="55"/>
                  </a:lnTo>
                  <a:lnTo>
                    <a:pt x="92" y="47"/>
                  </a:lnTo>
                  <a:lnTo>
                    <a:pt x="88" y="39"/>
                  </a:lnTo>
                  <a:lnTo>
                    <a:pt x="84" y="33"/>
                  </a:lnTo>
                  <a:lnTo>
                    <a:pt x="76" y="30"/>
                  </a:lnTo>
                  <a:lnTo>
                    <a:pt x="68" y="3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0" name="Freeform 17"/>
            <p:cNvSpPr>
              <a:spLocks/>
            </p:cNvSpPr>
            <p:nvPr/>
          </p:nvSpPr>
          <p:spPr bwMode="auto">
            <a:xfrm>
              <a:off x="4339" y="3048"/>
              <a:ext cx="43" cy="65"/>
            </a:xfrm>
            <a:custGeom>
              <a:avLst/>
              <a:gdLst>
                <a:gd name="T0" fmla="*/ 13 w 86"/>
                <a:gd name="T1" fmla="*/ 0 h 130"/>
                <a:gd name="T2" fmla="*/ 11 w 86"/>
                <a:gd name="T3" fmla="*/ 0 h 130"/>
                <a:gd name="T4" fmla="*/ 9 w 86"/>
                <a:gd name="T5" fmla="*/ 1 h 130"/>
                <a:gd name="T6" fmla="*/ 7 w 86"/>
                <a:gd name="T7" fmla="*/ 1 h 130"/>
                <a:gd name="T8" fmla="*/ 5 w 86"/>
                <a:gd name="T9" fmla="*/ 2 h 130"/>
                <a:gd name="T10" fmla="*/ 3 w 86"/>
                <a:gd name="T11" fmla="*/ 3 h 130"/>
                <a:gd name="T12" fmla="*/ 3 w 86"/>
                <a:gd name="T13" fmla="*/ 5 h 130"/>
                <a:gd name="T14" fmla="*/ 1 w 86"/>
                <a:gd name="T15" fmla="*/ 7 h 130"/>
                <a:gd name="T16" fmla="*/ 1 w 86"/>
                <a:gd name="T17" fmla="*/ 9 h 130"/>
                <a:gd name="T18" fmla="*/ 1 w 86"/>
                <a:gd name="T19" fmla="*/ 11 h 130"/>
                <a:gd name="T20" fmla="*/ 1 w 86"/>
                <a:gd name="T21" fmla="*/ 14 h 130"/>
                <a:gd name="T22" fmla="*/ 3 w 86"/>
                <a:gd name="T23" fmla="*/ 16 h 130"/>
                <a:gd name="T24" fmla="*/ 5 w 86"/>
                <a:gd name="T25" fmla="*/ 18 h 130"/>
                <a:gd name="T26" fmla="*/ 5 w 86"/>
                <a:gd name="T27" fmla="*/ 18 h 130"/>
                <a:gd name="T28" fmla="*/ 6 w 86"/>
                <a:gd name="T29" fmla="*/ 19 h 130"/>
                <a:gd name="T30" fmla="*/ 7 w 86"/>
                <a:gd name="T31" fmla="*/ 19 h 130"/>
                <a:gd name="T32" fmla="*/ 9 w 86"/>
                <a:gd name="T33" fmla="*/ 20 h 130"/>
                <a:gd name="T34" fmla="*/ 10 w 86"/>
                <a:gd name="T35" fmla="*/ 20 h 130"/>
                <a:gd name="T36" fmla="*/ 11 w 86"/>
                <a:gd name="T37" fmla="*/ 20 h 130"/>
                <a:gd name="T38" fmla="*/ 12 w 86"/>
                <a:gd name="T39" fmla="*/ 19 h 130"/>
                <a:gd name="T40" fmla="*/ 13 w 86"/>
                <a:gd name="T41" fmla="*/ 19 h 130"/>
                <a:gd name="T42" fmla="*/ 14 w 86"/>
                <a:gd name="T43" fmla="*/ 19 h 130"/>
                <a:gd name="T44" fmla="*/ 15 w 86"/>
                <a:gd name="T45" fmla="*/ 18 h 130"/>
                <a:gd name="T46" fmla="*/ 17 w 86"/>
                <a:gd name="T47" fmla="*/ 17 h 130"/>
                <a:gd name="T48" fmla="*/ 18 w 86"/>
                <a:gd name="T49" fmla="*/ 16 h 130"/>
                <a:gd name="T50" fmla="*/ 18 w 86"/>
                <a:gd name="T51" fmla="*/ 17 h 130"/>
                <a:gd name="T52" fmla="*/ 17 w 86"/>
                <a:gd name="T53" fmla="*/ 20 h 130"/>
                <a:gd name="T54" fmla="*/ 17 w 86"/>
                <a:gd name="T55" fmla="*/ 22 h 130"/>
                <a:gd name="T56" fmla="*/ 15 w 86"/>
                <a:gd name="T57" fmla="*/ 24 h 130"/>
                <a:gd name="T58" fmla="*/ 13 w 86"/>
                <a:gd name="T59" fmla="*/ 26 h 130"/>
                <a:gd name="T60" fmla="*/ 12 w 86"/>
                <a:gd name="T61" fmla="*/ 27 h 130"/>
                <a:gd name="T62" fmla="*/ 11 w 86"/>
                <a:gd name="T63" fmla="*/ 29 h 130"/>
                <a:gd name="T64" fmla="*/ 9 w 86"/>
                <a:gd name="T65" fmla="*/ 29 h 130"/>
                <a:gd name="T66" fmla="*/ 6 w 86"/>
                <a:gd name="T67" fmla="*/ 29 h 130"/>
                <a:gd name="T68" fmla="*/ 5 w 86"/>
                <a:gd name="T69" fmla="*/ 29 h 130"/>
                <a:gd name="T70" fmla="*/ 3 w 86"/>
                <a:gd name="T71" fmla="*/ 28 h 130"/>
                <a:gd name="T72" fmla="*/ 2 w 86"/>
                <a:gd name="T73" fmla="*/ 27 h 130"/>
                <a:gd name="T74" fmla="*/ 1 w 86"/>
                <a:gd name="T75" fmla="*/ 26 h 130"/>
                <a:gd name="T76" fmla="*/ 0 w 86"/>
                <a:gd name="T77" fmla="*/ 30 h 130"/>
                <a:gd name="T78" fmla="*/ 1 w 86"/>
                <a:gd name="T79" fmla="*/ 31 h 130"/>
                <a:gd name="T80" fmla="*/ 3 w 86"/>
                <a:gd name="T81" fmla="*/ 31 h 130"/>
                <a:gd name="T82" fmla="*/ 5 w 86"/>
                <a:gd name="T83" fmla="*/ 33 h 130"/>
                <a:gd name="T84" fmla="*/ 6 w 86"/>
                <a:gd name="T85" fmla="*/ 33 h 130"/>
                <a:gd name="T86" fmla="*/ 7 w 86"/>
                <a:gd name="T87" fmla="*/ 33 h 130"/>
                <a:gd name="T88" fmla="*/ 9 w 86"/>
                <a:gd name="T89" fmla="*/ 33 h 130"/>
                <a:gd name="T90" fmla="*/ 10 w 86"/>
                <a:gd name="T91" fmla="*/ 33 h 130"/>
                <a:gd name="T92" fmla="*/ 11 w 86"/>
                <a:gd name="T93" fmla="*/ 33 h 130"/>
                <a:gd name="T94" fmla="*/ 12 w 86"/>
                <a:gd name="T95" fmla="*/ 31 h 130"/>
                <a:gd name="T96" fmla="*/ 13 w 86"/>
                <a:gd name="T97" fmla="*/ 31 h 130"/>
                <a:gd name="T98" fmla="*/ 14 w 86"/>
                <a:gd name="T99" fmla="*/ 30 h 130"/>
                <a:gd name="T100" fmla="*/ 15 w 86"/>
                <a:gd name="T101" fmla="*/ 29 h 130"/>
                <a:gd name="T102" fmla="*/ 18 w 86"/>
                <a:gd name="T103" fmla="*/ 27 h 130"/>
                <a:gd name="T104" fmla="*/ 20 w 86"/>
                <a:gd name="T105" fmla="*/ 24 h 130"/>
                <a:gd name="T106" fmla="*/ 21 w 86"/>
                <a:gd name="T107" fmla="*/ 21 h 130"/>
                <a:gd name="T108" fmla="*/ 22 w 86"/>
                <a:gd name="T109" fmla="*/ 17 h 130"/>
                <a:gd name="T110" fmla="*/ 22 w 86"/>
                <a:gd name="T111" fmla="*/ 14 h 130"/>
                <a:gd name="T112" fmla="*/ 22 w 86"/>
                <a:gd name="T113" fmla="*/ 11 h 130"/>
                <a:gd name="T114" fmla="*/ 21 w 86"/>
                <a:gd name="T115" fmla="*/ 8 h 130"/>
                <a:gd name="T116" fmla="*/ 21 w 86"/>
                <a:gd name="T117" fmla="*/ 6 h 130"/>
                <a:gd name="T118" fmla="*/ 20 w 86"/>
                <a:gd name="T119" fmla="*/ 3 h 130"/>
                <a:gd name="T120" fmla="*/ 18 w 86"/>
                <a:gd name="T121" fmla="*/ 2 h 130"/>
                <a:gd name="T122" fmla="*/ 15 w 86"/>
                <a:gd name="T123" fmla="*/ 1 h 130"/>
                <a:gd name="T124" fmla="*/ 13 w 86"/>
                <a:gd name="T125" fmla="*/ 0 h 1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86"/>
                <a:gd name="T190" fmla="*/ 0 h 130"/>
                <a:gd name="T191" fmla="*/ 86 w 86"/>
                <a:gd name="T192" fmla="*/ 130 h 130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86" h="130">
                  <a:moveTo>
                    <a:pt x="52" y="0"/>
                  </a:moveTo>
                  <a:lnTo>
                    <a:pt x="44" y="0"/>
                  </a:lnTo>
                  <a:lnTo>
                    <a:pt x="36" y="1"/>
                  </a:lnTo>
                  <a:lnTo>
                    <a:pt x="28" y="4"/>
                  </a:lnTo>
                  <a:lnTo>
                    <a:pt x="21" y="9"/>
                  </a:lnTo>
                  <a:lnTo>
                    <a:pt x="15" y="15"/>
                  </a:lnTo>
                  <a:lnTo>
                    <a:pt x="10" y="20"/>
                  </a:lnTo>
                  <a:lnTo>
                    <a:pt x="7" y="28"/>
                  </a:lnTo>
                  <a:lnTo>
                    <a:pt x="5" y="36"/>
                  </a:lnTo>
                  <a:lnTo>
                    <a:pt x="5" y="47"/>
                  </a:lnTo>
                  <a:lnTo>
                    <a:pt x="6" y="57"/>
                  </a:lnTo>
                  <a:lnTo>
                    <a:pt x="10" y="65"/>
                  </a:lnTo>
                  <a:lnTo>
                    <a:pt x="17" y="72"/>
                  </a:lnTo>
                  <a:lnTo>
                    <a:pt x="22" y="75"/>
                  </a:lnTo>
                  <a:lnTo>
                    <a:pt x="25" y="77"/>
                  </a:lnTo>
                  <a:lnTo>
                    <a:pt x="30" y="79"/>
                  </a:lnTo>
                  <a:lnTo>
                    <a:pt x="35" y="80"/>
                  </a:lnTo>
                  <a:lnTo>
                    <a:pt x="39" y="80"/>
                  </a:lnTo>
                  <a:lnTo>
                    <a:pt x="45" y="80"/>
                  </a:lnTo>
                  <a:lnTo>
                    <a:pt x="50" y="79"/>
                  </a:lnTo>
                  <a:lnTo>
                    <a:pt x="54" y="78"/>
                  </a:lnTo>
                  <a:lnTo>
                    <a:pt x="59" y="76"/>
                  </a:lnTo>
                  <a:lnTo>
                    <a:pt x="62" y="72"/>
                  </a:lnTo>
                  <a:lnTo>
                    <a:pt x="67" y="70"/>
                  </a:lnTo>
                  <a:lnTo>
                    <a:pt x="70" y="66"/>
                  </a:lnTo>
                  <a:lnTo>
                    <a:pt x="70" y="69"/>
                  </a:lnTo>
                  <a:lnTo>
                    <a:pt x="68" y="80"/>
                  </a:lnTo>
                  <a:lnTo>
                    <a:pt x="65" y="91"/>
                  </a:lnTo>
                  <a:lnTo>
                    <a:pt x="60" y="99"/>
                  </a:lnTo>
                  <a:lnTo>
                    <a:pt x="54" y="106"/>
                  </a:lnTo>
                  <a:lnTo>
                    <a:pt x="48" y="111"/>
                  </a:lnTo>
                  <a:lnTo>
                    <a:pt x="43" y="116"/>
                  </a:lnTo>
                  <a:lnTo>
                    <a:pt x="35" y="117"/>
                  </a:lnTo>
                  <a:lnTo>
                    <a:pt x="27" y="117"/>
                  </a:lnTo>
                  <a:lnTo>
                    <a:pt x="21" y="116"/>
                  </a:lnTo>
                  <a:lnTo>
                    <a:pt x="15" y="114"/>
                  </a:lnTo>
                  <a:lnTo>
                    <a:pt x="8" y="110"/>
                  </a:lnTo>
                  <a:lnTo>
                    <a:pt x="2" y="107"/>
                  </a:lnTo>
                  <a:lnTo>
                    <a:pt x="0" y="122"/>
                  </a:lnTo>
                  <a:lnTo>
                    <a:pt x="6" y="124"/>
                  </a:lnTo>
                  <a:lnTo>
                    <a:pt x="13" y="126"/>
                  </a:lnTo>
                  <a:lnTo>
                    <a:pt x="18" y="129"/>
                  </a:lnTo>
                  <a:lnTo>
                    <a:pt x="24" y="130"/>
                  </a:lnTo>
                  <a:lnTo>
                    <a:pt x="30" y="130"/>
                  </a:lnTo>
                  <a:lnTo>
                    <a:pt x="36" y="130"/>
                  </a:lnTo>
                  <a:lnTo>
                    <a:pt x="40" y="130"/>
                  </a:lnTo>
                  <a:lnTo>
                    <a:pt x="46" y="129"/>
                  </a:lnTo>
                  <a:lnTo>
                    <a:pt x="51" y="126"/>
                  </a:lnTo>
                  <a:lnTo>
                    <a:pt x="55" y="124"/>
                  </a:lnTo>
                  <a:lnTo>
                    <a:pt x="59" y="121"/>
                  </a:lnTo>
                  <a:lnTo>
                    <a:pt x="63" y="117"/>
                  </a:lnTo>
                  <a:lnTo>
                    <a:pt x="71" y="108"/>
                  </a:lnTo>
                  <a:lnTo>
                    <a:pt x="77" y="98"/>
                  </a:lnTo>
                  <a:lnTo>
                    <a:pt x="82" y="86"/>
                  </a:lnTo>
                  <a:lnTo>
                    <a:pt x="85" y="71"/>
                  </a:lnTo>
                  <a:lnTo>
                    <a:pt x="86" y="57"/>
                  </a:lnTo>
                  <a:lnTo>
                    <a:pt x="86" y="46"/>
                  </a:lnTo>
                  <a:lnTo>
                    <a:pt x="84" y="34"/>
                  </a:lnTo>
                  <a:lnTo>
                    <a:pt x="82" y="24"/>
                  </a:lnTo>
                  <a:lnTo>
                    <a:pt x="77" y="15"/>
                  </a:lnTo>
                  <a:lnTo>
                    <a:pt x="70" y="8"/>
                  </a:lnTo>
                  <a:lnTo>
                    <a:pt x="62" y="3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1" name="Freeform 18"/>
            <p:cNvSpPr>
              <a:spLocks/>
            </p:cNvSpPr>
            <p:nvPr/>
          </p:nvSpPr>
          <p:spPr bwMode="auto">
            <a:xfrm>
              <a:off x="4245" y="3440"/>
              <a:ext cx="62" cy="108"/>
            </a:xfrm>
            <a:custGeom>
              <a:avLst/>
              <a:gdLst>
                <a:gd name="T0" fmla="*/ 8 w 124"/>
                <a:gd name="T1" fmla="*/ 31 h 218"/>
                <a:gd name="T2" fmla="*/ 8 w 124"/>
                <a:gd name="T3" fmla="*/ 35 h 218"/>
                <a:gd name="T4" fmla="*/ 8 w 124"/>
                <a:gd name="T5" fmla="*/ 36 h 218"/>
                <a:gd name="T6" fmla="*/ 10 w 124"/>
                <a:gd name="T7" fmla="*/ 35 h 218"/>
                <a:gd name="T8" fmla="*/ 14 w 124"/>
                <a:gd name="T9" fmla="*/ 36 h 218"/>
                <a:gd name="T10" fmla="*/ 16 w 124"/>
                <a:gd name="T11" fmla="*/ 38 h 218"/>
                <a:gd name="T12" fmla="*/ 13 w 124"/>
                <a:gd name="T13" fmla="*/ 39 h 218"/>
                <a:gd name="T14" fmla="*/ 8 w 124"/>
                <a:gd name="T15" fmla="*/ 40 h 218"/>
                <a:gd name="T16" fmla="*/ 7 w 124"/>
                <a:gd name="T17" fmla="*/ 39 h 218"/>
                <a:gd name="T18" fmla="*/ 6 w 124"/>
                <a:gd name="T19" fmla="*/ 43 h 218"/>
                <a:gd name="T20" fmla="*/ 5 w 124"/>
                <a:gd name="T21" fmla="*/ 52 h 218"/>
                <a:gd name="T22" fmla="*/ 8 w 124"/>
                <a:gd name="T23" fmla="*/ 53 h 218"/>
                <a:gd name="T24" fmla="*/ 12 w 124"/>
                <a:gd name="T25" fmla="*/ 53 h 218"/>
                <a:gd name="T26" fmla="*/ 17 w 124"/>
                <a:gd name="T27" fmla="*/ 51 h 218"/>
                <a:gd name="T28" fmla="*/ 23 w 124"/>
                <a:gd name="T29" fmla="*/ 47 h 218"/>
                <a:gd name="T30" fmla="*/ 22 w 124"/>
                <a:gd name="T31" fmla="*/ 46 h 218"/>
                <a:gd name="T32" fmla="*/ 22 w 124"/>
                <a:gd name="T33" fmla="*/ 47 h 218"/>
                <a:gd name="T34" fmla="*/ 23 w 124"/>
                <a:gd name="T35" fmla="*/ 47 h 218"/>
                <a:gd name="T36" fmla="*/ 23 w 124"/>
                <a:gd name="T37" fmla="*/ 47 h 218"/>
                <a:gd name="T38" fmla="*/ 23 w 124"/>
                <a:gd name="T39" fmla="*/ 47 h 218"/>
                <a:gd name="T40" fmla="*/ 24 w 124"/>
                <a:gd name="T41" fmla="*/ 48 h 218"/>
                <a:gd name="T42" fmla="*/ 24 w 124"/>
                <a:gd name="T43" fmla="*/ 48 h 218"/>
                <a:gd name="T44" fmla="*/ 24 w 124"/>
                <a:gd name="T45" fmla="*/ 48 h 218"/>
                <a:gd name="T46" fmla="*/ 24 w 124"/>
                <a:gd name="T47" fmla="*/ 49 h 218"/>
                <a:gd name="T48" fmla="*/ 26 w 124"/>
                <a:gd name="T49" fmla="*/ 51 h 218"/>
                <a:gd name="T50" fmla="*/ 28 w 124"/>
                <a:gd name="T51" fmla="*/ 53 h 218"/>
                <a:gd name="T52" fmla="*/ 27 w 124"/>
                <a:gd name="T53" fmla="*/ 50 h 218"/>
                <a:gd name="T54" fmla="*/ 27 w 124"/>
                <a:gd name="T55" fmla="*/ 49 h 218"/>
                <a:gd name="T56" fmla="*/ 26 w 124"/>
                <a:gd name="T57" fmla="*/ 47 h 218"/>
                <a:gd name="T58" fmla="*/ 26 w 124"/>
                <a:gd name="T59" fmla="*/ 45 h 218"/>
                <a:gd name="T60" fmla="*/ 26 w 124"/>
                <a:gd name="T61" fmla="*/ 45 h 218"/>
                <a:gd name="T62" fmla="*/ 25 w 124"/>
                <a:gd name="T63" fmla="*/ 36 h 218"/>
                <a:gd name="T64" fmla="*/ 25 w 124"/>
                <a:gd name="T65" fmla="*/ 35 h 218"/>
                <a:gd name="T66" fmla="*/ 25 w 124"/>
                <a:gd name="T67" fmla="*/ 33 h 218"/>
                <a:gd name="T68" fmla="*/ 26 w 124"/>
                <a:gd name="T69" fmla="*/ 27 h 218"/>
                <a:gd name="T70" fmla="*/ 26 w 124"/>
                <a:gd name="T71" fmla="*/ 24 h 218"/>
                <a:gd name="T72" fmla="*/ 29 w 124"/>
                <a:gd name="T73" fmla="*/ 20 h 218"/>
                <a:gd name="T74" fmla="*/ 31 w 124"/>
                <a:gd name="T75" fmla="*/ 14 h 218"/>
                <a:gd name="T76" fmla="*/ 28 w 124"/>
                <a:gd name="T77" fmla="*/ 7 h 218"/>
                <a:gd name="T78" fmla="*/ 22 w 124"/>
                <a:gd name="T79" fmla="*/ 5 h 218"/>
                <a:gd name="T80" fmla="*/ 16 w 124"/>
                <a:gd name="T81" fmla="*/ 2 h 218"/>
                <a:gd name="T82" fmla="*/ 11 w 124"/>
                <a:gd name="T83" fmla="*/ 3 h 218"/>
                <a:gd name="T84" fmla="*/ 5 w 124"/>
                <a:gd name="T85" fmla="*/ 15 h 218"/>
                <a:gd name="T86" fmla="*/ 1 w 124"/>
                <a:gd name="T87" fmla="*/ 24 h 218"/>
                <a:gd name="T88" fmla="*/ 5 w 124"/>
                <a:gd name="T89" fmla="*/ 26 h 21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4"/>
                <a:gd name="T136" fmla="*/ 0 h 218"/>
                <a:gd name="T137" fmla="*/ 124 w 124"/>
                <a:gd name="T138" fmla="*/ 218 h 21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4" h="218">
                  <a:moveTo>
                    <a:pt x="30" y="110"/>
                  </a:moveTo>
                  <a:lnTo>
                    <a:pt x="30" y="118"/>
                  </a:lnTo>
                  <a:lnTo>
                    <a:pt x="29" y="126"/>
                  </a:lnTo>
                  <a:lnTo>
                    <a:pt x="29" y="134"/>
                  </a:lnTo>
                  <a:lnTo>
                    <a:pt x="28" y="142"/>
                  </a:lnTo>
                  <a:lnTo>
                    <a:pt x="29" y="143"/>
                  </a:lnTo>
                  <a:lnTo>
                    <a:pt x="30" y="144"/>
                  </a:lnTo>
                  <a:lnTo>
                    <a:pt x="30" y="145"/>
                  </a:lnTo>
                  <a:lnTo>
                    <a:pt x="31" y="143"/>
                  </a:lnTo>
                  <a:lnTo>
                    <a:pt x="35" y="142"/>
                  </a:lnTo>
                  <a:lnTo>
                    <a:pt x="38" y="142"/>
                  </a:lnTo>
                  <a:lnTo>
                    <a:pt x="43" y="142"/>
                  </a:lnTo>
                  <a:lnTo>
                    <a:pt x="49" y="144"/>
                  </a:lnTo>
                  <a:lnTo>
                    <a:pt x="56" y="148"/>
                  </a:lnTo>
                  <a:lnTo>
                    <a:pt x="60" y="152"/>
                  </a:lnTo>
                  <a:lnTo>
                    <a:pt x="63" y="153"/>
                  </a:lnTo>
                  <a:lnTo>
                    <a:pt x="61" y="156"/>
                  </a:lnTo>
                  <a:lnTo>
                    <a:pt x="58" y="157"/>
                  </a:lnTo>
                  <a:lnTo>
                    <a:pt x="55" y="159"/>
                  </a:lnTo>
                  <a:lnTo>
                    <a:pt x="49" y="160"/>
                  </a:lnTo>
                  <a:lnTo>
                    <a:pt x="43" y="160"/>
                  </a:lnTo>
                  <a:lnTo>
                    <a:pt x="37" y="161"/>
                  </a:lnTo>
                  <a:lnTo>
                    <a:pt x="31" y="161"/>
                  </a:lnTo>
                  <a:lnTo>
                    <a:pt x="27" y="160"/>
                  </a:lnTo>
                  <a:lnTo>
                    <a:pt x="26" y="160"/>
                  </a:lnTo>
                  <a:lnTo>
                    <a:pt x="26" y="159"/>
                  </a:lnTo>
                  <a:lnTo>
                    <a:pt x="23" y="173"/>
                  </a:lnTo>
                  <a:lnTo>
                    <a:pt x="21" y="186"/>
                  </a:lnTo>
                  <a:lnTo>
                    <a:pt x="20" y="199"/>
                  </a:lnTo>
                  <a:lnTo>
                    <a:pt x="20" y="212"/>
                  </a:lnTo>
                  <a:lnTo>
                    <a:pt x="22" y="213"/>
                  </a:lnTo>
                  <a:lnTo>
                    <a:pt x="26" y="213"/>
                  </a:lnTo>
                  <a:lnTo>
                    <a:pt x="29" y="214"/>
                  </a:lnTo>
                  <a:lnTo>
                    <a:pt x="34" y="214"/>
                  </a:lnTo>
                  <a:lnTo>
                    <a:pt x="40" y="214"/>
                  </a:lnTo>
                  <a:lnTo>
                    <a:pt x="45" y="213"/>
                  </a:lnTo>
                  <a:lnTo>
                    <a:pt x="52" y="212"/>
                  </a:lnTo>
                  <a:lnTo>
                    <a:pt x="59" y="209"/>
                  </a:lnTo>
                  <a:lnTo>
                    <a:pt x="67" y="205"/>
                  </a:lnTo>
                  <a:lnTo>
                    <a:pt x="75" y="201"/>
                  </a:lnTo>
                  <a:lnTo>
                    <a:pt x="82" y="196"/>
                  </a:lnTo>
                  <a:lnTo>
                    <a:pt x="90" y="191"/>
                  </a:lnTo>
                  <a:lnTo>
                    <a:pt x="89" y="190"/>
                  </a:lnTo>
                  <a:lnTo>
                    <a:pt x="87" y="189"/>
                  </a:lnTo>
                  <a:lnTo>
                    <a:pt x="86" y="188"/>
                  </a:lnTo>
                  <a:lnTo>
                    <a:pt x="83" y="188"/>
                  </a:lnTo>
                  <a:lnTo>
                    <a:pt x="86" y="188"/>
                  </a:lnTo>
                  <a:lnTo>
                    <a:pt x="87" y="189"/>
                  </a:lnTo>
                  <a:lnTo>
                    <a:pt x="89" y="190"/>
                  </a:lnTo>
                  <a:lnTo>
                    <a:pt x="90" y="191"/>
                  </a:lnTo>
                  <a:lnTo>
                    <a:pt x="91" y="191"/>
                  </a:lnTo>
                  <a:lnTo>
                    <a:pt x="93" y="193"/>
                  </a:lnTo>
                  <a:lnTo>
                    <a:pt x="93" y="194"/>
                  </a:lnTo>
                  <a:lnTo>
                    <a:pt x="94" y="195"/>
                  </a:lnTo>
                  <a:lnTo>
                    <a:pt x="95" y="196"/>
                  </a:lnTo>
                  <a:lnTo>
                    <a:pt x="95" y="197"/>
                  </a:lnTo>
                  <a:lnTo>
                    <a:pt x="96" y="199"/>
                  </a:lnTo>
                  <a:lnTo>
                    <a:pt x="96" y="201"/>
                  </a:lnTo>
                  <a:lnTo>
                    <a:pt x="98" y="204"/>
                  </a:lnTo>
                  <a:lnTo>
                    <a:pt x="102" y="208"/>
                  </a:lnTo>
                  <a:lnTo>
                    <a:pt x="106" y="213"/>
                  </a:lnTo>
                  <a:lnTo>
                    <a:pt x="112" y="218"/>
                  </a:lnTo>
                  <a:lnTo>
                    <a:pt x="111" y="213"/>
                  </a:lnTo>
                  <a:lnTo>
                    <a:pt x="110" y="209"/>
                  </a:lnTo>
                  <a:lnTo>
                    <a:pt x="108" y="205"/>
                  </a:lnTo>
                  <a:lnTo>
                    <a:pt x="106" y="201"/>
                  </a:lnTo>
                  <a:lnTo>
                    <a:pt x="106" y="199"/>
                  </a:lnTo>
                  <a:lnTo>
                    <a:pt x="105" y="195"/>
                  </a:lnTo>
                  <a:lnTo>
                    <a:pt x="103" y="189"/>
                  </a:lnTo>
                  <a:lnTo>
                    <a:pt x="102" y="185"/>
                  </a:lnTo>
                  <a:lnTo>
                    <a:pt x="102" y="182"/>
                  </a:lnTo>
                  <a:lnTo>
                    <a:pt x="99" y="172"/>
                  </a:lnTo>
                  <a:lnTo>
                    <a:pt x="98" y="158"/>
                  </a:lnTo>
                  <a:lnTo>
                    <a:pt x="97" y="148"/>
                  </a:lnTo>
                  <a:lnTo>
                    <a:pt x="97" y="142"/>
                  </a:lnTo>
                  <a:lnTo>
                    <a:pt x="97" y="141"/>
                  </a:lnTo>
                  <a:lnTo>
                    <a:pt x="97" y="140"/>
                  </a:lnTo>
                  <a:lnTo>
                    <a:pt x="97" y="133"/>
                  </a:lnTo>
                  <a:lnTo>
                    <a:pt x="99" y="122"/>
                  </a:lnTo>
                  <a:lnTo>
                    <a:pt x="101" y="113"/>
                  </a:lnTo>
                  <a:lnTo>
                    <a:pt x="101" y="108"/>
                  </a:lnTo>
                  <a:lnTo>
                    <a:pt x="102" y="106"/>
                  </a:lnTo>
                  <a:lnTo>
                    <a:pt x="103" y="103"/>
                  </a:lnTo>
                  <a:lnTo>
                    <a:pt x="104" y="99"/>
                  </a:lnTo>
                  <a:lnTo>
                    <a:pt x="105" y="97"/>
                  </a:lnTo>
                  <a:lnTo>
                    <a:pt x="109" y="91"/>
                  </a:lnTo>
                  <a:lnTo>
                    <a:pt x="114" y="82"/>
                  </a:lnTo>
                  <a:lnTo>
                    <a:pt x="120" y="72"/>
                  </a:lnTo>
                  <a:lnTo>
                    <a:pt x="124" y="67"/>
                  </a:lnTo>
                  <a:lnTo>
                    <a:pt x="121" y="58"/>
                  </a:lnTo>
                  <a:lnTo>
                    <a:pt x="118" y="50"/>
                  </a:lnTo>
                  <a:lnTo>
                    <a:pt x="114" y="40"/>
                  </a:lnTo>
                  <a:lnTo>
                    <a:pt x="111" y="31"/>
                  </a:lnTo>
                  <a:lnTo>
                    <a:pt x="103" y="28"/>
                  </a:lnTo>
                  <a:lnTo>
                    <a:pt x="94" y="24"/>
                  </a:lnTo>
                  <a:lnTo>
                    <a:pt x="86" y="21"/>
                  </a:lnTo>
                  <a:lnTo>
                    <a:pt x="78" y="17"/>
                  </a:lnTo>
                  <a:lnTo>
                    <a:pt x="70" y="13"/>
                  </a:lnTo>
                  <a:lnTo>
                    <a:pt x="63" y="8"/>
                  </a:lnTo>
                  <a:lnTo>
                    <a:pt x="55" y="5"/>
                  </a:lnTo>
                  <a:lnTo>
                    <a:pt x="46" y="0"/>
                  </a:lnTo>
                  <a:lnTo>
                    <a:pt x="41" y="14"/>
                  </a:lnTo>
                  <a:lnTo>
                    <a:pt x="34" y="30"/>
                  </a:lnTo>
                  <a:lnTo>
                    <a:pt x="27" y="47"/>
                  </a:lnTo>
                  <a:lnTo>
                    <a:pt x="19" y="63"/>
                  </a:lnTo>
                  <a:lnTo>
                    <a:pt x="12" y="78"/>
                  </a:lnTo>
                  <a:lnTo>
                    <a:pt x="6" y="90"/>
                  </a:lnTo>
                  <a:lnTo>
                    <a:pt x="2" y="98"/>
                  </a:lnTo>
                  <a:lnTo>
                    <a:pt x="0" y="102"/>
                  </a:lnTo>
                  <a:lnTo>
                    <a:pt x="8" y="104"/>
                  </a:lnTo>
                  <a:lnTo>
                    <a:pt x="19" y="106"/>
                  </a:lnTo>
                  <a:lnTo>
                    <a:pt x="27" y="108"/>
                  </a:lnTo>
                  <a:lnTo>
                    <a:pt x="30" y="110"/>
                  </a:lnTo>
                  <a:close/>
                </a:path>
              </a:pathLst>
            </a:custGeom>
            <a:solidFill>
              <a:srgbClr val="FFB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2" name="Freeform 19"/>
            <p:cNvSpPr>
              <a:spLocks/>
            </p:cNvSpPr>
            <p:nvPr/>
          </p:nvSpPr>
          <p:spPr bwMode="auto">
            <a:xfrm>
              <a:off x="4180" y="3811"/>
              <a:ext cx="62" cy="109"/>
            </a:xfrm>
            <a:custGeom>
              <a:avLst/>
              <a:gdLst>
                <a:gd name="T0" fmla="*/ 23 w 125"/>
                <a:gd name="T1" fmla="*/ 25 h 217"/>
                <a:gd name="T2" fmla="*/ 24 w 125"/>
                <a:gd name="T3" fmla="*/ 22 h 217"/>
                <a:gd name="T4" fmla="*/ 24 w 125"/>
                <a:gd name="T5" fmla="*/ 19 h 217"/>
                <a:gd name="T6" fmla="*/ 23 w 125"/>
                <a:gd name="T7" fmla="*/ 19 h 217"/>
                <a:gd name="T8" fmla="*/ 23 w 125"/>
                <a:gd name="T9" fmla="*/ 19 h 217"/>
                <a:gd name="T10" fmla="*/ 21 w 125"/>
                <a:gd name="T11" fmla="*/ 19 h 217"/>
                <a:gd name="T12" fmla="*/ 19 w 125"/>
                <a:gd name="T13" fmla="*/ 19 h 217"/>
                <a:gd name="T14" fmla="*/ 16 w 125"/>
                <a:gd name="T15" fmla="*/ 17 h 217"/>
                <a:gd name="T16" fmla="*/ 16 w 125"/>
                <a:gd name="T17" fmla="*/ 16 h 217"/>
                <a:gd name="T18" fmla="*/ 17 w 125"/>
                <a:gd name="T19" fmla="*/ 15 h 217"/>
                <a:gd name="T20" fmla="*/ 20 w 125"/>
                <a:gd name="T21" fmla="*/ 15 h 217"/>
                <a:gd name="T22" fmla="*/ 23 w 125"/>
                <a:gd name="T23" fmla="*/ 15 h 217"/>
                <a:gd name="T24" fmla="*/ 24 w 125"/>
                <a:gd name="T25" fmla="*/ 15 h 217"/>
                <a:gd name="T26" fmla="*/ 24 w 125"/>
                <a:gd name="T27" fmla="*/ 15 h 217"/>
                <a:gd name="T28" fmla="*/ 25 w 125"/>
                <a:gd name="T29" fmla="*/ 12 h 217"/>
                <a:gd name="T30" fmla="*/ 26 w 125"/>
                <a:gd name="T31" fmla="*/ 5 h 217"/>
                <a:gd name="T32" fmla="*/ 25 w 125"/>
                <a:gd name="T33" fmla="*/ 1 h 217"/>
                <a:gd name="T34" fmla="*/ 23 w 125"/>
                <a:gd name="T35" fmla="*/ 1 h 217"/>
                <a:gd name="T36" fmla="*/ 21 w 125"/>
                <a:gd name="T37" fmla="*/ 1 h 217"/>
                <a:gd name="T38" fmla="*/ 18 w 125"/>
                <a:gd name="T39" fmla="*/ 2 h 217"/>
                <a:gd name="T40" fmla="*/ 14 w 125"/>
                <a:gd name="T41" fmla="*/ 3 h 217"/>
                <a:gd name="T42" fmla="*/ 10 w 125"/>
                <a:gd name="T43" fmla="*/ 6 h 217"/>
                <a:gd name="T44" fmla="*/ 9 w 125"/>
                <a:gd name="T45" fmla="*/ 7 h 217"/>
                <a:gd name="T46" fmla="*/ 10 w 125"/>
                <a:gd name="T47" fmla="*/ 8 h 217"/>
                <a:gd name="T48" fmla="*/ 10 w 125"/>
                <a:gd name="T49" fmla="*/ 8 h 217"/>
                <a:gd name="T50" fmla="*/ 9 w 125"/>
                <a:gd name="T51" fmla="*/ 7 h 217"/>
                <a:gd name="T52" fmla="*/ 8 w 125"/>
                <a:gd name="T53" fmla="*/ 7 h 217"/>
                <a:gd name="T54" fmla="*/ 8 w 125"/>
                <a:gd name="T55" fmla="*/ 7 h 217"/>
                <a:gd name="T56" fmla="*/ 8 w 125"/>
                <a:gd name="T57" fmla="*/ 7 h 217"/>
                <a:gd name="T58" fmla="*/ 8 w 125"/>
                <a:gd name="T59" fmla="*/ 7 h 217"/>
                <a:gd name="T60" fmla="*/ 8 w 125"/>
                <a:gd name="T61" fmla="*/ 7 h 217"/>
                <a:gd name="T62" fmla="*/ 7 w 125"/>
                <a:gd name="T63" fmla="*/ 7 h 217"/>
                <a:gd name="T64" fmla="*/ 7 w 125"/>
                <a:gd name="T65" fmla="*/ 6 h 217"/>
                <a:gd name="T66" fmla="*/ 7 w 125"/>
                <a:gd name="T67" fmla="*/ 6 h 217"/>
                <a:gd name="T68" fmla="*/ 7 w 125"/>
                <a:gd name="T69" fmla="*/ 6 h 217"/>
                <a:gd name="T70" fmla="*/ 7 w 125"/>
                <a:gd name="T71" fmla="*/ 5 h 217"/>
                <a:gd name="T72" fmla="*/ 6 w 125"/>
                <a:gd name="T73" fmla="*/ 4 h 217"/>
                <a:gd name="T74" fmla="*/ 4 w 125"/>
                <a:gd name="T75" fmla="*/ 2 h 217"/>
                <a:gd name="T76" fmla="*/ 5 w 125"/>
                <a:gd name="T77" fmla="*/ 6 h 217"/>
                <a:gd name="T78" fmla="*/ 7 w 125"/>
                <a:gd name="T79" fmla="*/ 16 h 217"/>
                <a:gd name="T80" fmla="*/ 6 w 125"/>
                <a:gd name="T81" fmla="*/ 26 h 217"/>
                <a:gd name="T82" fmla="*/ 3 w 125"/>
                <a:gd name="T83" fmla="*/ 35 h 217"/>
                <a:gd name="T84" fmla="*/ 1 w 125"/>
                <a:gd name="T85" fmla="*/ 40 h 217"/>
                <a:gd name="T86" fmla="*/ 2 w 125"/>
                <a:gd name="T87" fmla="*/ 45 h 217"/>
                <a:gd name="T88" fmla="*/ 5 w 125"/>
                <a:gd name="T89" fmla="*/ 48 h 217"/>
                <a:gd name="T90" fmla="*/ 9 w 125"/>
                <a:gd name="T91" fmla="*/ 50 h 217"/>
                <a:gd name="T92" fmla="*/ 13 w 125"/>
                <a:gd name="T93" fmla="*/ 52 h 217"/>
                <a:gd name="T94" fmla="*/ 17 w 125"/>
                <a:gd name="T95" fmla="*/ 54 h 217"/>
                <a:gd name="T96" fmla="*/ 21 w 125"/>
                <a:gd name="T97" fmla="*/ 51 h 217"/>
                <a:gd name="T98" fmla="*/ 24 w 125"/>
                <a:gd name="T99" fmla="*/ 43 h 217"/>
                <a:gd name="T100" fmla="*/ 28 w 125"/>
                <a:gd name="T101" fmla="*/ 35 h 217"/>
                <a:gd name="T102" fmla="*/ 30 w 125"/>
                <a:gd name="T103" fmla="*/ 30 h 217"/>
                <a:gd name="T104" fmla="*/ 29 w 125"/>
                <a:gd name="T105" fmla="*/ 29 h 217"/>
                <a:gd name="T106" fmla="*/ 24 w 125"/>
                <a:gd name="T107" fmla="*/ 28 h 21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w 125"/>
                <a:gd name="T163" fmla="*/ 0 h 217"/>
                <a:gd name="T164" fmla="*/ 125 w 125"/>
                <a:gd name="T165" fmla="*/ 217 h 217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T162" t="T163" r="T164" b="T165"/>
              <a:pathLst>
                <a:path w="125" h="217">
                  <a:moveTo>
                    <a:pt x="95" y="108"/>
                  </a:moveTo>
                  <a:lnTo>
                    <a:pt x="95" y="100"/>
                  </a:lnTo>
                  <a:lnTo>
                    <a:pt x="96" y="91"/>
                  </a:lnTo>
                  <a:lnTo>
                    <a:pt x="96" y="85"/>
                  </a:lnTo>
                  <a:lnTo>
                    <a:pt x="97" y="76"/>
                  </a:lnTo>
                  <a:lnTo>
                    <a:pt x="96" y="75"/>
                  </a:lnTo>
                  <a:lnTo>
                    <a:pt x="96" y="74"/>
                  </a:lnTo>
                  <a:lnTo>
                    <a:pt x="95" y="74"/>
                  </a:lnTo>
                  <a:lnTo>
                    <a:pt x="95" y="73"/>
                  </a:lnTo>
                  <a:lnTo>
                    <a:pt x="94" y="75"/>
                  </a:lnTo>
                  <a:lnTo>
                    <a:pt x="90" y="76"/>
                  </a:lnTo>
                  <a:lnTo>
                    <a:pt x="87" y="76"/>
                  </a:lnTo>
                  <a:lnTo>
                    <a:pt x="82" y="76"/>
                  </a:lnTo>
                  <a:lnTo>
                    <a:pt x="76" y="74"/>
                  </a:lnTo>
                  <a:lnTo>
                    <a:pt x="69" y="71"/>
                  </a:lnTo>
                  <a:lnTo>
                    <a:pt x="65" y="66"/>
                  </a:lnTo>
                  <a:lnTo>
                    <a:pt x="62" y="65"/>
                  </a:lnTo>
                  <a:lnTo>
                    <a:pt x="64" y="63"/>
                  </a:lnTo>
                  <a:lnTo>
                    <a:pt x="67" y="62"/>
                  </a:lnTo>
                  <a:lnTo>
                    <a:pt x="70" y="59"/>
                  </a:lnTo>
                  <a:lnTo>
                    <a:pt x="75" y="58"/>
                  </a:lnTo>
                  <a:lnTo>
                    <a:pt x="81" y="58"/>
                  </a:lnTo>
                  <a:lnTo>
                    <a:pt x="87" y="57"/>
                  </a:lnTo>
                  <a:lnTo>
                    <a:pt x="92" y="57"/>
                  </a:lnTo>
                  <a:lnTo>
                    <a:pt x="98" y="58"/>
                  </a:lnTo>
                  <a:lnTo>
                    <a:pt x="99" y="58"/>
                  </a:lnTo>
                  <a:lnTo>
                    <a:pt x="102" y="45"/>
                  </a:lnTo>
                  <a:lnTo>
                    <a:pt x="104" y="32"/>
                  </a:lnTo>
                  <a:lnTo>
                    <a:pt x="105" y="18"/>
                  </a:lnTo>
                  <a:lnTo>
                    <a:pt x="105" y="5"/>
                  </a:lnTo>
                  <a:lnTo>
                    <a:pt x="102" y="4"/>
                  </a:lnTo>
                  <a:lnTo>
                    <a:pt x="98" y="4"/>
                  </a:lnTo>
                  <a:lnTo>
                    <a:pt x="95" y="4"/>
                  </a:lnTo>
                  <a:lnTo>
                    <a:pt x="91" y="3"/>
                  </a:lnTo>
                  <a:lnTo>
                    <a:pt x="85" y="3"/>
                  </a:lnTo>
                  <a:lnTo>
                    <a:pt x="80" y="4"/>
                  </a:lnTo>
                  <a:lnTo>
                    <a:pt x="73" y="6"/>
                  </a:lnTo>
                  <a:lnTo>
                    <a:pt x="66" y="8"/>
                  </a:lnTo>
                  <a:lnTo>
                    <a:pt x="58" y="12"/>
                  </a:lnTo>
                  <a:lnTo>
                    <a:pt x="50" y="17"/>
                  </a:lnTo>
                  <a:lnTo>
                    <a:pt x="43" y="21"/>
                  </a:lnTo>
                  <a:lnTo>
                    <a:pt x="35" y="27"/>
                  </a:lnTo>
                  <a:lnTo>
                    <a:pt x="37" y="28"/>
                  </a:lnTo>
                  <a:lnTo>
                    <a:pt x="38" y="28"/>
                  </a:lnTo>
                  <a:lnTo>
                    <a:pt x="41" y="29"/>
                  </a:lnTo>
                  <a:lnTo>
                    <a:pt x="42" y="30"/>
                  </a:lnTo>
                  <a:lnTo>
                    <a:pt x="41" y="29"/>
                  </a:lnTo>
                  <a:lnTo>
                    <a:pt x="38" y="28"/>
                  </a:lnTo>
                  <a:lnTo>
                    <a:pt x="37" y="28"/>
                  </a:lnTo>
                  <a:lnTo>
                    <a:pt x="35" y="27"/>
                  </a:lnTo>
                  <a:lnTo>
                    <a:pt x="34" y="27"/>
                  </a:lnTo>
                  <a:lnTo>
                    <a:pt x="34" y="26"/>
                  </a:lnTo>
                  <a:lnTo>
                    <a:pt x="32" y="26"/>
                  </a:lnTo>
                  <a:lnTo>
                    <a:pt x="32" y="25"/>
                  </a:lnTo>
                  <a:lnTo>
                    <a:pt x="31" y="25"/>
                  </a:lnTo>
                  <a:lnTo>
                    <a:pt x="31" y="23"/>
                  </a:lnTo>
                  <a:lnTo>
                    <a:pt x="31" y="22"/>
                  </a:lnTo>
                  <a:lnTo>
                    <a:pt x="30" y="22"/>
                  </a:lnTo>
                  <a:lnTo>
                    <a:pt x="30" y="21"/>
                  </a:lnTo>
                  <a:lnTo>
                    <a:pt x="30" y="20"/>
                  </a:lnTo>
                  <a:lnTo>
                    <a:pt x="29" y="19"/>
                  </a:lnTo>
                  <a:lnTo>
                    <a:pt x="29" y="18"/>
                  </a:lnTo>
                  <a:lnTo>
                    <a:pt x="27" y="14"/>
                  </a:lnTo>
                  <a:lnTo>
                    <a:pt x="23" y="10"/>
                  </a:lnTo>
                  <a:lnTo>
                    <a:pt x="19" y="5"/>
                  </a:lnTo>
                  <a:lnTo>
                    <a:pt x="13" y="0"/>
                  </a:lnTo>
                  <a:lnTo>
                    <a:pt x="20" y="21"/>
                  </a:lnTo>
                  <a:lnTo>
                    <a:pt x="26" y="42"/>
                  </a:lnTo>
                  <a:lnTo>
                    <a:pt x="28" y="63"/>
                  </a:lnTo>
                  <a:lnTo>
                    <a:pt x="28" y="83"/>
                  </a:lnTo>
                  <a:lnTo>
                    <a:pt x="26" y="103"/>
                  </a:lnTo>
                  <a:lnTo>
                    <a:pt x="20" y="121"/>
                  </a:lnTo>
                  <a:lnTo>
                    <a:pt x="12" y="138"/>
                  </a:lnTo>
                  <a:lnTo>
                    <a:pt x="0" y="151"/>
                  </a:lnTo>
                  <a:lnTo>
                    <a:pt x="4" y="159"/>
                  </a:lnTo>
                  <a:lnTo>
                    <a:pt x="7" y="169"/>
                  </a:lnTo>
                  <a:lnTo>
                    <a:pt x="11" y="178"/>
                  </a:lnTo>
                  <a:lnTo>
                    <a:pt x="13" y="187"/>
                  </a:lnTo>
                  <a:lnTo>
                    <a:pt x="21" y="191"/>
                  </a:lnTo>
                  <a:lnTo>
                    <a:pt x="30" y="194"/>
                  </a:lnTo>
                  <a:lnTo>
                    <a:pt x="38" y="197"/>
                  </a:lnTo>
                  <a:lnTo>
                    <a:pt x="46" y="201"/>
                  </a:lnTo>
                  <a:lnTo>
                    <a:pt x="54" y="206"/>
                  </a:lnTo>
                  <a:lnTo>
                    <a:pt x="62" y="209"/>
                  </a:lnTo>
                  <a:lnTo>
                    <a:pt x="70" y="214"/>
                  </a:lnTo>
                  <a:lnTo>
                    <a:pt x="79" y="217"/>
                  </a:lnTo>
                  <a:lnTo>
                    <a:pt x="84" y="203"/>
                  </a:lnTo>
                  <a:lnTo>
                    <a:pt x="91" y="188"/>
                  </a:lnTo>
                  <a:lnTo>
                    <a:pt x="98" y="171"/>
                  </a:lnTo>
                  <a:lnTo>
                    <a:pt x="106" y="155"/>
                  </a:lnTo>
                  <a:lnTo>
                    <a:pt x="113" y="140"/>
                  </a:lnTo>
                  <a:lnTo>
                    <a:pt x="119" y="128"/>
                  </a:lnTo>
                  <a:lnTo>
                    <a:pt x="123" y="120"/>
                  </a:lnTo>
                  <a:lnTo>
                    <a:pt x="125" y="117"/>
                  </a:lnTo>
                  <a:lnTo>
                    <a:pt x="117" y="115"/>
                  </a:lnTo>
                  <a:lnTo>
                    <a:pt x="106" y="112"/>
                  </a:lnTo>
                  <a:lnTo>
                    <a:pt x="98" y="109"/>
                  </a:lnTo>
                  <a:lnTo>
                    <a:pt x="95" y="108"/>
                  </a:lnTo>
                  <a:close/>
                </a:path>
              </a:pathLst>
            </a:custGeom>
            <a:solidFill>
              <a:srgbClr val="FFB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3" name="Freeform 20"/>
            <p:cNvSpPr>
              <a:spLocks/>
            </p:cNvSpPr>
            <p:nvPr/>
          </p:nvSpPr>
          <p:spPr bwMode="auto">
            <a:xfrm>
              <a:off x="4223" y="3440"/>
              <a:ext cx="45" cy="106"/>
            </a:xfrm>
            <a:custGeom>
              <a:avLst/>
              <a:gdLst>
                <a:gd name="T0" fmla="*/ 11 w 91"/>
                <a:gd name="T1" fmla="*/ 25 h 212"/>
                <a:gd name="T2" fmla="*/ 14 w 91"/>
                <a:gd name="T3" fmla="*/ 20 h 212"/>
                <a:gd name="T4" fmla="*/ 18 w 91"/>
                <a:gd name="T5" fmla="*/ 12 h 212"/>
                <a:gd name="T6" fmla="*/ 21 w 91"/>
                <a:gd name="T7" fmla="*/ 3 h 212"/>
                <a:gd name="T8" fmla="*/ 21 w 91"/>
                <a:gd name="T9" fmla="*/ 1 h 212"/>
                <a:gd name="T10" fmla="*/ 17 w 91"/>
                <a:gd name="T11" fmla="*/ 1 h 212"/>
                <a:gd name="T12" fmla="*/ 14 w 91"/>
                <a:gd name="T13" fmla="*/ 2 h 212"/>
                <a:gd name="T14" fmla="*/ 10 w 91"/>
                <a:gd name="T15" fmla="*/ 3 h 212"/>
                <a:gd name="T16" fmla="*/ 7 w 91"/>
                <a:gd name="T17" fmla="*/ 3 h 212"/>
                <a:gd name="T18" fmla="*/ 3 w 91"/>
                <a:gd name="T19" fmla="*/ 3 h 212"/>
                <a:gd name="T20" fmla="*/ 1 w 91"/>
                <a:gd name="T21" fmla="*/ 11 h 212"/>
                <a:gd name="T22" fmla="*/ 0 w 91"/>
                <a:gd name="T23" fmla="*/ 27 h 212"/>
                <a:gd name="T24" fmla="*/ 2 w 91"/>
                <a:gd name="T25" fmla="*/ 41 h 212"/>
                <a:gd name="T26" fmla="*/ 10 w 91"/>
                <a:gd name="T27" fmla="*/ 51 h 212"/>
                <a:gd name="T28" fmla="*/ 16 w 91"/>
                <a:gd name="T29" fmla="*/ 53 h 212"/>
                <a:gd name="T30" fmla="*/ 16 w 91"/>
                <a:gd name="T31" fmla="*/ 51 h 212"/>
                <a:gd name="T32" fmla="*/ 16 w 91"/>
                <a:gd name="T33" fmla="*/ 51 h 212"/>
                <a:gd name="T34" fmla="*/ 16 w 91"/>
                <a:gd name="T35" fmla="*/ 49 h 212"/>
                <a:gd name="T36" fmla="*/ 16 w 91"/>
                <a:gd name="T37" fmla="*/ 48 h 212"/>
                <a:gd name="T38" fmla="*/ 16 w 91"/>
                <a:gd name="T39" fmla="*/ 48 h 212"/>
                <a:gd name="T40" fmla="*/ 16 w 91"/>
                <a:gd name="T41" fmla="*/ 48 h 212"/>
                <a:gd name="T42" fmla="*/ 17 w 91"/>
                <a:gd name="T43" fmla="*/ 44 h 212"/>
                <a:gd name="T44" fmla="*/ 17 w 91"/>
                <a:gd name="T45" fmla="*/ 40 h 212"/>
                <a:gd name="T46" fmla="*/ 12 w 91"/>
                <a:gd name="T47" fmla="*/ 38 h 212"/>
                <a:gd name="T48" fmla="*/ 10 w 91"/>
                <a:gd name="T49" fmla="*/ 36 h 212"/>
                <a:gd name="T50" fmla="*/ 12 w 91"/>
                <a:gd name="T51" fmla="*/ 35 h 212"/>
                <a:gd name="T52" fmla="*/ 16 w 91"/>
                <a:gd name="T53" fmla="*/ 35 h 212"/>
                <a:gd name="T54" fmla="*/ 17 w 91"/>
                <a:gd name="T55" fmla="*/ 35 h 212"/>
                <a:gd name="T56" fmla="*/ 18 w 91"/>
                <a:gd name="T57" fmla="*/ 36 h 212"/>
                <a:gd name="T58" fmla="*/ 18 w 91"/>
                <a:gd name="T59" fmla="*/ 31 h 212"/>
                <a:gd name="T60" fmla="*/ 18 w 91"/>
                <a:gd name="T61" fmla="*/ 27 h 212"/>
                <a:gd name="T62" fmla="*/ 16 w 91"/>
                <a:gd name="T63" fmla="*/ 27 h 212"/>
                <a:gd name="T64" fmla="*/ 11 w 91"/>
                <a:gd name="T65" fmla="*/ 26 h 21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91"/>
                <a:gd name="T100" fmla="*/ 0 h 212"/>
                <a:gd name="T101" fmla="*/ 91 w 91"/>
                <a:gd name="T102" fmla="*/ 212 h 212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91" h="212">
                  <a:moveTo>
                    <a:pt x="45" y="102"/>
                  </a:moveTo>
                  <a:lnTo>
                    <a:pt x="47" y="98"/>
                  </a:lnTo>
                  <a:lnTo>
                    <a:pt x="51" y="90"/>
                  </a:lnTo>
                  <a:lnTo>
                    <a:pt x="57" y="78"/>
                  </a:lnTo>
                  <a:lnTo>
                    <a:pt x="64" y="63"/>
                  </a:lnTo>
                  <a:lnTo>
                    <a:pt x="72" y="47"/>
                  </a:lnTo>
                  <a:lnTo>
                    <a:pt x="79" y="30"/>
                  </a:lnTo>
                  <a:lnTo>
                    <a:pt x="86" y="14"/>
                  </a:lnTo>
                  <a:lnTo>
                    <a:pt x="91" y="0"/>
                  </a:lnTo>
                  <a:lnTo>
                    <a:pt x="85" y="1"/>
                  </a:lnTo>
                  <a:lnTo>
                    <a:pt x="76" y="1"/>
                  </a:lnTo>
                  <a:lnTo>
                    <a:pt x="70" y="2"/>
                  </a:lnTo>
                  <a:lnTo>
                    <a:pt x="63" y="4"/>
                  </a:lnTo>
                  <a:lnTo>
                    <a:pt x="56" y="6"/>
                  </a:lnTo>
                  <a:lnTo>
                    <a:pt x="50" y="8"/>
                  </a:lnTo>
                  <a:lnTo>
                    <a:pt x="43" y="9"/>
                  </a:lnTo>
                  <a:lnTo>
                    <a:pt x="36" y="12"/>
                  </a:lnTo>
                  <a:lnTo>
                    <a:pt x="29" y="13"/>
                  </a:lnTo>
                  <a:lnTo>
                    <a:pt x="22" y="13"/>
                  </a:lnTo>
                  <a:lnTo>
                    <a:pt x="15" y="13"/>
                  </a:lnTo>
                  <a:lnTo>
                    <a:pt x="9" y="12"/>
                  </a:lnTo>
                  <a:lnTo>
                    <a:pt x="4" y="43"/>
                  </a:lnTo>
                  <a:lnTo>
                    <a:pt x="2" y="74"/>
                  </a:lnTo>
                  <a:lnTo>
                    <a:pt x="0" y="105"/>
                  </a:lnTo>
                  <a:lnTo>
                    <a:pt x="4" y="135"/>
                  </a:lnTo>
                  <a:lnTo>
                    <a:pt x="11" y="163"/>
                  </a:lnTo>
                  <a:lnTo>
                    <a:pt x="23" y="185"/>
                  </a:lnTo>
                  <a:lnTo>
                    <a:pt x="41" y="202"/>
                  </a:lnTo>
                  <a:lnTo>
                    <a:pt x="65" y="212"/>
                  </a:lnTo>
                  <a:lnTo>
                    <a:pt x="65" y="210"/>
                  </a:lnTo>
                  <a:lnTo>
                    <a:pt x="65" y="206"/>
                  </a:lnTo>
                  <a:lnTo>
                    <a:pt x="65" y="204"/>
                  </a:lnTo>
                  <a:lnTo>
                    <a:pt x="65" y="201"/>
                  </a:lnTo>
                  <a:lnTo>
                    <a:pt x="65" y="198"/>
                  </a:lnTo>
                  <a:lnTo>
                    <a:pt x="65" y="195"/>
                  </a:lnTo>
                  <a:lnTo>
                    <a:pt x="65" y="193"/>
                  </a:lnTo>
                  <a:lnTo>
                    <a:pt x="66" y="190"/>
                  </a:lnTo>
                  <a:lnTo>
                    <a:pt x="67" y="182"/>
                  </a:lnTo>
                  <a:lnTo>
                    <a:pt x="68" y="174"/>
                  </a:lnTo>
                  <a:lnTo>
                    <a:pt x="70" y="167"/>
                  </a:lnTo>
                  <a:lnTo>
                    <a:pt x="71" y="159"/>
                  </a:lnTo>
                  <a:lnTo>
                    <a:pt x="60" y="156"/>
                  </a:lnTo>
                  <a:lnTo>
                    <a:pt x="51" y="150"/>
                  </a:lnTo>
                  <a:lnTo>
                    <a:pt x="44" y="144"/>
                  </a:lnTo>
                  <a:lnTo>
                    <a:pt x="42" y="142"/>
                  </a:lnTo>
                  <a:lnTo>
                    <a:pt x="44" y="141"/>
                  </a:lnTo>
                  <a:lnTo>
                    <a:pt x="50" y="140"/>
                  </a:lnTo>
                  <a:lnTo>
                    <a:pt x="58" y="138"/>
                  </a:lnTo>
                  <a:lnTo>
                    <a:pt x="64" y="138"/>
                  </a:lnTo>
                  <a:lnTo>
                    <a:pt x="66" y="138"/>
                  </a:lnTo>
                  <a:lnTo>
                    <a:pt x="68" y="140"/>
                  </a:lnTo>
                  <a:lnTo>
                    <a:pt x="71" y="141"/>
                  </a:lnTo>
                  <a:lnTo>
                    <a:pt x="73" y="142"/>
                  </a:lnTo>
                  <a:lnTo>
                    <a:pt x="74" y="134"/>
                  </a:lnTo>
                  <a:lnTo>
                    <a:pt x="74" y="126"/>
                  </a:lnTo>
                  <a:lnTo>
                    <a:pt x="75" y="118"/>
                  </a:lnTo>
                  <a:lnTo>
                    <a:pt x="75" y="110"/>
                  </a:lnTo>
                  <a:lnTo>
                    <a:pt x="72" y="108"/>
                  </a:lnTo>
                  <a:lnTo>
                    <a:pt x="64" y="106"/>
                  </a:lnTo>
                  <a:lnTo>
                    <a:pt x="53" y="104"/>
                  </a:lnTo>
                  <a:lnTo>
                    <a:pt x="45" y="102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4" name="Freeform 21"/>
            <p:cNvSpPr>
              <a:spLocks/>
            </p:cNvSpPr>
            <p:nvPr/>
          </p:nvSpPr>
          <p:spPr bwMode="auto">
            <a:xfrm>
              <a:off x="4219" y="3814"/>
              <a:ext cx="45" cy="106"/>
            </a:xfrm>
            <a:custGeom>
              <a:avLst/>
              <a:gdLst>
                <a:gd name="T0" fmla="*/ 7 w 89"/>
                <a:gd name="T1" fmla="*/ 1 h 212"/>
                <a:gd name="T2" fmla="*/ 7 w 89"/>
                <a:gd name="T3" fmla="*/ 3 h 212"/>
                <a:gd name="T4" fmla="*/ 7 w 89"/>
                <a:gd name="T5" fmla="*/ 3 h 212"/>
                <a:gd name="T6" fmla="*/ 7 w 89"/>
                <a:gd name="T7" fmla="*/ 3 h 212"/>
                <a:gd name="T8" fmla="*/ 7 w 89"/>
                <a:gd name="T9" fmla="*/ 3 h 212"/>
                <a:gd name="T10" fmla="*/ 7 w 89"/>
                <a:gd name="T11" fmla="*/ 6 h 212"/>
                <a:gd name="T12" fmla="*/ 7 w 89"/>
                <a:gd name="T13" fmla="*/ 6 h 212"/>
                <a:gd name="T14" fmla="*/ 7 w 89"/>
                <a:gd name="T15" fmla="*/ 6 h 212"/>
                <a:gd name="T16" fmla="*/ 6 w 89"/>
                <a:gd name="T17" fmla="*/ 7 h 212"/>
                <a:gd name="T18" fmla="*/ 6 w 89"/>
                <a:gd name="T19" fmla="*/ 12 h 212"/>
                <a:gd name="T20" fmla="*/ 8 w 89"/>
                <a:gd name="T21" fmla="*/ 14 h 212"/>
                <a:gd name="T22" fmla="*/ 12 w 89"/>
                <a:gd name="T23" fmla="*/ 17 h 212"/>
                <a:gd name="T24" fmla="*/ 12 w 89"/>
                <a:gd name="T25" fmla="*/ 18 h 212"/>
                <a:gd name="T26" fmla="*/ 9 w 89"/>
                <a:gd name="T27" fmla="*/ 19 h 212"/>
                <a:gd name="T28" fmla="*/ 7 w 89"/>
                <a:gd name="T29" fmla="*/ 19 h 212"/>
                <a:gd name="T30" fmla="*/ 5 w 89"/>
                <a:gd name="T31" fmla="*/ 19 h 212"/>
                <a:gd name="T32" fmla="*/ 5 w 89"/>
                <a:gd name="T33" fmla="*/ 20 h 212"/>
                <a:gd name="T34" fmla="*/ 4 w 89"/>
                <a:gd name="T35" fmla="*/ 24 h 212"/>
                <a:gd name="T36" fmla="*/ 5 w 89"/>
                <a:gd name="T37" fmla="*/ 26 h 212"/>
                <a:gd name="T38" fmla="*/ 10 w 89"/>
                <a:gd name="T39" fmla="*/ 27 h 212"/>
                <a:gd name="T40" fmla="*/ 11 w 89"/>
                <a:gd name="T41" fmla="*/ 28 h 212"/>
                <a:gd name="T42" fmla="*/ 9 w 89"/>
                <a:gd name="T43" fmla="*/ 34 h 212"/>
                <a:gd name="T44" fmla="*/ 5 w 89"/>
                <a:gd name="T45" fmla="*/ 42 h 212"/>
                <a:gd name="T46" fmla="*/ 2 w 89"/>
                <a:gd name="T47" fmla="*/ 50 h 212"/>
                <a:gd name="T48" fmla="*/ 2 w 89"/>
                <a:gd name="T49" fmla="*/ 53 h 212"/>
                <a:gd name="T50" fmla="*/ 6 w 89"/>
                <a:gd name="T51" fmla="*/ 53 h 212"/>
                <a:gd name="T52" fmla="*/ 9 w 89"/>
                <a:gd name="T53" fmla="*/ 52 h 212"/>
                <a:gd name="T54" fmla="*/ 12 w 89"/>
                <a:gd name="T55" fmla="*/ 51 h 212"/>
                <a:gd name="T56" fmla="*/ 16 w 89"/>
                <a:gd name="T57" fmla="*/ 51 h 212"/>
                <a:gd name="T58" fmla="*/ 19 w 89"/>
                <a:gd name="T59" fmla="*/ 50 h 212"/>
                <a:gd name="T60" fmla="*/ 22 w 89"/>
                <a:gd name="T61" fmla="*/ 43 h 212"/>
                <a:gd name="T62" fmla="*/ 23 w 89"/>
                <a:gd name="T63" fmla="*/ 27 h 212"/>
                <a:gd name="T64" fmla="*/ 20 w 89"/>
                <a:gd name="T65" fmla="*/ 13 h 212"/>
                <a:gd name="T66" fmla="*/ 13 w 89"/>
                <a:gd name="T67" fmla="*/ 3 h 21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89"/>
                <a:gd name="T103" fmla="*/ 0 h 212"/>
                <a:gd name="T104" fmla="*/ 89 w 89"/>
                <a:gd name="T105" fmla="*/ 212 h 21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89" h="212">
                  <a:moveTo>
                    <a:pt x="26" y="0"/>
                  </a:moveTo>
                  <a:lnTo>
                    <a:pt x="26" y="3"/>
                  </a:lnTo>
                  <a:lnTo>
                    <a:pt x="26" y="6"/>
                  </a:lnTo>
                  <a:lnTo>
                    <a:pt x="26" y="9"/>
                  </a:lnTo>
                  <a:lnTo>
                    <a:pt x="26" y="12"/>
                  </a:lnTo>
                  <a:lnTo>
                    <a:pt x="26" y="15"/>
                  </a:lnTo>
                  <a:lnTo>
                    <a:pt x="26" y="17"/>
                  </a:lnTo>
                  <a:lnTo>
                    <a:pt x="25" y="21"/>
                  </a:lnTo>
                  <a:lnTo>
                    <a:pt x="25" y="23"/>
                  </a:lnTo>
                  <a:lnTo>
                    <a:pt x="24" y="31"/>
                  </a:lnTo>
                  <a:lnTo>
                    <a:pt x="23" y="38"/>
                  </a:lnTo>
                  <a:lnTo>
                    <a:pt x="21" y="45"/>
                  </a:lnTo>
                  <a:lnTo>
                    <a:pt x="20" y="53"/>
                  </a:lnTo>
                  <a:lnTo>
                    <a:pt x="31" y="58"/>
                  </a:lnTo>
                  <a:lnTo>
                    <a:pt x="40" y="63"/>
                  </a:lnTo>
                  <a:lnTo>
                    <a:pt x="47" y="68"/>
                  </a:lnTo>
                  <a:lnTo>
                    <a:pt x="49" y="70"/>
                  </a:lnTo>
                  <a:lnTo>
                    <a:pt x="47" y="71"/>
                  </a:lnTo>
                  <a:lnTo>
                    <a:pt x="41" y="74"/>
                  </a:lnTo>
                  <a:lnTo>
                    <a:pt x="34" y="75"/>
                  </a:lnTo>
                  <a:lnTo>
                    <a:pt x="27" y="75"/>
                  </a:lnTo>
                  <a:lnTo>
                    <a:pt x="25" y="75"/>
                  </a:lnTo>
                  <a:lnTo>
                    <a:pt x="23" y="74"/>
                  </a:lnTo>
                  <a:lnTo>
                    <a:pt x="20" y="73"/>
                  </a:lnTo>
                  <a:lnTo>
                    <a:pt x="18" y="71"/>
                  </a:lnTo>
                  <a:lnTo>
                    <a:pt x="17" y="80"/>
                  </a:lnTo>
                  <a:lnTo>
                    <a:pt x="17" y="86"/>
                  </a:lnTo>
                  <a:lnTo>
                    <a:pt x="16" y="95"/>
                  </a:lnTo>
                  <a:lnTo>
                    <a:pt x="16" y="103"/>
                  </a:lnTo>
                  <a:lnTo>
                    <a:pt x="19" y="104"/>
                  </a:lnTo>
                  <a:lnTo>
                    <a:pt x="27" y="107"/>
                  </a:lnTo>
                  <a:lnTo>
                    <a:pt x="38" y="110"/>
                  </a:lnTo>
                  <a:lnTo>
                    <a:pt x="46" y="112"/>
                  </a:lnTo>
                  <a:lnTo>
                    <a:pt x="44" y="115"/>
                  </a:lnTo>
                  <a:lnTo>
                    <a:pt x="40" y="123"/>
                  </a:lnTo>
                  <a:lnTo>
                    <a:pt x="34" y="135"/>
                  </a:lnTo>
                  <a:lnTo>
                    <a:pt x="27" y="150"/>
                  </a:lnTo>
                  <a:lnTo>
                    <a:pt x="19" y="166"/>
                  </a:lnTo>
                  <a:lnTo>
                    <a:pt x="12" y="183"/>
                  </a:lnTo>
                  <a:lnTo>
                    <a:pt x="5" y="198"/>
                  </a:lnTo>
                  <a:lnTo>
                    <a:pt x="0" y="212"/>
                  </a:lnTo>
                  <a:lnTo>
                    <a:pt x="6" y="212"/>
                  </a:lnTo>
                  <a:lnTo>
                    <a:pt x="15" y="211"/>
                  </a:lnTo>
                  <a:lnTo>
                    <a:pt x="21" y="211"/>
                  </a:lnTo>
                  <a:lnTo>
                    <a:pt x="28" y="210"/>
                  </a:lnTo>
                  <a:lnTo>
                    <a:pt x="34" y="207"/>
                  </a:lnTo>
                  <a:lnTo>
                    <a:pt x="41" y="205"/>
                  </a:lnTo>
                  <a:lnTo>
                    <a:pt x="48" y="203"/>
                  </a:lnTo>
                  <a:lnTo>
                    <a:pt x="55" y="202"/>
                  </a:lnTo>
                  <a:lnTo>
                    <a:pt x="62" y="201"/>
                  </a:lnTo>
                  <a:lnTo>
                    <a:pt x="68" y="199"/>
                  </a:lnTo>
                  <a:lnTo>
                    <a:pt x="74" y="199"/>
                  </a:lnTo>
                  <a:lnTo>
                    <a:pt x="81" y="201"/>
                  </a:lnTo>
                  <a:lnTo>
                    <a:pt x="86" y="171"/>
                  </a:lnTo>
                  <a:lnTo>
                    <a:pt x="89" y="138"/>
                  </a:lnTo>
                  <a:lnTo>
                    <a:pt x="89" y="107"/>
                  </a:lnTo>
                  <a:lnTo>
                    <a:pt x="87" y="77"/>
                  </a:lnTo>
                  <a:lnTo>
                    <a:pt x="80" y="51"/>
                  </a:lnTo>
                  <a:lnTo>
                    <a:pt x="68" y="28"/>
                  </a:lnTo>
                  <a:lnTo>
                    <a:pt x="50" y="10"/>
                  </a:lnTo>
                  <a:lnTo>
                    <a:pt x="26" y="0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5" name="Freeform 22"/>
            <p:cNvSpPr>
              <a:spLocks/>
            </p:cNvSpPr>
            <p:nvPr/>
          </p:nvSpPr>
          <p:spPr bwMode="auto">
            <a:xfrm>
              <a:off x="4594" y="3569"/>
              <a:ext cx="43" cy="65"/>
            </a:xfrm>
            <a:custGeom>
              <a:avLst/>
              <a:gdLst>
                <a:gd name="T0" fmla="*/ 6 w 86"/>
                <a:gd name="T1" fmla="*/ 3 h 130"/>
                <a:gd name="T2" fmla="*/ 3 w 86"/>
                <a:gd name="T3" fmla="*/ 5 h 130"/>
                <a:gd name="T4" fmla="*/ 3 w 86"/>
                <a:gd name="T5" fmla="*/ 8 h 130"/>
                <a:gd name="T6" fmla="*/ 1 w 86"/>
                <a:gd name="T7" fmla="*/ 11 h 130"/>
                <a:gd name="T8" fmla="*/ 1 w 86"/>
                <a:gd name="T9" fmla="*/ 14 h 130"/>
                <a:gd name="T10" fmla="*/ 0 w 86"/>
                <a:gd name="T11" fmla="*/ 18 h 130"/>
                <a:gd name="T12" fmla="*/ 0 w 86"/>
                <a:gd name="T13" fmla="*/ 21 h 130"/>
                <a:gd name="T14" fmla="*/ 1 w 86"/>
                <a:gd name="T15" fmla="*/ 24 h 130"/>
                <a:gd name="T16" fmla="*/ 1 w 86"/>
                <a:gd name="T17" fmla="*/ 26 h 130"/>
                <a:gd name="T18" fmla="*/ 3 w 86"/>
                <a:gd name="T19" fmla="*/ 28 h 130"/>
                <a:gd name="T20" fmla="*/ 5 w 86"/>
                <a:gd name="T21" fmla="*/ 30 h 130"/>
                <a:gd name="T22" fmla="*/ 6 w 86"/>
                <a:gd name="T23" fmla="*/ 31 h 130"/>
                <a:gd name="T24" fmla="*/ 9 w 86"/>
                <a:gd name="T25" fmla="*/ 33 h 130"/>
                <a:gd name="T26" fmla="*/ 11 w 86"/>
                <a:gd name="T27" fmla="*/ 33 h 130"/>
                <a:gd name="T28" fmla="*/ 13 w 86"/>
                <a:gd name="T29" fmla="*/ 33 h 130"/>
                <a:gd name="T30" fmla="*/ 15 w 86"/>
                <a:gd name="T31" fmla="*/ 31 h 130"/>
                <a:gd name="T32" fmla="*/ 17 w 86"/>
                <a:gd name="T33" fmla="*/ 30 h 130"/>
                <a:gd name="T34" fmla="*/ 19 w 86"/>
                <a:gd name="T35" fmla="*/ 28 h 130"/>
                <a:gd name="T36" fmla="*/ 20 w 86"/>
                <a:gd name="T37" fmla="*/ 27 h 130"/>
                <a:gd name="T38" fmla="*/ 21 w 86"/>
                <a:gd name="T39" fmla="*/ 25 h 130"/>
                <a:gd name="T40" fmla="*/ 21 w 86"/>
                <a:gd name="T41" fmla="*/ 23 h 130"/>
                <a:gd name="T42" fmla="*/ 21 w 86"/>
                <a:gd name="T43" fmla="*/ 20 h 130"/>
                <a:gd name="T44" fmla="*/ 21 w 86"/>
                <a:gd name="T45" fmla="*/ 18 h 130"/>
                <a:gd name="T46" fmla="*/ 20 w 86"/>
                <a:gd name="T47" fmla="*/ 16 h 130"/>
                <a:gd name="T48" fmla="*/ 18 w 86"/>
                <a:gd name="T49" fmla="*/ 14 h 130"/>
                <a:gd name="T50" fmla="*/ 17 w 86"/>
                <a:gd name="T51" fmla="*/ 13 h 130"/>
                <a:gd name="T52" fmla="*/ 15 w 86"/>
                <a:gd name="T53" fmla="*/ 13 h 130"/>
                <a:gd name="T54" fmla="*/ 14 w 86"/>
                <a:gd name="T55" fmla="*/ 12 h 130"/>
                <a:gd name="T56" fmla="*/ 13 w 86"/>
                <a:gd name="T57" fmla="*/ 12 h 130"/>
                <a:gd name="T58" fmla="*/ 12 w 86"/>
                <a:gd name="T59" fmla="*/ 12 h 130"/>
                <a:gd name="T60" fmla="*/ 11 w 86"/>
                <a:gd name="T61" fmla="*/ 12 h 130"/>
                <a:gd name="T62" fmla="*/ 10 w 86"/>
                <a:gd name="T63" fmla="*/ 12 h 130"/>
                <a:gd name="T64" fmla="*/ 9 w 86"/>
                <a:gd name="T65" fmla="*/ 13 h 130"/>
                <a:gd name="T66" fmla="*/ 7 w 86"/>
                <a:gd name="T67" fmla="*/ 13 h 130"/>
                <a:gd name="T68" fmla="*/ 6 w 86"/>
                <a:gd name="T69" fmla="*/ 14 h 130"/>
                <a:gd name="T70" fmla="*/ 5 w 86"/>
                <a:gd name="T71" fmla="*/ 15 h 130"/>
                <a:gd name="T72" fmla="*/ 5 w 86"/>
                <a:gd name="T73" fmla="*/ 16 h 130"/>
                <a:gd name="T74" fmla="*/ 5 w 86"/>
                <a:gd name="T75" fmla="*/ 15 h 130"/>
                <a:gd name="T76" fmla="*/ 5 w 86"/>
                <a:gd name="T77" fmla="*/ 12 h 130"/>
                <a:gd name="T78" fmla="*/ 6 w 86"/>
                <a:gd name="T79" fmla="*/ 9 h 130"/>
                <a:gd name="T80" fmla="*/ 6 w 86"/>
                <a:gd name="T81" fmla="*/ 7 h 130"/>
                <a:gd name="T82" fmla="*/ 9 w 86"/>
                <a:gd name="T83" fmla="*/ 5 h 130"/>
                <a:gd name="T84" fmla="*/ 10 w 86"/>
                <a:gd name="T85" fmla="*/ 4 h 130"/>
                <a:gd name="T86" fmla="*/ 11 w 86"/>
                <a:gd name="T87" fmla="*/ 3 h 130"/>
                <a:gd name="T88" fmla="*/ 13 w 86"/>
                <a:gd name="T89" fmla="*/ 3 h 130"/>
                <a:gd name="T90" fmla="*/ 15 w 86"/>
                <a:gd name="T91" fmla="*/ 3 h 130"/>
                <a:gd name="T92" fmla="*/ 17 w 86"/>
                <a:gd name="T93" fmla="*/ 3 h 130"/>
                <a:gd name="T94" fmla="*/ 18 w 86"/>
                <a:gd name="T95" fmla="*/ 4 h 130"/>
                <a:gd name="T96" fmla="*/ 20 w 86"/>
                <a:gd name="T97" fmla="*/ 4 h 130"/>
                <a:gd name="T98" fmla="*/ 22 w 86"/>
                <a:gd name="T99" fmla="*/ 5 h 130"/>
                <a:gd name="T100" fmla="*/ 22 w 86"/>
                <a:gd name="T101" fmla="*/ 1 h 130"/>
                <a:gd name="T102" fmla="*/ 20 w 86"/>
                <a:gd name="T103" fmla="*/ 1 h 130"/>
                <a:gd name="T104" fmla="*/ 19 w 86"/>
                <a:gd name="T105" fmla="*/ 1 h 130"/>
                <a:gd name="T106" fmla="*/ 17 w 86"/>
                <a:gd name="T107" fmla="*/ 1 h 130"/>
                <a:gd name="T108" fmla="*/ 15 w 86"/>
                <a:gd name="T109" fmla="*/ 0 h 130"/>
                <a:gd name="T110" fmla="*/ 14 w 86"/>
                <a:gd name="T111" fmla="*/ 0 h 130"/>
                <a:gd name="T112" fmla="*/ 12 w 86"/>
                <a:gd name="T113" fmla="*/ 0 h 130"/>
                <a:gd name="T114" fmla="*/ 11 w 86"/>
                <a:gd name="T115" fmla="*/ 0 h 130"/>
                <a:gd name="T116" fmla="*/ 11 w 86"/>
                <a:gd name="T117" fmla="*/ 1 h 130"/>
                <a:gd name="T118" fmla="*/ 9 w 86"/>
                <a:gd name="T119" fmla="*/ 1 h 130"/>
                <a:gd name="T120" fmla="*/ 8 w 86"/>
                <a:gd name="T121" fmla="*/ 1 h 130"/>
                <a:gd name="T122" fmla="*/ 7 w 86"/>
                <a:gd name="T123" fmla="*/ 2 h 130"/>
                <a:gd name="T124" fmla="*/ 6 w 86"/>
                <a:gd name="T125" fmla="*/ 3 h 130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86"/>
                <a:gd name="T190" fmla="*/ 0 h 130"/>
                <a:gd name="T191" fmla="*/ 86 w 86"/>
                <a:gd name="T192" fmla="*/ 130 h 130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86" h="130">
                  <a:moveTo>
                    <a:pt x="24" y="13"/>
                  </a:moveTo>
                  <a:lnTo>
                    <a:pt x="15" y="22"/>
                  </a:lnTo>
                  <a:lnTo>
                    <a:pt x="10" y="33"/>
                  </a:lnTo>
                  <a:lnTo>
                    <a:pt x="5" y="44"/>
                  </a:lnTo>
                  <a:lnTo>
                    <a:pt x="2" y="59"/>
                  </a:lnTo>
                  <a:lnTo>
                    <a:pt x="0" y="73"/>
                  </a:lnTo>
                  <a:lnTo>
                    <a:pt x="0" y="84"/>
                  </a:lnTo>
                  <a:lnTo>
                    <a:pt x="3" y="97"/>
                  </a:lnTo>
                  <a:lnTo>
                    <a:pt x="6" y="107"/>
                  </a:lnTo>
                  <a:lnTo>
                    <a:pt x="11" y="115"/>
                  </a:lnTo>
                  <a:lnTo>
                    <a:pt x="18" y="122"/>
                  </a:lnTo>
                  <a:lnTo>
                    <a:pt x="26" y="127"/>
                  </a:lnTo>
                  <a:lnTo>
                    <a:pt x="35" y="129"/>
                  </a:lnTo>
                  <a:lnTo>
                    <a:pt x="44" y="130"/>
                  </a:lnTo>
                  <a:lnTo>
                    <a:pt x="52" y="129"/>
                  </a:lnTo>
                  <a:lnTo>
                    <a:pt x="60" y="126"/>
                  </a:lnTo>
                  <a:lnTo>
                    <a:pt x="67" y="121"/>
                  </a:lnTo>
                  <a:lnTo>
                    <a:pt x="73" y="115"/>
                  </a:lnTo>
                  <a:lnTo>
                    <a:pt x="78" y="109"/>
                  </a:lnTo>
                  <a:lnTo>
                    <a:pt x="81" y="101"/>
                  </a:lnTo>
                  <a:lnTo>
                    <a:pt x="83" y="92"/>
                  </a:lnTo>
                  <a:lnTo>
                    <a:pt x="83" y="82"/>
                  </a:lnTo>
                  <a:lnTo>
                    <a:pt x="81" y="72"/>
                  </a:lnTo>
                  <a:lnTo>
                    <a:pt x="77" y="64"/>
                  </a:lnTo>
                  <a:lnTo>
                    <a:pt x="70" y="57"/>
                  </a:lnTo>
                  <a:lnTo>
                    <a:pt x="65" y="54"/>
                  </a:lnTo>
                  <a:lnTo>
                    <a:pt x="62" y="52"/>
                  </a:lnTo>
                  <a:lnTo>
                    <a:pt x="57" y="51"/>
                  </a:lnTo>
                  <a:lnTo>
                    <a:pt x="52" y="50"/>
                  </a:lnTo>
                  <a:lnTo>
                    <a:pt x="48" y="50"/>
                  </a:lnTo>
                  <a:lnTo>
                    <a:pt x="42" y="50"/>
                  </a:lnTo>
                  <a:lnTo>
                    <a:pt x="37" y="51"/>
                  </a:lnTo>
                  <a:lnTo>
                    <a:pt x="33" y="52"/>
                  </a:lnTo>
                  <a:lnTo>
                    <a:pt x="28" y="54"/>
                  </a:lnTo>
                  <a:lnTo>
                    <a:pt x="25" y="58"/>
                  </a:lnTo>
                  <a:lnTo>
                    <a:pt x="20" y="60"/>
                  </a:lnTo>
                  <a:lnTo>
                    <a:pt x="17" y="64"/>
                  </a:lnTo>
                  <a:lnTo>
                    <a:pt x="18" y="61"/>
                  </a:lnTo>
                  <a:lnTo>
                    <a:pt x="20" y="50"/>
                  </a:lnTo>
                  <a:lnTo>
                    <a:pt x="24" y="39"/>
                  </a:lnTo>
                  <a:lnTo>
                    <a:pt x="27" y="31"/>
                  </a:lnTo>
                  <a:lnTo>
                    <a:pt x="33" y="23"/>
                  </a:lnTo>
                  <a:lnTo>
                    <a:pt x="39" y="18"/>
                  </a:lnTo>
                  <a:lnTo>
                    <a:pt x="45" y="14"/>
                  </a:lnTo>
                  <a:lnTo>
                    <a:pt x="52" y="12"/>
                  </a:lnTo>
                  <a:lnTo>
                    <a:pt x="60" y="13"/>
                  </a:lnTo>
                  <a:lnTo>
                    <a:pt x="66" y="14"/>
                  </a:lnTo>
                  <a:lnTo>
                    <a:pt x="72" y="16"/>
                  </a:lnTo>
                  <a:lnTo>
                    <a:pt x="78" y="19"/>
                  </a:lnTo>
                  <a:lnTo>
                    <a:pt x="85" y="22"/>
                  </a:lnTo>
                  <a:lnTo>
                    <a:pt x="86" y="7"/>
                  </a:lnTo>
                  <a:lnTo>
                    <a:pt x="80" y="5"/>
                  </a:lnTo>
                  <a:lnTo>
                    <a:pt x="74" y="3"/>
                  </a:lnTo>
                  <a:lnTo>
                    <a:pt x="68" y="1"/>
                  </a:lnTo>
                  <a:lnTo>
                    <a:pt x="63" y="0"/>
                  </a:lnTo>
                  <a:lnTo>
                    <a:pt x="57" y="0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1"/>
                  </a:lnTo>
                  <a:lnTo>
                    <a:pt x="36" y="4"/>
                  </a:lnTo>
                  <a:lnTo>
                    <a:pt x="32" y="6"/>
                  </a:lnTo>
                  <a:lnTo>
                    <a:pt x="28" y="9"/>
                  </a:lnTo>
                  <a:lnTo>
                    <a:pt x="24" y="13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6" name="Freeform 23"/>
            <p:cNvSpPr>
              <a:spLocks/>
            </p:cNvSpPr>
            <p:nvPr/>
          </p:nvSpPr>
          <p:spPr bwMode="auto">
            <a:xfrm>
              <a:off x="4070" y="3381"/>
              <a:ext cx="44" cy="84"/>
            </a:xfrm>
            <a:custGeom>
              <a:avLst/>
              <a:gdLst>
                <a:gd name="T0" fmla="*/ 8 w 90"/>
                <a:gd name="T1" fmla="*/ 32 h 169"/>
                <a:gd name="T2" fmla="*/ 9 w 90"/>
                <a:gd name="T3" fmla="*/ 35 h 169"/>
                <a:gd name="T4" fmla="*/ 10 w 90"/>
                <a:gd name="T5" fmla="*/ 37 h 169"/>
                <a:gd name="T6" fmla="*/ 11 w 90"/>
                <a:gd name="T7" fmla="*/ 39 h 169"/>
                <a:gd name="T8" fmla="*/ 12 w 90"/>
                <a:gd name="T9" fmla="*/ 40 h 169"/>
                <a:gd name="T10" fmla="*/ 13 w 90"/>
                <a:gd name="T11" fmla="*/ 40 h 169"/>
                <a:gd name="T12" fmla="*/ 15 w 90"/>
                <a:gd name="T13" fmla="*/ 41 h 169"/>
                <a:gd name="T14" fmla="*/ 16 w 90"/>
                <a:gd name="T15" fmla="*/ 41 h 169"/>
                <a:gd name="T16" fmla="*/ 18 w 90"/>
                <a:gd name="T17" fmla="*/ 42 h 169"/>
                <a:gd name="T18" fmla="*/ 19 w 90"/>
                <a:gd name="T19" fmla="*/ 42 h 169"/>
                <a:gd name="T20" fmla="*/ 19 w 90"/>
                <a:gd name="T21" fmla="*/ 39 h 169"/>
                <a:gd name="T22" fmla="*/ 19 w 90"/>
                <a:gd name="T23" fmla="*/ 39 h 169"/>
                <a:gd name="T24" fmla="*/ 17 w 90"/>
                <a:gd name="T25" fmla="*/ 38 h 169"/>
                <a:gd name="T26" fmla="*/ 15 w 90"/>
                <a:gd name="T27" fmla="*/ 38 h 169"/>
                <a:gd name="T28" fmla="*/ 14 w 90"/>
                <a:gd name="T29" fmla="*/ 37 h 169"/>
                <a:gd name="T30" fmla="*/ 13 w 90"/>
                <a:gd name="T31" fmla="*/ 36 h 169"/>
                <a:gd name="T32" fmla="*/ 12 w 90"/>
                <a:gd name="T33" fmla="*/ 35 h 169"/>
                <a:gd name="T34" fmla="*/ 11 w 90"/>
                <a:gd name="T35" fmla="*/ 34 h 169"/>
                <a:gd name="T36" fmla="*/ 11 w 90"/>
                <a:gd name="T37" fmla="*/ 34 h 169"/>
                <a:gd name="T38" fmla="*/ 11 w 90"/>
                <a:gd name="T39" fmla="*/ 32 h 169"/>
                <a:gd name="T40" fmla="*/ 12 w 90"/>
                <a:gd name="T41" fmla="*/ 32 h 169"/>
                <a:gd name="T42" fmla="*/ 13 w 90"/>
                <a:gd name="T43" fmla="*/ 31 h 169"/>
                <a:gd name="T44" fmla="*/ 15 w 90"/>
                <a:gd name="T45" fmla="*/ 31 h 169"/>
                <a:gd name="T46" fmla="*/ 16 w 90"/>
                <a:gd name="T47" fmla="*/ 30 h 169"/>
                <a:gd name="T48" fmla="*/ 17 w 90"/>
                <a:gd name="T49" fmla="*/ 29 h 169"/>
                <a:gd name="T50" fmla="*/ 18 w 90"/>
                <a:gd name="T51" fmla="*/ 27 h 169"/>
                <a:gd name="T52" fmla="*/ 19 w 90"/>
                <a:gd name="T53" fmla="*/ 26 h 169"/>
                <a:gd name="T54" fmla="*/ 20 w 90"/>
                <a:gd name="T55" fmla="*/ 24 h 169"/>
                <a:gd name="T56" fmla="*/ 20 w 90"/>
                <a:gd name="T57" fmla="*/ 23 h 169"/>
                <a:gd name="T58" fmla="*/ 21 w 90"/>
                <a:gd name="T59" fmla="*/ 21 h 169"/>
                <a:gd name="T60" fmla="*/ 21 w 90"/>
                <a:gd name="T61" fmla="*/ 19 h 169"/>
                <a:gd name="T62" fmla="*/ 21 w 90"/>
                <a:gd name="T63" fmla="*/ 18 h 169"/>
                <a:gd name="T64" fmla="*/ 22 w 90"/>
                <a:gd name="T65" fmla="*/ 14 h 169"/>
                <a:gd name="T66" fmla="*/ 22 w 90"/>
                <a:gd name="T67" fmla="*/ 11 h 169"/>
                <a:gd name="T68" fmla="*/ 21 w 90"/>
                <a:gd name="T69" fmla="*/ 8 h 169"/>
                <a:gd name="T70" fmla="*/ 20 w 90"/>
                <a:gd name="T71" fmla="*/ 5 h 169"/>
                <a:gd name="T72" fmla="*/ 19 w 90"/>
                <a:gd name="T73" fmla="*/ 3 h 169"/>
                <a:gd name="T74" fmla="*/ 18 w 90"/>
                <a:gd name="T75" fmla="*/ 2 h 169"/>
                <a:gd name="T76" fmla="*/ 16 w 90"/>
                <a:gd name="T77" fmla="*/ 0 h 169"/>
                <a:gd name="T78" fmla="*/ 13 w 90"/>
                <a:gd name="T79" fmla="*/ 0 h 169"/>
                <a:gd name="T80" fmla="*/ 12 w 90"/>
                <a:gd name="T81" fmla="*/ 0 h 169"/>
                <a:gd name="T82" fmla="*/ 11 w 90"/>
                <a:gd name="T83" fmla="*/ 0 h 169"/>
                <a:gd name="T84" fmla="*/ 10 w 90"/>
                <a:gd name="T85" fmla="*/ 0 h 169"/>
                <a:gd name="T86" fmla="*/ 9 w 90"/>
                <a:gd name="T87" fmla="*/ 0 h 169"/>
                <a:gd name="T88" fmla="*/ 7 w 90"/>
                <a:gd name="T89" fmla="*/ 0 h 169"/>
                <a:gd name="T90" fmla="*/ 6 w 90"/>
                <a:gd name="T91" fmla="*/ 1 h 169"/>
                <a:gd name="T92" fmla="*/ 5 w 90"/>
                <a:gd name="T93" fmla="*/ 2 h 169"/>
                <a:gd name="T94" fmla="*/ 5 w 90"/>
                <a:gd name="T95" fmla="*/ 3 h 169"/>
                <a:gd name="T96" fmla="*/ 3 w 90"/>
                <a:gd name="T97" fmla="*/ 5 h 169"/>
                <a:gd name="T98" fmla="*/ 2 w 90"/>
                <a:gd name="T99" fmla="*/ 8 h 169"/>
                <a:gd name="T100" fmla="*/ 1 w 90"/>
                <a:gd name="T101" fmla="*/ 10 h 169"/>
                <a:gd name="T102" fmla="*/ 0 w 90"/>
                <a:gd name="T103" fmla="*/ 14 h 169"/>
                <a:gd name="T104" fmla="*/ 0 w 90"/>
                <a:gd name="T105" fmla="*/ 16 h 169"/>
                <a:gd name="T106" fmla="*/ 0 w 90"/>
                <a:gd name="T107" fmla="*/ 18 h 169"/>
                <a:gd name="T108" fmla="*/ 0 w 90"/>
                <a:gd name="T109" fmla="*/ 20 h 169"/>
                <a:gd name="T110" fmla="*/ 0 w 90"/>
                <a:gd name="T111" fmla="*/ 23 h 169"/>
                <a:gd name="T112" fmla="*/ 1 w 90"/>
                <a:gd name="T113" fmla="*/ 26 h 169"/>
                <a:gd name="T114" fmla="*/ 2 w 90"/>
                <a:gd name="T115" fmla="*/ 29 h 169"/>
                <a:gd name="T116" fmla="*/ 5 w 90"/>
                <a:gd name="T117" fmla="*/ 31 h 169"/>
                <a:gd name="T118" fmla="*/ 8 w 90"/>
                <a:gd name="T119" fmla="*/ 32 h 169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90"/>
                <a:gd name="T181" fmla="*/ 0 h 169"/>
                <a:gd name="T182" fmla="*/ 90 w 90"/>
                <a:gd name="T183" fmla="*/ 169 h 169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90" h="169">
                  <a:moveTo>
                    <a:pt x="32" y="130"/>
                  </a:moveTo>
                  <a:lnTo>
                    <a:pt x="36" y="141"/>
                  </a:lnTo>
                  <a:lnTo>
                    <a:pt x="40" y="149"/>
                  </a:lnTo>
                  <a:lnTo>
                    <a:pt x="46" y="156"/>
                  </a:lnTo>
                  <a:lnTo>
                    <a:pt x="52" y="162"/>
                  </a:lnTo>
                  <a:lnTo>
                    <a:pt x="55" y="163"/>
                  </a:lnTo>
                  <a:lnTo>
                    <a:pt x="61" y="166"/>
                  </a:lnTo>
                  <a:lnTo>
                    <a:pt x="67" y="167"/>
                  </a:lnTo>
                  <a:lnTo>
                    <a:pt x="74" y="169"/>
                  </a:lnTo>
                  <a:lnTo>
                    <a:pt x="77" y="169"/>
                  </a:lnTo>
                  <a:lnTo>
                    <a:pt x="80" y="156"/>
                  </a:lnTo>
                  <a:lnTo>
                    <a:pt x="78" y="156"/>
                  </a:lnTo>
                  <a:lnTo>
                    <a:pt x="70" y="155"/>
                  </a:lnTo>
                  <a:lnTo>
                    <a:pt x="63" y="152"/>
                  </a:lnTo>
                  <a:lnTo>
                    <a:pt x="58" y="149"/>
                  </a:lnTo>
                  <a:lnTo>
                    <a:pt x="53" y="145"/>
                  </a:lnTo>
                  <a:lnTo>
                    <a:pt x="51" y="142"/>
                  </a:lnTo>
                  <a:lnTo>
                    <a:pt x="48" y="139"/>
                  </a:lnTo>
                  <a:lnTo>
                    <a:pt x="47" y="136"/>
                  </a:lnTo>
                  <a:lnTo>
                    <a:pt x="45" y="131"/>
                  </a:lnTo>
                  <a:lnTo>
                    <a:pt x="51" y="130"/>
                  </a:lnTo>
                  <a:lnTo>
                    <a:pt x="56" y="127"/>
                  </a:lnTo>
                  <a:lnTo>
                    <a:pt x="62" y="124"/>
                  </a:lnTo>
                  <a:lnTo>
                    <a:pt x="67" y="121"/>
                  </a:lnTo>
                  <a:lnTo>
                    <a:pt x="71" y="116"/>
                  </a:lnTo>
                  <a:lnTo>
                    <a:pt x="75" y="110"/>
                  </a:lnTo>
                  <a:lnTo>
                    <a:pt x="78" y="104"/>
                  </a:lnTo>
                  <a:lnTo>
                    <a:pt x="81" y="99"/>
                  </a:lnTo>
                  <a:lnTo>
                    <a:pt x="83" y="93"/>
                  </a:lnTo>
                  <a:lnTo>
                    <a:pt x="85" y="86"/>
                  </a:lnTo>
                  <a:lnTo>
                    <a:pt x="86" y="79"/>
                  </a:lnTo>
                  <a:lnTo>
                    <a:pt x="88" y="72"/>
                  </a:lnTo>
                  <a:lnTo>
                    <a:pt x="90" y="58"/>
                  </a:lnTo>
                  <a:lnTo>
                    <a:pt x="90" y="45"/>
                  </a:lnTo>
                  <a:lnTo>
                    <a:pt x="88" y="33"/>
                  </a:lnTo>
                  <a:lnTo>
                    <a:pt x="84" y="23"/>
                  </a:lnTo>
                  <a:lnTo>
                    <a:pt x="80" y="15"/>
                  </a:lnTo>
                  <a:lnTo>
                    <a:pt x="73" y="8"/>
                  </a:lnTo>
                  <a:lnTo>
                    <a:pt x="65" y="2"/>
                  </a:lnTo>
                  <a:lnTo>
                    <a:pt x="55" y="0"/>
                  </a:lnTo>
                  <a:lnTo>
                    <a:pt x="50" y="0"/>
                  </a:lnTo>
                  <a:lnTo>
                    <a:pt x="45" y="0"/>
                  </a:lnTo>
                  <a:lnTo>
                    <a:pt x="40" y="0"/>
                  </a:lnTo>
                  <a:lnTo>
                    <a:pt x="36" y="1"/>
                  </a:lnTo>
                  <a:lnTo>
                    <a:pt x="31" y="3"/>
                  </a:lnTo>
                  <a:lnTo>
                    <a:pt x="27" y="6"/>
                  </a:lnTo>
                  <a:lnTo>
                    <a:pt x="23" y="10"/>
                  </a:lnTo>
                  <a:lnTo>
                    <a:pt x="20" y="13"/>
                  </a:lnTo>
                  <a:lnTo>
                    <a:pt x="14" y="21"/>
                  </a:lnTo>
                  <a:lnTo>
                    <a:pt x="8" y="32"/>
                  </a:lnTo>
                  <a:lnTo>
                    <a:pt x="5" y="43"/>
                  </a:lnTo>
                  <a:lnTo>
                    <a:pt x="2" y="56"/>
                  </a:lnTo>
                  <a:lnTo>
                    <a:pt x="1" y="65"/>
                  </a:lnTo>
                  <a:lnTo>
                    <a:pt x="0" y="74"/>
                  </a:lnTo>
                  <a:lnTo>
                    <a:pt x="0" y="83"/>
                  </a:lnTo>
                  <a:lnTo>
                    <a:pt x="1" y="92"/>
                  </a:lnTo>
                  <a:lnTo>
                    <a:pt x="5" y="107"/>
                  </a:lnTo>
                  <a:lnTo>
                    <a:pt x="10" y="117"/>
                  </a:lnTo>
                  <a:lnTo>
                    <a:pt x="20" y="125"/>
                  </a:lnTo>
                  <a:lnTo>
                    <a:pt x="32" y="130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7" name="Freeform 24"/>
            <p:cNvSpPr>
              <a:spLocks/>
            </p:cNvSpPr>
            <p:nvPr/>
          </p:nvSpPr>
          <p:spPr bwMode="auto">
            <a:xfrm>
              <a:off x="4374" y="3894"/>
              <a:ext cx="44" cy="85"/>
            </a:xfrm>
            <a:custGeom>
              <a:avLst/>
              <a:gdLst>
                <a:gd name="T0" fmla="*/ 14 w 89"/>
                <a:gd name="T1" fmla="*/ 10 h 170"/>
                <a:gd name="T2" fmla="*/ 13 w 89"/>
                <a:gd name="T3" fmla="*/ 7 h 170"/>
                <a:gd name="T4" fmla="*/ 12 w 89"/>
                <a:gd name="T5" fmla="*/ 5 h 170"/>
                <a:gd name="T6" fmla="*/ 10 w 89"/>
                <a:gd name="T7" fmla="*/ 3 h 170"/>
                <a:gd name="T8" fmla="*/ 9 w 89"/>
                <a:gd name="T9" fmla="*/ 1 h 170"/>
                <a:gd name="T10" fmla="*/ 8 w 89"/>
                <a:gd name="T11" fmla="*/ 1 h 170"/>
                <a:gd name="T12" fmla="*/ 7 w 89"/>
                <a:gd name="T13" fmla="*/ 1 h 170"/>
                <a:gd name="T14" fmla="*/ 5 w 89"/>
                <a:gd name="T15" fmla="*/ 1 h 170"/>
                <a:gd name="T16" fmla="*/ 3 w 89"/>
                <a:gd name="T17" fmla="*/ 0 h 170"/>
                <a:gd name="T18" fmla="*/ 2 w 89"/>
                <a:gd name="T19" fmla="*/ 0 h 170"/>
                <a:gd name="T20" fmla="*/ 2 w 89"/>
                <a:gd name="T21" fmla="*/ 3 h 170"/>
                <a:gd name="T22" fmla="*/ 2 w 89"/>
                <a:gd name="T23" fmla="*/ 3 h 170"/>
                <a:gd name="T24" fmla="*/ 4 w 89"/>
                <a:gd name="T25" fmla="*/ 3 h 170"/>
                <a:gd name="T26" fmla="*/ 6 w 89"/>
                <a:gd name="T27" fmla="*/ 5 h 170"/>
                <a:gd name="T28" fmla="*/ 7 w 89"/>
                <a:gd name="T29" fmla="*/ 5 h 170"/>
                <a:gd name="T30" fmla="*/ 9 w 89"/>
                <a:gd name="T31" fmla="*/ 5 h 170"/>
                <a:gd name="T32" fmla="*/ 9 w 89"/>
                <a:gd name="T33" fmla="*/ 6 h 170"/>
                <a:gd name="T34" fmla="*/ 10 w 89"/>
                <a:gd name="T35" fmla="*/ 7 h 170"/>
                <a:gd name="T36" fmla="*/ 10 w 89"/>
                <a:gd name="T37" fmla="*/ 9 h 170"/>
                <a:gd name="T38" fmla="*/ 11 w 89"/>
                <a:gd name="T39" fmla="*/ 10 h 170"/>
                <a:gd name="T40" fmla="*/ 9 w 89"/>
                <a:gd name="T41" fmla="*/ 10 h 170"/>
                <a:gd name="T42" fmla="*/ 8 w 89"/>
                <a:gd name="T43" fmla="*/ 11 h 170"/>
                <a:gd name="T44" fmla="*/ 6 w 89"/>
                <a:gd name="T45" fmla="*/ 11 h 170"/>
                <a:gd name="T46" fmla="*/ 5 w 89"/>
                <a:gd name="T47" fmla="*/ 12 h 170"/>
                <a:gd name="T48" fmla="*/ 4 w 89"/>
                <a:gd name="T49" fmla="*/ 13 h 170"/>
                <a:gd name="T50" fmla="*/ 3 w 89"/>
                <a:gd name="T51" fmla="*/ 14 h 170"/>
                <a:gd name="T52" fmla="*/ 2 w 89"/>
                <a:gd name="T53" fmla="*/ 16 h 170"/>
                <a:gd name="T54" fmla="*/ 2 w 89"/>
                <a:gd name="T55" fmla="*/ 18 h 170"/>
                <a:gd name="T56" fmla="*/ 1 w 89"/>
                <a:gd name="T57" fmla="*/ 19 h 170"/>
                <a:gd name="T58" fmla="*/ 1 w 89"/>
                <a:gd name="T59" fmla="*/ 21 h 170"/>
                <a:gd name="T60" fmla="*/ 0 w 89"/>
                <a:gd name="T61" fmla="*/ 22 h 170"/>
                <a:gd name="T62" fmla="*/ 0 w 89"/>
                <a:gd name="T63" fmla="*/ 24 h 170"/>
                <a:gd name="T64" fmla="*/ 0 w 89"/>
                <a:gd name="T65" fmla="*/ 27 h 170"/>
                <a:gd name="T66" fmla="*/ 0 w 89"/>
                <a:gd name="T67" fmla="*/ 31 h 170"/>
                <a:gd name="T68" fmla="*/ 0 w 89"/>
                <a:gd name="T69" fmla="*/ 34 h 170"/>
                <a:gd name="T70" fmla="*/ 1 w 89"/>
                <a:gd name="T71" fmla="*/ 37 h 170"/>
                <a:gd name="T72" fmla="*/ 2 w 89"/>
                <a:gd name="T73" fmla="*/ 39 h 170"/>
                <a:gd name="T74" fmla="*/ 4 w 89"/>
                <a:gd name="T75" fmla="*/ 41 h 170"/>
                <a:gd name="T76" fmla="*/ 6 w 89"/>
                <a:gd name="T77" fmla="*/ 42 h 170"/>
                <a:gd name="T78" fmla="*/ 8 w 89"/>
                <a:gd name="T79" fmla="*/ 43 h 170"/>
                <a:gd name="T80" fmla="*/ 9 w 89"/>
                <a:gd name="T81" fmla="*/ 43 h 170"/>
                <a:gd name="T82" fmla="*/ 11 w 89"/>
                <a:gd name="T83" fmla="*/ 43 h 170"/>
                <a:gd name="T84" fmla="*/ 12 w 89"/>
                <a:gd name="T85" fmla="*/ 43 h 170"/>
                <a:gd name="T86" fmla="*/ 13 w 89"/>
                <a:gd name="T87" fmla="*/ 42 h 170"/>
                <a:gd name="T88" fmla="*/ 14 w 89"/>
                <a:gd name="T89" fmla="*/ 42 h 170"/>
                <a:gd name="T90" fmla="*/ 15 w 89"/>
                <a:gd name="T91" fmla="*/ 41 h 170"/>
                <a:gd name="T92" fmla="*/ 16 w 89"/>
                <a:gd name="T93" fmla="*/ 40 h 170"/>
                <a:gd name="T94" fmla="*/ 17 w 89"/>
                <a:gd name="T95" fmla="*/ 39 h 170"/>
                <a:gd name="T96" fmla="*/ 18 w 89"/>
                <a:gd name="T97" fmla="*/ 37 h 170"/>
                <a:gd name="T98" fmla="*/ 20 w 89"/>
                <a:gd name="T99" fmla="*/ 35 h 170"/>
                <a:gd name="T100" fmla="*/ 21 w 89"/>
                <a:gd name="T101" fmla="*/ 31 h 170"/>
                <a:gd name="T102" fmla="*/ 21 w 89"/>
                <a:gd name="T103" fmla="*/ 28 h 170"/>
                <a:gd name="T104" fmla="*/ 22 w 89"/>
                <a:gd name="T105" fmla="*/ 26 h 170"/>
                <a:gd name="T106" fmla="*/ 22 w 89"/>
                <a:gd name="T107" fmla="*/ 23 h 170"/>
                <a:gd name="T108" fmla="*/ 22 w 89"/>
                <a:gd name="T109" fmla="*/ 21 h 170"/>
                <a:gd name="T110" fmla="*/ 22 w 89"/>
                <a:gd name="T111" fmla="*/ 20 h 170"/>
                <a:gd name="T112" fmla="*/ 21 w 89"/>
                <a:gd name="T113" fmla="*/ 15 h 170"/>
                <a:gd name="T114" fmla="*/ 19 w 89"/>
                <a:gd name="T115" fmla="*/ 13 h 170"/>
                <a:gd name="T116" fmla="*/ 17 w 89"/>
                <a:gd name="T117" fmla="*/ 11 h 170"/>
                <a:gd name="T118" fmla="*/ 14 w 89"/>
                <a:gd name="T119" fmla="*/ 10 h 17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89"/>
                <a:gd name="T181" fmla="*/ 0 h 170"/>
                <a:gd name="T182" fmla="*/ 89 w 89"/>
                <a:gd name="T183" fmla="*/ 170 h 17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89" h="170">
                  <a:moveTo>
                    <a:pt x="57" y="40"/>
                  </a:moveTo>
                  <a:lnTo>
                    <a:pt x="53" y="28"/>
                  </a:lnTo>
                  <a:lnTo>
                    <a:pt x="49" y="20"/>
                  </a:lnTo>
                  <a:lnTo>
                    <a:pt x="43" y="13"/>
                  </a:lnTo>
                  <a:lnTo>
                    <a:pt x="37" y="7"/>
                  </a:lnTo>
                  <a:lnTo>
                    <a:pt x="34" y="5"/>
                  </a:lnTo>
                  <a:lnTo>
                    <a:pt x="28" y="4"/>
                  </a:lnTo>
                  <a:lnTo>
                    <a:pt x="22" y="2"/>
                  </a:lnTo>
                  <a:lnTo>
                    <a:pt x="15" y="0"/>
                  </a:lnTo>
                  <a:lnTo>
                    <a:pt x="11" y="0"/>
                  </a:lnTo>
                  <a:lnTo>
                    <a:pt x="9" y="12"/>
                  </a:lnTo>
                  <a:lnTo>
                    <a:pt x="11" y="13"/>
                  </a:lnTo>
                  <a:lnTo>
                    <a:pt x="19" y="14"/>
                  </a:lnTo>
                  <a:lnTo>
                    <a:pt x="26" y="17"/>
                  </a:lnTo>
                  <a:lnTo>
                    <a:pt x="31" y="20"/>
                  </a:lnTo>
                  <a:lnTo>
                    <a:pt x="36" y="23"/>
                  </a:lnTo>
                  <a:lnTo>
                    <a:pt x="38" y="26"/>
                  </a:lnTo>
                  <a:lnTo>
                    <a:pt x="41" y="29"/>
                  </a:lnTo>
                  <a:lnTo>
                    <a:pt x="42" y="34"/>
                  </a:lnTo>
                  <a:lnTo>
                    <a:pt x="44" y="38"/>
                  </a:lnTo>
                  <a:lnTo>
                    <a:pt x="38" y="40"/>
                  </a:lnTo>
                  <a:lnTo>
                    <a:pt x="33" y="42"/>
                  </a:lnTo>
                  <a:lnTo>
                    <a:pt x="27" y="45"/>
                  </a:lnTo>
                  <a:lnTo>
                    <a:pt x="22" y="49"/>
                  </a:lnTo>
                  <a:lnTo>
                    <a:pt x="18" y="53"/>
                  </a:lnTo>
                  <a:lnTo>
                    <a:pt x="14" y="58"/>
                  </a:lnTo>
                  <a:lnTo>
                    <a:pt x="11" y="64"/>
                  </a:lnTo>
                  <a:lnTo>
                    <a:pt x="8" y="70"/>
                  </a:lnTo>
                  <a:lnTo>
                    <a:pt x="6" y="76"/>
                  </a:lnTo>
                  <a:lnTo>
                    <a:pt x="4" y="83"/>
                  </a:lnTo>
                  <a:lnTo>
                    <a:pt x="3" y="90"/>
                  </a:lnTo>
                  <a:lnTo>
                    <a:pt x="1" y="97"/>
                  </a:lnTo>
                  <a:lnTo>
                    <a:pt x="0" y="111"/>
                  </a:lnTo>
                  <a:lnTo>
                    <a:pt x="0" y="124"/>
                  </a:lnTo>
                  <a:lnTo>
                    <a:pt x="1" y="136"/>
                  </a:lnTo>
                  <a:lnTo>
                    <a:pt x="5" y="147"/>
                  </a:lnTo>
                  <a:lnTo>
                    <a:pt x="9" y="155"/>
                  </a:lnTo>
                  <a:lnTo>
                    <a:pt x="16" y="162"/>
                  </a:lnTo>
                  <a:lnTo>
                    <a:pt x="24" y="166"/>
                  </a:lnTo>
                  <a:lnTo>
                    <a:pt x="34" y="169"/>
                  </a:lnTo>
                  <a:lnTo>
                    <a:pt x="38" y="170"/>
                  </a:lnTo>
                  <a:lnTo>
                    <a:pt x="44" y="170"/>
                  </a:lnTo>
                  <a:lnTo>
                    <a:pt x="49" y="169"/>
                  </a:lnTo>
                  <a:lnTo>
                    <a:pt x="53" y="167"/>
                  </a:lnTo>
                  <a:lnTo>
                    <a:pt x="58" y="165"/>
                  </a:lnTo>
                  <a:lnTo>
                    <a:pt x="61" y="163"/>
                  </a:lnTo>
                  <a:lnTo>
                    <a:pt x="65" y="159"/>
                  </a:lnTo>
                  <a:lnTo>
                    <a:pt x="68" y="156"/>
                  </a:lnTo>
                  <a:lnTo>
                    <a:pt x="75" y="148"/>
                  </a:lnTo>
                  <a:lnTo>
                    <a:pt x="80" y="138"/>
                  </a:lnTo>
                  <a:lnTo>
                    <a:pt x="84" y="126"/>
                  </a:lnTo>
                  <a:lnTo>
                    <a:pt x="87" y="113"/>
                  </a:lnTo>
                  <a:lnTo>
                    <a:pt x="88" y="104"/>
                  </a:lnTo>
                  <a:lnTo>
                    <a:pt x="89" y="95"/>
                  </a:lnTo>
                  <a:lnTo>
                    <a:pt x="89" y="87"/>
                  </a:lnTo>
                  <a:lnTo>
                    <a:pt x="88" y="78"/>
                  </a:lnTo>
                  <a:lnTo>
                    <a:pt x="84" y="63"/>
                  </a:lnTo>
                  <a:lnTo>
                    <a:pt x="77" y="52"/>
                  </a:lnTo>
                  <a:lnTo>
                    <a:pt x="69" y="44"/>
                  </a:lnTo>
                  <a:lnTo>
                    <a:pt x="57" y="40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8" name="Freeform 25"/>
            <p:cNvSpPr>
              <a:spLocks/>
            </p:cNvSpPr>
            <p:nvPr/>
          </p:nvSpPr>
          <p:spPr bwMode="auto">
            <a:xfrm>
              <a:off x="3777" y="3293"/>
              <a:ext cx="19" cy="33"/>
            </a:xfrm>
            <a:custGeom>
              <a:avLst/>
              <a:gdLst>
                <a:gd name="T0" fmla="*/ 3 w 39"/>
                <a:gd name="T1" fmla="*/ 3 h 67"/>
                <a:gd name="T2" fmla="*/ 2 w 39"/>
                <a:gd name="T3" fmla="*/ 0 h 67"/>
                <a:gd name="T4" fmla="*/ 2 w 39"/>
                <a:gd name="T5" fmla="*/ 3 h 67"/>
                <a:gd name="T6" fmla="*/ 0 w 39"/>
                <a:gd name="T7" fmla="*/ 16 h 67"/>
                <a:gd name="T8" fmla="*/ 9 w 39"/>
                <a:gd name="T9" fmla="*/ 15 h 67"/>
                <a:gd name="T10" fmla="*/ 3 w 39"/>
                <a:gd name="T11" fmla="*/ 3 h 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9"/>
                <a:gd name="T19" fmla="*/ 0 h 67"/>
                <a:gd name="T20" fmla="*/ 39 w 39"/>
                <a:gd name="T21" fmla="*/ 67 h 6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9" h="67">
                  <a:moveTo>
                    <a:pt x="15" y="13"/>
                  </a:moveTo>
                  <a:lnTo>
                    <a:pt x="10" y="0"/>
                  </a:lnTo>
                  <a:lnTo>
                    <a:pt x="8" y="14"/>
                  </a:lnTo>
                  <a:lnTo>
                    <a:pt x="0" y="67"/>
                  </a:lnTo>
                  <a:lnTo>
                    <a:pt x="39" y="61"/>
                  </a:lnTo>
                  <a:lnTo>
                    <a:pt x="15" y="13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99" name="Freeform 26"/>
            <p:cNvSpPr>
              <a:spLocks/>
            </p:cNvSpPr>
            <p:nvPr/>
          </p:nvSpPr>
          <p:spPr bwMode="auto">
            <a:xfrm>
              <a:off x="4603" y="3600"/>
              <a:ext cx="25" cy="27"/>
            </a:xfrm>
            <a:custGeom>
              <a:avLst/>
              <a:gdLst>
                <a:gd name="T0" fmla="*/ 5 w 49"/>
                <a:gd name="T1" fmla="*/ 13 h 56"/>
                <a:gd name="T2" fmla="*/ 7 w 49"/>
                <a:gd name="T3" fmla="*/ 13 h 56"/>
                <a:gd name="T4" fmla="*/ 8 w 49"/>
                <a:gd name="T5" fmla="*/ 13 h 56"/>
                <a:gd name="T6" fmla="*/ 10 w 49"/>
                <a:gd name="T7" fmla="*/ 12 h 56"/>
                <a:gd name="T8" fmla="*/ 11 w 49"/>
                <a:gd name="T9" fmla="*/ 10 h 56"/>
                <a:gd name="T10" fmla="*/ 12 w 49"/>
                <a:gd name="T11" fmla="*/ 10 h 56"/>
                <a:gd name="T12" fmla="*/ 12 w 49"/>
                <a:gd name="T13" fmla="*/ 9 h 56"/>
                <a:gd name="T14" fmla="*/ 12 w 49"/>
                <a:gd name="T15" fmla="*/ 8 h 56"/>
                <a:gd name="T16" fmla="*/ 13 w 49"/>
                <a:gd name="T17" fmla="*/ 7 h 56"/>
                <a:gd name="T18" fmla="*/ 13 w 49"/>
                <a:gd name="T19" fmla="*/ 4 h 56"/>
                <a:gd name="T20" fmla="*/ 12 w 49"/>
                <a:gd name="T21" fmla="*/ 2 h 56"/>
                <a:gd name="T22" fmla="*/ 10 w 49"/>
                <a:gd name="T23" fmla="*/ 0 h 56"/>
                <a:gd name="T24" fmla="*/ 8 w 49"/>
                <a:gd name="T25" fmla="*/ 0 h 56"/>
                <a:gd name="T26" fmla="*/ 7 w 49"/>
                <a:gd name="T27" fmla="*/ 0 h 56"/>
                <a:gd name="T28" fmla="*/ 5 w 49"/>
                <a:gd name="T29" fmla="*/ 0 h 56"/>
                <a:gd name="T30" fmla="*/ 4 w 49"/>
                <a:gd name="T31" fmla="*/ 0 h 56"/>
                <a:gd name="T32" fmla="*/ 3 w 49"/>
                <a:gd name="T33" fmla="*/ 1 h 56"/>
                <a:gd name="T34" fmla="*/ 2 w 49"/>
                <a:gd name="T35" fmla="*/ 2 h 56"/>
                <a:gd name="T36" fmla="*/ 2 w 49"/>
                <a:gd name="T37" fmla="*/ 3 h 56"/>
                <a:gd name="T38" fmla="*/ 1 w 49"/>
                <a:gd name="T39" fmla="*/ 4 h 56"/>
                <a:gd name="T40" fmla="*/ 1 w 49"/>
                <a:gd name="T41" fmla="*/ 6 h 56"/>
                <a:gd name="T42" fmla="*/ 0 w 49"/>
                <a:gd name="T43" fmla="*/ 7 h 56"/>
                <a:gd name="T44" fmla="*/ 1 w 49"/>
                <a:gd name="T45" fmla="*/ 8 h 56"/>
                <a:gd name="T46" fmla="*/ 1 w 49"/>
                <a:gd name="T47" fmla="*/ 10 h 56"/>
                <a:gd name="T48" fmla="*/ 2 w 49"/>
                <a:gd name="T49" fmla="*/ 11 h 56"/>
                <a:gd name="T50" fmla="*/ 2 w 49"/>
                <a:gd name="T51" fmla="*/ 12 h 56"/>
                <a:gd name="T52" fmla="*/ 3 w 49"/>
                <a:gd name="T53" fmla="*/ 12 h 56"/>
                <a:gd name="T54" fmla="*/ 4 w 49"/>
                <a:gd name="T55" fmla="*/ 13 h 56"/>
                <a:gd name="T56" fmla="*/ 5 w 49"/>
                <a:gd name="T57" fmla="*/ 13 h 5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9"/>
                <a:gd name="T88" fmla="*/ 0 h 56"/>
                <a:gd name="T89" fmla="*/ 49 w 49"/>
                <a:gd name="T90" fmla="*/ 56 h 5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9" h="56">
                  <a:moveTo>
                    <a:pt x="20" y="56"/>
                  </a:moveTo>
                  <a:lnTo>
                    <a:pt x="25" y="56"/>
                  </a:lnTo>
                  <a:lnTo>
                    <a:pt x="32" y="53"/>
                  </a:lnTo>
                  <a:lnTo>
                    <a:pt x="38" y="50"/>
                  </a:lnTo>
                  <a:lnTo>
                    <a:pt x="44" y="44"/>
                  </a:lnTo>
                  <a:lnTo>
                    <a:pt x="45" y="41"/>
                  </a:lnTo>
                  <a:lnTo>
                    <a:pt x="47" y="37"/>
                  </a:lnTo>
                  <a:lnTo>
                    <a:pt x="48" y="34"/>
                  </a:lnTo>
                  <a:lnTo>
                    <a:pt x="49" y="29"/>
                  </a:lnTo>
                  <a:lnTo>
                    <a:pt x="49" y="19"/>
                  </a:lnTo>
                  <a:lnTo>
                    <a:pt x="46" y="10"/>
                  </a:lnTo>
                  <a:lnTo>
                    <a:pt x="39" y="3"/>
                  </a:lnTo>
                  <a:lnTo>
                    <a:pt x="30" y="0"/>
                  </a:lnTo>
                  <a:lnTo>
                    <a:pt x="25" y="0"/>
                  </a:lnTo>
                  <a:lnTo>
                    <a:pt x="20" y="0"/>
                  </a:lnTo>
                  <a:lnTo>
                    <a:pt x="15" y="3"/>
                  </a:lnTo>
                  <a:lnTo>
                    <a:pt x="10" y="5"/>
                  </a:lnTo>
                  <a:lnTo>
                    <a:pt x="7" y="10"/>
                  </a:lnTo>
                  <a:lnTo>
                    <a:pt x="5" y="14"/>
                  </a:lnTo>
                  <a:lnTo>
                    <a:pt x="2" y="19"/>
                  </a:lnTo>
                  <a:lnTo>
                    <a:pt x="1" y="25"/>
                  </a:lnTo>
                  <a:lnTo>
                    <a:pt x="0" y="30"/>
                  </a:lnTo>
                  <a:lnTo>
                    <a:pt x="1" y="36"/>
                  </a:lnTo>
                  <a:lnTo>
                    <a:pt x="2" y="41"/>
                  </a:lnTo>
                  <a:lnTo>
                    <a:pt x="5" y="45"/>
                  </a:lnTo>
                  <a:lnTo>
                    <a:pt x="8" y="49"/>
                  </a:lnTo>
                  <a:lnTo>
                    <a:pt x="11" y="52"/>
                  </a:lnTo>
                  <a:lnTo>
                    <a:pt x="15" y="55"/>
                  </a:lnTo>
                  <a:lnTo>
                    <a:pt x="20" y="56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0" name="Freeform 27"/>
            <p:cNvSpPr>
              <a:spLocks/>
            </p:cNvSpPr>
            <p:nvPr/>
          </p:nvSpPr>
          <p:spPr bwMode="auto">
            <a:xfrm>
              <a:off x="4348" y="3055"/>
              <a:ext cx="24" cy="27"/>
            </a:xfrm>
            <a:custGeom>
              <a:avLst/>
              <a:gdLst>
                <a:gd name="T0" fmla="*/ 7 w 48"/>
                <a:gd name="T1" fmla="*/ 0 h 56"/>
                <a:gd name="T2" fmla="*/ 6 w 48"/>
                <a:gd name="T3" fmla="*/ 0 h 56"/>
                <a:gd name="T4" fmla="*/ 5 w 48"/>
                <a:gd name="T5" fmla="*/ 0 h 56"/>
                <a:gd name="T6" fmla="*/ 3 w 48"/>
                <a:gd name="T7" fmla="*/ 1 h 56"/>
                <a:gd name="T8" fmla="*/ 2 w 48"/>
                <a:gd name="T9" fmla="*/ 2 h 56"/>
                <a:gd name="T10" fmla="*/ 1 w 48"/>
                <a:gd name="T11" fmla="*/ 3 h 56"/>
                <a:gd name="T12" fmla="*/ 1 w 48"/>
                <a:gd name="T13" fmla="*/ 4 h 56"/>
                <a:gd name="T14" fmla="*/ 1 w 48"/>
                <a:gd name="T15" fmla="*/ 5 h 56"/>
                <a:gd name="T16" fmla="*/ 0 w 48"/>
                <a:gd name="T17" fmla="*/ 6 h 56"/>
                <a:gd name="T18" fmla="*/ 0 w 48"/>
                <a:gd name="T19" fmla="*/ 9 h 56"/>
                <a:gd name="T20" fmla="*/ 1 w 48"/>
                <a:gd name="T21" fmla="*/ 11 h 56"/>
                <a:gd name="T22" fmla="*/ 3 w 48"/>
                <a:gd name="T23" fmla="*/ 12 h 56"/>
                <a:gd name="T24" fmla="*/ 5 w 48"/>
                <a:gd name="T25" fmla="*/ 13 h 56"/>
                <a:gd name="T26" fmla="*/ 6 w 48"/>
                <a:gd name="T27" fmla="*/ 13 h 56"/>
                <a:gd name="T28" fmla="*/ 7 w 48"/>
                <a:gd name="T29" fmla="*/ 13 h 56"/>
                <a:gd name="T30" fmla="*/ 9 w 48"/>
                <a:gd name="T31" fmla="*/ 13 h 56"/>
                <a:gd name="T32" fmla="*/ 10 w 48"/>
                <a:gd name="T33" fmla="*/ 12 h 56"/>
                <a:gd name="T34" fmla="*/ 11 w 48"/>
                <a:gd name="T35" fmla="*/ 11 h 56"/>
                <a:gd name="T36" fmla="*/ 12 w 48"/>
                <a:gd name="T37" fmla="*/ 10 h 56"/>
                <a:gd name="T38" fmla="*/ 12 w 48"/>
                <a:gd name="T39" fmla="*/ 9 h 56"/>
                <a:gd name="T40" fmla="*/ 12 w 48"/>
                <a:gd name="T41" fmla="*/ 7 h 56"/>
                <a:gd name="T42" fmla="*/ 12 w 48"/>
                <a:gd name="T43" fmla="*/ 6 h 56"/>
                <a:gd name="T44" fmla="*/ 12 w 48"/>
                <a:gd name="T45" fmla="*/ 5 h 56"/>
                <a:gd name="T46" fmla="*/ 12 w 48"/>
                <a:gd name="T47" fmla="*/ 3 h 56"/>
                <a:gd name="T48" fmla="*/ 12 w 48"/>
                <a:gd name="T49" fmla="*/ 2 h 56"/>
                <a:gd name="T50" fmla="*/ 11 w 48"/>
                <a:gd name="T51" fmla="*/ 1 h 56"/>
                <a:gd name="T52" fmla="*/ 10 w 48"/>
                <a:gd name="T53" fmla="*/ 1 h 56"/>
                <a:gd name="T54" fmla="*/ 9 w 48"/>
                <a:gd name="T55" fmla="*/ 0 h 56"/>
                <a:gd name="T56" fmla="*/ 7 w 48"/>
                <a:gd name="T57" fmla="*/ 0 h 5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48"/>
                <a:gd name="T88" fmla="*/ 0 h 56"/>
                <a:gd name="T89" fmla="*/ 48 w 48"/>
                <a:gd name="T90" fmla="*/ 56 h 5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48" h="56">
                  <a:moveTo>
                    <a:pt x="30" y="0"/>
                  </a:moveTo>
                  <a:lnTo>
                    <a:pt x="23" y="0"/>
                  </a:lnTo>
                  <a:lnTo>
                    <a:pt x="17" y="1"/>
                  </a:lnTo>
                  <a:lnTo>
                    <a:pt x="10" y="5"/>
                  </a:lnTo>
                  <a:lnTo>
                    <a:pt x="5" y="11"/>
                  </a:lnTo>
                  <a:lnTo>
                    <a:pt x="3" y="14"/>
                  </a:lnTo>
                  <a:lnTo>
                    <a:pt x="2" y="19"/>
                  </a:lnTo>
                  <a:lnTo>
                    <a:pt x="1" y="22"/>
                  </a:lnTo>
                  <a:lnTo>
                    <a:pt x="0" y="27"/>
                  </a:lnTo>
                  <a:lnTo>
                    <a:pt x="0" y="37"/>
                  </a:lnTo>
                  <a:lnTo>
                    <a:pt x="2" y="46"/>
                  </a:lnTo>
                  <a:lnTo>
                    <a:pt x="9" y="52"/>
                  </a:lnTo>
                  <a:lnTo>
                    <a:pt x="18" y="56"/>
                  </a:lnTo>
                  <a:lnTo>
                    <a:pt x="23" y="56"/>
                  </a:lnTo>
                  <a:lnTo>
                    <a:pt x="28" y="56"/>
                  </a:lnTo>
                  <a:lnTo>
                    <a:pt x="33" y="53"/>
                  </a:lnTo>
                  <a:lnTo>
                    <a:pt x="38" y="51"/>
                  </a:lnTo>
                  <a:lnTo>
                    <a:pt x="41" y="46"/>
                  </a:lnTo>
                  <a:lnTo>
                    <a:pt x="45" y="42"/>
                  </a:lnTo>
                  <a:lnTo>
                    <a:pt x="47" y="37"/>
                  </a:lnTo>
                  <a:lnTo>
                    <a:pt x="48" y="31"/>
                  </a:lnTo>
                  <a:lnTo>
                    <a:pt x="48" y="26"/>
                  </a:lnTo>
                  <a:lnTo>
                    <a:pt x="48" y="20"/>
                  </a:lnTo>
                  <a:lnTo>
                    <a:pt x="47" y="15"/>
                  </a:lnTo>
                  <a:lnTo>
                    <a:pt x="45" y="11"/>
                  </a:lnTo>
                  <a:lnTo>
                    <a:pt x="41" y="7"/>
                  </a:lnTo>
                  <a:lnTo>
                    <a:pt x="38" y="4"/>
                  </a:lnTo>
                  <a:lnTo>
                    <a:pt x="34" y="1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1" name="Freeform 28"/>
            <p:cNvSpPr>
              <a:spLocks/>
            </p:cNvSpPr>
            <p:nvPr/>
          </p:nvSpPr>
          <p:spPr bwMode="auto">
            <a:xfrm>
              <a:off x="4406" y="3085"/>
              <a:ext cx="68" cy="110"/>
            </a:xfrm>
            <a:custGeom>
              <a:avLst/>
              <a:gdLst>
                <a:gd name="T0" fmla="*/ 34 w 135"/>
                <a:gd name="T1" fmla="*/ 29 h 220"/>
                <a:gd name="T2" fmla="*/ 21 w 135"/>
                <a:gd name="T3" fmla="*/ 0 h 220"/>
                <a:gd name="T4" fmla="*/ 0 w 135"/>
                <a:gd name="T5" fmla="*/ 25 h 220"/>
                <a:gd name="T6" fmla="*/ 12 w 135"/>
                <a:gd name="T7" fmla="*/ 55 h 220"/>
                <a:gd name="T8" fmla="*/ 34 w 135"/>
                <a:gd name="T9" fmla="*/ 29 h 2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5"/>
                <a:gd name="T16" fmla="*/ 0 h 220"/>
                <a:gd name="T17" fmla="*/ 135 w 135"/>
                <a:gd name="T18" fmla="*/ 220 h 2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5" h="220">
                  <a:moveTo>
                    <a:pt x="135" y="118"/>
                  </a:moveTo>
                  <a:lnTo>
                    <a:pt x="83" y="0"/>
                  </a:lnTo>
                  <a:lnTo>
                    <a:pt x="0" y="98"/>
                  </a:lnTo>
                  <a:lnTo>
                    <a:pt x="47" y="220"/>
                  </a:lnTo>
                  <a:lnTo>
                    <a:pt x="135" y="118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2" name="Freeform 29"/>
            <p:cNvSpPr>
              <a:spLocks/>
            </p:cNvSpPr>
            <p:nvPr/>
          </p:nvSpPr>
          <p:spPr bwMode="auto">
            <a:xfrm>
              <a:off x="4365" y="3335"/>
              <a:ext cx="67" cy="67"/>
            </a:xfrm>
            <a:custGeom>
              <a:avLst/>
              <a:gdLst>
                <a:gd name="T0" fmla="*/ 33 w 135"/>
                <a:gd name="T1" fmla="*/ 29 h 134"/>
                <a:gd name="T2" fmla="*/ 20 w 135"/>
                <a:gd name="T3" fmla="*/ 0 h 134"/>
                <a:gd name="T4" fmla="*/ 0 w 135"/>
                <a:gd name="T5" fmla="*/ 24 h 134"/>
                <a:gd name="T6" fmla="*/ 1 w 135"/>
                <a:gd name="T7" fmla="*/ 28 h 134"/>
                <a:gd name="T8" fmla="*/ 30 w 135"/>
                <a:gd name="T9" fmla="*/ 34 h 134"/>
                <a:gd name="T10" fmla="*/ 33 w 135"/>
                <a:gd name="T11" fmla="*/ 29 h 1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5"/>
                <a:gd name="T19" fmla="*/ 0 h 134"/>
                <a:gd name="T20" fmla="*/ 135 w 135"/>
                <a:gd name="T21" fmla="*/ 134 h 13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5" h="134">
                  <a:moveTo>
                    <a:pt x="135" y="118"/>
                  </a:moveTo>
                  <a:lnTo>
                    <a:pt x="83" y="0"/>
                  </a:lnTo>
                  <a:lnTo>
                    <a:pt x="0" y="98"/>
                  </a:lnTo>
                  <a:lnTo>
                    <a:pt x="7" y="114"/>
                  </a:lnTo>
                  <a:lnTo>
                    <a:pt x="121" y="134"/>
                  </a:lnTo>
                  <a:lnTo>
                    <a:pt x="135" y="118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3" name="Freeform 30"/>
            <p:cNvSpPr>
              <a:spLocks/>
            </p:cNvSpPr>
            <p:nvPr/>
          </p:nvSpPr>
          <p:spPr bwMode="auto">
            <a:xfrm>
              <a:off x="4386" y="3211"/>
              <a:ext cx="67" cy="110"/>
            </a:xfrm>
            <a:custGeom>
              <a:avLst/>
              <a:gdLst>
                <a:gd name="T0" fmla="*/ 34 w 133"/>
                <a:gd name="T1" fmla="*/ 29 h 221"/>
                <a:gd name="T2" fmla="*/ 21 w 133"/>
                <a:gd name="T3" fmla="*/ 0 h 221"/>
                <a:gd name="T4" fmla="*/ 0 w 133"/>
                <a:gd name="T5" fmla="*/ 24 h 221"/>
                <a:gd name="T6" fmla="*/ 12 w 133"/>
                <a:gd name="T7" fmla="*/ 55 h 221"/>
                <a:gd name="T8" fmla="*/ 34 w 133"/>
                <a:gd name="T9" fmla="*/ 29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"/>
                <a:gd name="T16" fmla="*/ 0 h 221"/>
                <a:gd name="T17" fmla="*/ 133 w 133"/>
                <a:gd name="T18" fmla="*/ 221 h 2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" h="221">
                  <a:moveTo>
                    <a:pt x="133" y="117"/>
                  </a:moveTo>
                  <a:lnTo>
                    <a:pt x="81" y="0"/>
                  </a:lnTo>
                  <a:lnTo>
                    <a:pt x="0" y="98"/>
                  </a:lnTo>
                  <a:lnTo>
                    <a:pt x="46" y="221"/>
                  </a:lnTo>
                  <a:lnTo>
                    <a:pt x="133" y="117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4" name="Freeform 31"/>
            <p:cNvSpPr>
              <a:spLocks/>
            </p:cNvSpPr>
            <p:nvPr/>
          </p:nvSpPr>
          <p:spPr bwMode="auto">
            <a:xfrm>
              <a:off x="4329" y="3124"/>
              <a:ext cx="34" cy="56"/>
            </a:xfrm>
            <a:custGeom>
              <a:avLst/>
              <a:gdLst>
                <a:gd name="T0" fmla="*/ 0 w 66"/>
                <a:gd name="T1" fmla="*/ 13 h 110"/>
                <a:gd name="T2" fmla="*/ 6 w 66"/>
                <a:gd name="T3" fmla="*/ 29 h 110"/>
                <a:gd name="T4" fmla="*/ 18 w 66"/>
                <a:gd name="T5" fmla="*/ 15 h 110"/>
                <a:gd name="T6" fmla="*/ 11 w 66"/>
                <a:gd name="T7" fmla="*/ 0 h 110"/>
                <a:gd name="T8" fmla="*/ 0 w 66"/>
                <a:gd name="T9" fmla="*/ 13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110"/>
                <a:gd name="T17" fmla="*/ 66 w 66"/>
                <a:gd name="T18" fmla="*/ 110 h 11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110">
                  <a:moveTo>
                    <a:pt x="0" y="49"/>
                  </a:moveTo>
                  <a:lnTo>
                    <a:pt x="23" y="110"/>
                  </a:lnTo>
                  <a:lnTo>
                    <a:pt x="66" y="59"/>
                  </a:lnTo>
                  <a:lnTo>
                    <a:pt x="41" y="0"/>
                  </a:lnTo>
                  <a:lnTo>
                    <a:pt x="0" y="49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5" name="Freeform 32"/>
            <p:cNvSpPr>
              <a:spLocks/>
            </p:cNvSpPr>
            <p:nvPr/>
          </p:nvSpPr>
          <p:spPr bwMode="auto">
            <a:xfrm>
              <a:off x="4539" y="3240"/>
              <a:ext cx="67" cy="110"/>
            </a:xfrm>
            <a:custGeom>
              <a:avLst/>
              <a:gdLst>
                <a:gd name="T0" fmla="*/ 34 w 134"/>
                <a:gd name="T1" fmla="*/ 29 h 221"/>
                <a:gd name="T2" fmla="*/ 20 w 134"/>
                <a:gd name="T3" fmla="*/ 0 h 221"/>
                <a:gd name="T4" fmla="*/ 0 w 134"/>
                <a:gd name="T5" fmla="*/ 24 h 221"/>
                <a:gd name="T6" fmla="*/ 11 w 134"/>
                <a:gd name="T7" fmla="*/ 55 h 221"/>
                <a:gd name="T8" fmla="*/ 34 w 134"/>
                <a:gd name="T9" fmla="*/ 29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"/>
                <a:gd name="T16" fmla="*/ 0 h 221"/>
                <a:gd name="T17" fmla="*/ 134 w 134"/>
                <a:gd name="T18" fmla="*/ 221 h 2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" h="221">
                  <a:moveTo>
                    <a:pt x="134" y="118"/>
                  </a:moveTo>
                  <a:lnTo>
                    <a:pt x="82" y="0"/>
                  </a:lnTo>
                  <a:lnTo>
                    <a:pt x="0" y="98"/>
                  </a:lnTo>
                  <a:lnTo>
                    <a:pt x="46" y="221"/>
                  </a:lnTo>
                  <a:lnTo>
                    <a:pt x="134" y="118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6" name="Freeform 33"/>
            <p:cNvSpPr>
              <a:spLocks/>
            </p:cNvSpPr>
            <p:nvPr/>
          </p:nvSpPr>
          <p:spPr bwMode="auto">
            <a:xfrm>
              <a:off x="4516" y="3368"/>
              <a:ext cx="68" cy="111"/>
            </a:xfrm>
            <a:custGeom>
              <a:avLst/>
              <a:gdLst>
                <a:gd name="T0" fmla="*/ 34 w 135"/>
                <a:gd name="T1" fmla="*/ 30 h 221"/>
                <a:gd name="T2" fmla="*/ 21 w 135"/>
                <a:gd name="T3" fmla="*/ 0 h 221"/>
                <a:gd name="T4" fmla="*/ 0 w 135"/>
                <a:gd name="T5" fmla="*/ 25 h 221"/>
                <a:gd name="T6" fmla="*/ 12 w 135"/>
                <a:gd name="T7" fmla="*/ 56 h 221"/>
                <a:gd name="T8" fmla="*/ 34 w 135"/>
                <a:gd name="T9" fmla="*/ 30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5"/>
                <a:gd name="T16" fmla="*/ 0 h 221"/>
                <a:gd name="T17" fmla="*/ 135 w 135"/>
                <a:gd name="T18" fmla="*/ 221 h 2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5" h="221">
                  <a:moveTo>
                    <a:pt x="135" y="118"/>
                  </a:moveTo>
                  <a:lnTo>
                    <a:pt x="83" y="0"/>
                  </a:lnTo>
                  <a:lnTo>
                    <a:pt x="0" y="98"/>
                  </a:lnTo>
                  <a:lnTo>
                    <a:pt x="46" y="221"/>
                  </a:lnTo>
                  <a:lnTo>
                    <a:pt x="135" y="118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7" name="Freeform 34"/>
            <p:cNvSpPr>
              <a:spLocks/>
            </p:cNvSpPr>
            <p:nvPr/>
          </p:nvSpPr>
          <p:spPr bwMode="auto">
            <a:xfrm>
              <a:off x="4496" y="3498"/>
              <a:ext cx="67" cy="111"/>
            </a:xfrm>
            <a:custGeom>
              <a:avLst/>
              <a:gdLst>
                <a:gd name="T0" fmla="*/ 0 w 134"/>
                <a:gd name="T1" fmla="*/ 25 h 221"/>
                <a:gd name="T2" fmla="*/ 11 w 134"/>
                <a:gd name="T3" fmla="*/ 56 h 221"/>
                <a:gd name="T4" fmla="*/ 34 w 134"/>
                <a:gd name="T5" fmla="*/ 30 h 221"/>
                <a:gd name="T6" fmla="*/ 20 w 134"/>
                <a:gd name="T7" fmla="*/ 0 h 221"/>
                <a:gd name="T8" fmla="*/ 0 w 134"/>
                <a:gd name="T9" fmla="*/ 25 h 2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"/>
                <a:gd name="T16" fmla="*/ 0 h 221"/>
                <a:gd name="T17" fmla="*/ 134 w 134"/>
                <a:gd name="T18" fmla="*/ 221 h 2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" h="221">
                  <a:moveTo>
                    <a:pt x="0" y="98"/>
                  </a:moveTo>
                  <a:lnTo>
                    <a:pt x="47" y="221"/>
                  </a:lnTo>
                  <a:lnTo>
                    <a:pt x="134" y="118"/>
                  </a:lnTo>
                  <a:lnTo>
                    <a:pt x="82" y="0"/>
                  </a:lnTo>
                  <a:lnTo>
                    <a:pt x="0" y="98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8" name="Freeform 35"/>
            <p:cNvSpPr>
              <a:spLocks/>
            </p:cNvSpPr>
            <p:nvPr/>
          </p:nvSpPr>
          <p:spPr bwMode="auto">
            <a:xfrm>
              <a:off x="4557" y="3112"/>
              <a:ext cx="68" cy="110"/>
            </a:xfrm>
            <a:custGeom>
              <a:avLst/>
              <a:gdLst>
                <a:gd name="T0" fmla="*/ 34 w 135"/>
                <a:gd name="T1" fmla="*/ 29 h 220"/>
                <a:gd name="T2" fmla="*/ 21 w 135"/>
                <a:gd name="T3" fmla="*/ 0 h 220"/>
                <a:gd name="T4" fmla="*/ 0 w 135"/>
                <a:gd name="T5" fmla="*/ 25 h 220"/>
                <a:gd name="T6" fmla="*/ 12 w 135"/>
                <a:gd name="T7" fmla="*/ 55 h 220"/>
                <a:gd name="T8" fmla="*/ 34 w 135"/>
                <a:gd name="T9" fmla="*/ 29 h 2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5"/>
                <a:gd name="T16" fmla="*/ 0 h 220"/>
                <a:gd name="T17" fmla="*/ 135 w 135"/>
                <a:gd name="T18" fmla="*/ 220 h 2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5" h="220">
                  <a:moveTo>
                    <a:pt x="135" y="118"/>
                  </a:moveTo>
                  <a:lnTo>
                    <a:pt x="83" y="0"/>
                  </a:lnTo>
                  <a:lnTo>
                    <a:pt x="0" y="98"/>
                  </a:lnTo>
                  <a:lnTo>
                    <a:pt x="47" y="220"/>
                  </a:lnTo>
                  <a:lnTo>
                    <a:pt x="135" y="118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09" name="Freeform 36"/>
            <p:cNvSpPr>
              <a:spLocks/>
            </p:cNvSpPr>
            <p:nvPr/>
          </p:nvSpPr>
          <p:spPr bwMode="auto">
            <a:xfrm>
              <a:off x="4451" y="3285"/>
              <a:ext cx="67" cy="111"/>
            </a:xfrm>
            <a:custGeom>
              <a:avLst/>
              <a:gdLst>
                <a:gd name="T0" fmla="*/ 22 w 133"/>
                <a:gd name="T1" fmla="*/ 3 h 222"/>
                <a:gd name="T2" fmla="*/ 21 w 133"/>
                <a:gd name="T3" fmla="*/ 0 h 222"/>
                <a:gd name="T4" fmla="*/ 0 w 133"/>
                <a:gd name="T5" fmla="*/ 25 h 222"/>
                <a:gd name="T6" fmla="*/ 9 w 133"/>
                <a:gd name="T7" fmla="*/ 49 h 222"/>
                <a:gd name="T8" fmla="*/ 12 w 133"/>
                <a:gd name="T9" fmla="*/ 56 h 222"/>
                <a:gd name="T10" fmla="*/ 34 w 133"/>
                <a:gd name="T11" fmla="*/ 29 h 222"/>
                <a:gd name="T12" fmla="*/ 22 w 133"/>
                <a:gd name="T13" fmla="*/ 3 h 2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3"/>
                <a:gd name="T22" fmla="*/ 0 h 222"/>
                <a:gd name="T23" fmla="*/ 133 w 133"/>
                <a:gd name="T24" fmla="*/ 222 h 22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3" h="222">
                  <a:moveTo>
                    <a:pt x="87" y="12"/>
                  </a:moveTo>
                  <a:lnTo>
                    <a:pt x="82" y="0"/>
                  </a:lnTo>
                  <a:lnTo>
                    <a:pt x="0" y="98"/>
                  </a:lnTo>
                  <a:lnTo>
                    <a:pt x="36" y="195"/>
                  </a:lnTo>
                  <a:lnTo>
                    <a:pt x="46" y="222"/>
                  </a:lnTo>
                  <a:lnTo>
                    <a:pt x="133" y="118"/>
                  </a:lnTo>
                  <a:lnTo>
                    <a:pt x="87" y="12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10" name="Freeform 37"/>
            <p:cNvSpPr>
              <a:spLocks/>
            </p:cNvSpPr>
            <p:nvPr/>
          </p:nvSpPr>
          <p:spPr bwMode="auto">
            <a:xfrm>
              <a:off x="4612" y="3499"/>
              <a:ext cx="33" cy="56"/>
            </a:xfrm>
            <a:custGeom>
              <a:avLst/>
              <a:gdLst>
                <a:gd name="T0" fmla="*/ 5 w 67"/>
                <a:gd name="T1" fmla="*/ 28 h 111"/>
                <a:gd name="T2" fmla="*/ 16 w 67"/>
                <a:gd name="T3" fmla="*/ 15 h 111"/>
                <a:gd name="T4" fmla="*/ 10 w 67"/>
                <a:gd name="T5" fmla="*/ 0 h 111"/>
                <a:gd name="T6" fmla="*/ 0 w 67"/>
                <a:gd name="T7" fmla="*/ 13 h 111"/>
                <a:gd name="T8" fmla="*/ 5 w 67"/>
                <a:gd name="T9" fmla="*/ 28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7"/>
                <a:gd name="T16" fmla="*/ 0 h 111"/>
                <a:gd name="T17" fmla="*/ 67 w 67"/>
                <a:gd name="T18" fmla="*/ 111 h 11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7" h="111">
                  <a:moveTo>
                    <a:pt x="23" y="111"/>
                  </a:moveTo>
                  <a:lnTo>
                    <a:pt x="67" y="60"/>
                  </a:lnTo>
                  <a:lnTo>
                    <a:pt x="42" y="0"/>
                  </a:lnTo>
                  <a:lnTo>
                    <a:pt x="0" y="50"/>
                  </a:lnTo>
                  <a:lnTo>
                    <a:pt x="23" y="111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11" name="Freeform 38"/>
            <p:cNvSpPr>
              <a:spLocks/>
            </p:cNvSpPr>
            <p:nvPr/>
          </p:nvSpPr>
          <p:spPr bwMode="auto">
            <a:xfrm>
              <a:off x="4381" y="3920"/>
              <a:ext cx="29" cy="53"/>
            </a:xfrm>
            <a:custGeom>
              <a:avLst/>
              <a:gdLst>
                <a:gd name="T0" fmla="*/ 10 w 58"/>
                <a:gd name="T1" fmla="*/ 0 h 106"/>
                <a:gd name="T2" fmla="*/ 9 w 58"/>
                <a:gd name="T3" fmla="*/ 0 h 106"/>
                <a:gd name="T4" fmla="*/ 7 w 58"/>
                <a:gd name="T5" fmla="*/ 1 h 106"/>
                <a:gd name="T6" fmla="*/ 6 w 58"/>
                <a:gd name="T7" fmla="*/ 2 h 106"/>
                <a:gd name="T8" fmla="*/ 4 w 58"/>
                <a:gd name="T9" fmla="*/ 3 h 106"/>
                <a:gd name="T10" fmla="*/ 3 w 58"/>
                <a:gd name="T11" fmla="*/ 5 h 106"/>
                <a:gd name="T12" fmla="*/ 2 w 58"/>
                <a:gd name="T13" fmla="*/ 7 h 106"/>
                <a:gd name="T14" fmla="*/ 2 w 58"/>
                <a:gd name="T15" fmla="*/ 9 h 106"/>
                <a:gd name="T16" fmla="*/ 1 w 58"/>
                <a:gd name="T17" fmla="*/ 12 h 106"/>
                <a:gd name="T18" fmla="*/ 0 w 58"/>
                <a:gd name="T19" fmla="*/ 15 h 106"/>
                <a:gd name="T20" fmla="*/ 0 w 58"/>
                <a:gd name="T21" fmla="*/ 18 h 106"/>
                <a:gd name="T22" fmla="*/ 1 w 58"/>
                <a:gd name="T23" fmla="*/ 21 h 106"/>
                <a:gd name="T24" fmla="*/ 1 w 58"/>
                <a:gd name="T25" fmla="*/ 23 h 106"/>
                <a:gd name="T26" fmla="*/ 2 w 58"/>
                <a:gd name="T27" fmla="*/ 24 h 106"/>
                <a:gd name="T28" fmla="*/ 3 w 58"/>
                <a:gd name="T29" fmla="*/ 26 h 106"/>
                <a:gd name="T30" fmla="*/ 4 w 58"/>
                <a:gd name="T31" fmla="*/ 27 h 106"/>
                <a:gd name="T32" fmla="*/ 6 w 58"/>
                <a:gd name="T33" fmla="*/ 27 h 106"/>
                <a:gd name="T34" fmla="*/ 7 w 58"/>
                <a:gd name="T35" fmla="*/ 27 h 106"/>
                <a:gd name="T36" fmla="*/ 7 w 58"/>
                <a:gd name="T37" fmla="*/ 26 h 106"/>
                <a:gd name="T38" fmla="*/ 10 w 58"/>
                <a:gd name="T39" fmla="*/ 25 h 106"/>
                <a:gd name="T40" fmla="*/ 11 w 58"/>
                <a:gd name="T41" fmla="*/ 24 h 106"/>
                <a:gd name="T42" fmla="*/ 12 w 58"/>
                <a:gd name="T43" fmla="*/ 23 h 106"/>
                <a:gd name="T44" fmla="*/ 13 w 58"/>
                <a:gd name="T45" fmla="*/ 20 h 106"/>
                <a:gd name="T46" fmla="*/ 14 w 58"/>
                <a:gd name="T47" fmla="*/ 18 h 106"/>
                <a:gd name="T48" fmla="*/ 15 w 58"/>
                <a:gd name="T49" fmla="*/ 14 h 106"/>
                <a:gd name="T50" fmla="*/ 15 w 58"/>
                <a:gd name="T51" fmla="*/ 12 h 106"/>
                <a:gd name="T52" fmla="*/ 15 w 58"/>
                <a:gd name="T53" fmla="*/ 9 h 106"/>
                <a:gd name="T54" fmla="*/ 15 w 58"/>
                <a:gd name="T55" fmla="*/ 6 h 106"/>
                <a:gd name="T56" fmla="*/ 14 w 58"/>
                <a:gd name="T57" fmla="*/ 4 h 106"/>
                <a:gd name="T58" fmla="*/ 13 w 58"/>
                <a:gd name="T59" fmla="*/ 3 h 106"/>
                <a:gd name="T60" fmla="*/ 12 w 58"/>
                <a:gd name="T61" fmla="*/ 2 h 106"/>
                <a:gd name="T62" fmla="*/ 11 w 58"/>
                <a:gd name="T63" fmla="*/ 1 h 106"/>
                <a:gd name="T64" fmla="*/ 10 w 58"/>
                <a:gd name="T65" fmla="*/ 0 h 10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8"/>
                <a:gd name="T100" fmla="*/ 0 h 106"/>
                <a:gd name="T101" fmla="*/ 58 w 58"/>
                <a:gd name="T102" fmla="*/ 106 h 10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8" h="106">
                  <a:moveTo>
                    <a:pt x="38" y="0"/>
                  </a:moveTo>
                  <a:lnTo>
                    <a:pt x="33" y="0"/>
                  </a:lnTo>
                  <a:lnTo>
                    <a:pt x="27" y="1"/>
                  </a:lnTo>
                  <a:lnTo>
                    <a:pt x="22" y="5"/>
                  </a:lnTo>
                  <a:lnTo>
                    <a:pt x="16" y="10"/>
                  </a:lnTo>
                  <a:lnTo>
                    <a:pt x="12" y="17"/>
                  </a:lnTo>
                  <a:lnTo>
                    <a:pt x="8" y="25"/>
                  </a:lnTo>
                  <a:lnTo>
                    <a:pt x="5" y="36"/>
                  </a:lnTo>
                  <a:lnTo>
                    <a:pt x="3" y="48"/>
                  </a:lnTo>
                  <a:lnTo>
                    <a:pt x="0" y="61"/>
                  </a:lnTo>
                  <a:lnTo>
                    <a:pt x="0" y="72"/>
                  </a:lnTo>
                  <a:lnTo>
                    <a:pt x="1" y="82"/>
                  </a:lnTo>
                  <a:lnTo>
                    <a:pt x="4" y="90"/>
                  </a:lnTo>
                  <a:lnTo>
                    <a:pt x="7" y="96"/>
                  </a:lnTo>
                  <a:lnTo>
                    <a:pt x="11" y="101"/>
                  </a:lnTo>
                  <a:lnTo>
                    <a:pt x="15" y="105"/>
                  </a:lnTo>
                  <a:lnTo>
                    <a:pt x="21" y="106"/>
                  </a:lnTo>
                  <a:lnTo>
                    <a:pt x="27" y="106"/>
                  </a:lnTo>
                  <a:lnTo>
                    <a:pt x="31" y="104"/>
                  </a:lnTo>
                  <a:lnTo>
                    <a:pt x="37" y="100"/>
                  </a:lnTo>
                  <a:lnTo>
                    <a:pt x="42" y="96"/>
                  </a:lnTo>
                  <a:lnTo>
                    <a:pt x="46" y="89"/>
                  </a:lnTo>
                  <a:lnTo>
                    <a:pt x="51" y="80"/>
                  </a:lnTo>
                  <a:lnTo>
                    <a:pt x="54" y="69"/>
                  </a:lnTo>
                  <a:lnTo>
                    <a:pt x="57" y="58"/>
                  </a:lnTo>
                  <a:lnTo>
                    <a:pt x="58" y="45"/>
                  </a:lnTo>
                  <a:lnTo>
                    <a:pt x="58" y="34"/>
                  </a:lnTo>
                  <a:lnTo>
                    <a:pt x="57" y="24"/>
                  </a:lnTo>
                  <a:lnTo>
                    <a:pt x="54" y="16"/>
                  </a:lnTo>
                  <a:lnTo>
                    <a:pt x="51" y="10"/>
                  </a:lnTo>
                  <a:lnTo>
                    <a:pt x="47" y="5"/>
                  </a:lnTo>
                  <a:lnTo>
                    <a:pt x="43" y="1"/>
                  </a:lnTo>
                  <a:lnTo>
                    <a:pt x="38" y="0"/>
                  </a:lnTo>
                  <a:close/>
                </a:path>
              </a:pathLst>
            </a:custGeom>
            <a:solidFill>
              <a:srgbClr val="FFF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12" name="Freeform 39"/>
            <p:cNvSpPr>
              <a:spLocks/>
            </p:cNvSpPr>
            <p:nvPr/>
          </p:nvSpPr>
          <p:spPr bwMode="auto">
            <a:xfrm>
              <a:off x="4391" y="3761"/>
              <a:ext cx="2" cy="4"/>
            </a:xfrm>
            <a:custGeom>
              <a:avLst/>
              <a:gdLst>
                <a:gd name="T0" fmla="*/ 1 w 4"/>
                <a:gd name="T1" fmla="*/ 0 h 7"/>
                <a:gd name="T2" fmla="*/ 1 w 4"/>
                <a:gd name="T3" fmla="*/ 1 h 7"/>
                <a:gd name="T4" fmla="*/ 1 w 4"/>
                <a:gd name="T5" fmla="*/ 1 h 7"/>
                <a:gd name="T6" fmla="*/ 1 w 4"/>
                <a:gd name="T7" fmla="*/ 2 h 7"/>
                <a:gd name="T8" fmla="*/ 0 w 4"/>
                <a:gd name="T9" fmla="*/ 2 h 7"/>
                <a:gd name="T10" fmla="*/ 1 w 4"/>
                <a:gd name="T11" fmla="*/ 2 h 7"/>
                <a:gd name="T12" fmla="*/ 1 w 4"/>
                <a:gd name="T13" fmla="*/ 1 h 7"/>
                <a:gd name="T14" fmla="*/ 1 w 4"/>
                <a:gd name="T15" fmla="*/ 1 h 7"/>
                <a:gd name="T16" fmla="*/ 1 w 4"/>
                <a:gd name="T17" fmla="*/ 0 h 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"/>
                <a:gd name="T28" fmla="*/ 0 h 7"/>
                <a:gd name="T29" fmla="*/ 4 w 4"/>
                <a:gd name="T30" fmla="*/ 7 h 7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" h="7">
                  <a:moveTo>
                    <a:pt x="4" y="0"/>
                  </a:moveTo>
                  <a:lnTo>
                    <a:pt x="3" y="1"/>
                  </a:lnTo>
                  <a:lnTo>
                    <a:pt x="2" y="4"/>
                  </a:lnTo>
                  <a:lnTo>
                    <a:pt x="1" y="5"/>
                  </a:lnTo>
                  <a:lnTo>
                    <a:pt x="0" y="7"/>
                  </a:lnTo>
                  <a:lnTo>
                    <a:pt x="1" y="5"/>
                  </a:lnTo>
                  <a:lnTo>
                    <a:pt x="2" y="4"/>
                  </a:lnTo>
                  <a:lnTo>
                    <a:pt x="3" y="1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13" name="Freeform 40"/>
            <p:cNvSpPr>
              <a:spLocks/>
            </p:cNvSpPr>
            <p:nvPr/>
          </p:nvSpPr>
          <p:spPr bwMode="auto">
            <a:xfrm>
              <a:off x="4197" y="3824"/>
              <a:ext cx="1" cy="1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1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1 h 1"/>
                <a:gd name="T16" fmla="*/ 1 w 1"/>
                <a:gd name="T17" fmla="*/ 1 h 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"/>
                <a:gd name="T28" fmla="*/ 0 h 1"/>
                <a:gd name="T29" fmla="*/ 1 w 1"/>
                <a:gd name="T30" fmla="*/ 1 h 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" h="1">
                  <a:moveTo>
                    <a:pt x="1" y="1"/>
                  </a:moveTo>
                  <a:lnTo>
                    <a:pt x="0" y="1"/>
                  </a:lnTo>
                  <a:lnTo>
                    <a:pt x="0" y="0"/>
                  </a:lnTo>
                  <a:lnTo>
                    <a:pt x="0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14" name="Freeform 41"/>
            <p:cNvSpPr>
              <a:spLocks/>
            </p:cNvSpPr>
            <p:nvPr/>
          </p:nvSpPr>
          <p:spPr bwMode="auto">
            <a:xfrm>
              <a:off x="4225" y="3436"/>
              <a:ext cx="4" cy="9"/>
            </a:xfrm>
            <a:custGeom>
              <a:avLst/>
              <a:gdLst>
                <a:gd name="T0" fmla="*/ 0 w 8"/>
                <a:gd name="T1" fmla="*/ 4 h 20"/>
                <a:gd name="T2" fmla="*/ 1 w 8"/>
                <a:gd name="T3" fmla="*/ 4 h 20"/>
                <a:gd name="T4" fmla="*/ 1 w 8"/>
                <a:gd name="T5" fmla="*/ 4 h 20"/>
                <a:gd name="T6" fmla="*/ 1 w 8"/>
                <a:gd name="T7" fmla="*/ 4 h 20"/>
                <a:gd name="T8" fmla="*/ 1 w 8"/>
                <a:gd name="T9" fmla="*/ 4 h 20"/>
                <a:gd name="T10" fmla="*/ 1 w 8"/>
                <a:gd name="T11" fmla="*/ 3 h 20"/>
                <a:gd name="T12" fmla="*/ 1 w 8"/>
                <a:gd name="T13" fmla="*/ 2 h 20"/>
                <a:gd name="T14" fmla="*/ 1 w 8"/>
                <a:gd name="T15" fmla="*/ 1 h 20"/>
                <a:gd name="T16" fmla="*/ 2 w 8"/>
                <a:gd name="T17" fmla="*/ 0 h 20"/>
                <a:gd name="T18" fmla="*/ 1 w 8"/>
                <a:gd name="T19" fmla="*/ 1 h 20"/>
                <a:gd name="T20" fmla="*/ 1 w 8"/>
                <a:gd name="T21" fmla="*/ 2 h 20"/>
                <a:gd name="T22" fmla="*/ 1 w 8"/>
                <a:gd name="T23" fmla="*/ 3 h 20"/>
                <a:gd name="T24" fmla="*/ 0 w 8"/>
                <a:gd name="T25" fmla="*/ 4 h 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"/>
                <a:gd name="T40" fmla="*/ 0 h 20"/>
                <a:gd name="T41" fmla="*/ 8 w 8"/>
                <a:gd name="T42" fmla="*/ 20 h 2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" h="20">
                  <a:moveTo>
                    <a:pt x="0" y="20"/>
                  </a:moveTo>
                  <a:lnTo>
                    <a:pt x="1" y="20"/>
                  </a:lnTo>
                  <a:lnTo>
                    <a:pt x="2" y="20"/>
                  </a:lnTo>
                  <a:lnTo>
                    <a:pt x="4" y="20"/>
                  </a:lnTo>
                  <a:lnTo>
                    <a:pt x="5" y="15"/>
                  </a:lnTo>
                  <a:lnTo>
                    <a:pt x="6" y="9"/>
                  </a:lnTo>
                  <a:lnTo>
                    <a:pt x="7" y="5"/>
                  </a:lnTo>
                  <a:lnTo>
                    <a:pt x="8" y="0"/>
                  </a:lnTo>
                  <a:lnTo>
                    <a:pt x="6" y="5"/>
                  </a:lnTo>
                  <a:lnTo>
                    <a:pt x="4" y="9"/>
                  </a:lnTo>
                  <a:lnTo>
                    <a:pt x="1" y="15"/>
                  </a:lnTo>
                  <a:lnTo>
                    <a:pt x="0" y="2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15" name="Freeform 42"/>
            <p:cNvSpPr>
              <a:spLocks/>
            </p:cNvSpPr>
            <p:nvPr/>
          </p:nvSpPr>
          <p:spPr bwMode="auto">
            <a:xfrm>
              <a:off x="4233" y="3814"/>
              <a:ext cx="1" cy="5"/>
            </a:xfrm>
            <a:custGeom>
              <a:avLst/>
              <a:gdLst>
                <a:gd name="T0" fmla="*/ 0 w 1"/>
                <a:gd name="T1" fmla="*/ 0 h 12"/>
                <a:gd name="T2" fmla="*/ 0 w 1"/>
                <a:gd name="T3" fmla="*/ 0 h 12"/>
                <a:gd name="T4" fmla="*/ 0 w 1"/>
                <a:gd name="T5" fmla="*/ 1 h 12"/>
                <a:gd name="T6" fmla="*/ 0 w 1"/>
                <a:gd name="T7" fmla="*/ 2 h 12"/>
                <a:gd name="T8" fmla="*/ 0 w 1"/>
                <a:gd name="T9" fmla="*/ 2 h 12"/>
                <a:gd name="T10" fmla="*/ 0 w 1"/>
                <a:gd name="T11" fmla="*/ 2 h 12"/>
                <a:gd name="T12" fmla="*/ 0 w 1"/>
                <a:gd name="T13" fmla="*/ 1 h 12"/>
                <a:gd name="T14" fmla="*/ 0 w 1"/>
                <a:gd name="T15" fmla="*/ 0 h 12"/>
                <a:gd name="T16" fmla="*/ 0 w 1"/>
                <a:gd name="T17" fmla="*/ 0 h 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"/>
                <a:gd name="T28" fmla="*/ 0 h 12"/>
                <a:gd name="T29" fmla="*/ 1 w 1"/>
                <a:gd name="T30" fmla="*/ 12 h 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" h="12">
                  <a:moveTo>
                    <a:pt x="0" y="0"/>
                  </a:moveTo>
                  <a:lnTo>
                    <a:pt x="0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9"/>
                  </a:lnTo>
                  <a:lnTo>
                    <a:pt x="0" y="6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16" name="Freeform 43"/>
            <p:cNvSpPr>
              <a:spLocks/>
            </p:cNvSpPr>
            <p:nvPr/>
          </p:nvSpPr>
          <p:spPr bwMode="auto">
            <a:xfrm>
              <a:off x="4195" y="3822"/>
              <a:ext cx="1" cy="1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1 w 1"/>
                <a:gd name="T5" fmla="*/ 0 h 1"/>
                <a:gd name="T6" fmla="*/ 1 w 1"/>
                <a:gd name="T7" fmla="*/ 1 h 1"/>
                <a:gd name="T8" fmla="*/ 1 w 1"/>
                <a:gd name="T9" fmla="*/ 1 h 1"/>
                <a:gd name="T10" fmla="*/ 1 w 1"/>
                <a:gd name="T11" fmla="*/ 1 h 1"/>
                <a:gd name="T12" fmla="*/ 1 w 1"/>
                <a:gd name="T13" fmla="*/ 0 h 1"/>
                <a:gd name="T14" fmla="*/ 1 w 1"/>
                <a:gd name="T15" fmla="*/ 0 h 1"/>
                <a:gd name="T16" fmla="*/ 0 w 1"/>
                <a:gd name="T17" fmla="*/ 0 h 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"/>
                <a:gd name="T28" fmla="*/ 0 h 1"/>
                <a:gd name="T29" fmla="*/ 1 w 1"/>
                <a:gd name="T30" fmla="*/ 1 h 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" h="1">
                  <a:moveTo>
                    <a:pt x="0" y="0"/>
                  </a:moveTo>
                  <a:lnTo>
                    <a:pt x="1" y="0"/>
                  </a:lnTo>
                  <a:lnTo>
                    <a:pt x="1" y="1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17" name="Freeform 44"/>
            <p:cNvSpPr>
              <a:spLocks/>
            </p:cNvSpPr>
            <p:nvPr/>
          </p:nvSpPr>
          <p:spPr bwMode="auto">
            <a:xfrm>
              <a:off x="4258" y="3914"/>
              <a:ext cx="4" cy="10"/>
            </a:xfrm>
            <a:custGeom>
              <a:avLst/>
              <a:gdLst>
                <a:gd name="T0" fmla="*/ 2 w 7"/>
                <a:gd name="T1" fmla="*/ 1 h 20"/>
                <a:gd name="T2" fmla="*/ 2 w 7"/>
                <a:gd name="T3" fmla="*/ 1 h 20"/>
                <a:gd name="T4" fmla="*/ 2 w 7"/>
                <a:gd name="T5" fmla="*/ 1 h 20"/>
                <a:gd name="T6" fmla="*/ 1 w 7"/>
                <a:gd name="T7" fmla="*/ 1 h 20"/>
                <a:gd name="T8" fmla="*/ 1 w 7"/>
                <a:gd name="T9" fmla="*/ 0 h 20"/>
                <a:gd name="T10" fmla="*/ 1 w 7"/>
                <a:gd name="T11" fmla="*/ 1 h 20"/>
                <a:gd name="T12" fmla="*/ 1 w 7"/>
                <a:gd name="T13" fmla="*/ 3 h 20"/>
                <a:gd name="T14" fmla="*/ 1 w 7"/>
                <a:gd name="T15" fmla="*/ 4 h 20"/>
                <a:gd name="T16" fmla="*/ 0 w 7"/>
                <a:gd name="T17" fmla="*/ 5 h 20"/>
                <a:gd name="T18" fmla="*/ 1 w 7"/>
                <a:gd name="T19" fmla="*/ 4 h 20"/>
                <a:gd name="T20" fmla="*/ 1 w 7"/>
                <a:gd name="T21" fmla="*/ 3 h 20"/>
                <a:gd name="T22" fmla="*/ 2 w 7"/>
                <a:gd name="T23" fmla="*/ 1 h 20"/>
                <a:gd name="T24" fmla="*/ 2 w 7"/>
                <a:gd name="T25" fmla="*/ 1 h 2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7"/>
                <a:gd name="T40" fmla="*/ 0 h 20"/>
                <a:gd name="T41" fmla="*/ 7 w 7"/>
                <a:gd name="T42" fmla="*/ 20 h 2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7" h="20">
                  <a:moveTo>
                    <a:pt x="7" y="1"/>
                  </a:moveTo>
                  <a:lnTo>
                    <a:pt x="6" y="1"/>
                  </a:lnTo>
                  <a:lnTo>
                    <a:pt x="4" y="1"/>
                  </a:lnTo>
                  <a:lnTo>
                    <a:pt x="3" y="0"/>
                  </a:lnTo>
                  <a:lnTo>
                    <a:pt x="2" y="5"/>
                  </a:lnTo>
                  <a:lnTo>
                    <a:pt x="2" y="11"/>
                  </a:lnTo>
                  <a:lnTo>
                    <a:pt x="1" y="16"/>
                  </a:lnTo>
                  <a:lnTo>
                    <a:pt x="0" y="20"/>
                  </a:lnTo>
                  <a:lnTo>
                    <a:pt x="2" y="16"/>
                  </a:lnTo>
                  <a:lnTo>
                    <a:pt x="4" y="10"/>
                  </a:lnTo>
                  <a:lnTo>
                    <a:pt x="6" y="5"/>
                  </a:lnTo>
                  <a:lnTo>
                    <a:pt x="7" y="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18" name="Oval 45"/>
            <p:cNvSpPr>
              <a:spLocks noChangeArrowheads="1"/>
            </p:cNvSpPr>
            <p:nvPr/>
          </p:nvSpPr>
          <p:spPr bwMode="auto">
            <a:xfrm>
              <a:off x="4233" y="3653"/>
              <a:ext cx="1" cy="1"/>
            </a:xfrm>
            <a:prstGeom prst="ellipse">
              <a:avLst/>
            </a:pr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19" name="Freeform 46"/>
            <p:cNvSpPr>
              <a:spLocks/>
            </p:cNvSpPr>
            <p:nvPr/>
          </p:nvSpPr>
          <p:spPr bwMode="auto">
            <a:xfrm>
              <a:off x="4078" y="3387"/>
              <a:ext cx="28" cy="53"/>
            </a:xfrm>
            <a:custGeom>
              <a:avLst/>
              <a:gdLst>
                <a:gd name="T0" fmla="*/ 5 w 58"/>
                <a:gd name="T1" fmla="*/ 27 h 106"/>
                <a:gd name="T2" fmla="*/ 6 w 58"/>
                <a:gd name="T3" fmla="*/ 27 h 106"/>
                <a:gd name="T4" fmla="*/ 7 w 58"/>
                <a:gd name="T5" fmla="*/ 26 h 106"/>
                <a:gd name="T6" fmla="*/ 8 w 58"/>
                <a:gd name="T7" fmla="*/ 26 h 106"/>
                <a:gd name="T8" fmla="*/ 10 w 58"/>
                <a:gd name="T9" fmla="*/ 24 h 106"/>
                <a:gd name="T10" fmla="*/ 11 w 58"/>
                <a:gd name="T11" fmla="*/ 23 h 106"/>
                <a:gd name="T12" fmla="*/ 12 w 58"/>
                <a:gd name="T13" fmla="*/ 20 h 106"/>
                <a:gd name="T14" fmla="*/ 13 w 58"/>
                <a:gd name="T15" fmla="*/ 18 h 106"/>
                <a:gd name="T16" fmla="*/ 13 w 58"/>
                <a:gd name="T17" fmla="*/ 14 h 106"/>
                <a:gd name="T18" fmla="*/ 14 w 58"/>
                <a:gd name="T19" fmla="*/ 12 h 106"/>
                <a:gd name="T20" fmla="*/ 14 w 58"/>
                <a:gd name="T21" fmla="*/ 9 h 106"/>
                <a:gd name="T22" fmla="*/ 14 w 58"/>
                <a:gd name="T23" fmla="*/ 6 h 106"/>
                <a:gd name="T24" fmla="*/ 13 w 58"/>
                <a:gd name="T25" fmla="*/ 4 h 106"/>
                <a:gd name="T26" fmla="*/ 12 w 58"/>
                <a:gd name="T27" fmla="*/ 3 h 106"/>
                <a:gd name="T28" fmla="*/ 11 w 58"/>
                <a:gd name="T29" fmla="*/ 2 h 106"/>
                <a:gd name="T30" fmla="*/ 10 w 58"/>
                <a:gd name="T31" fmla="*/ 1 h 106"/>
                <a:gd name="T32" fmla="*/ 9 w 58"/>
                <a:gd name="T33" fmla="*/ 0 h 106"/>
                <a:gd name="T34" fmla="*/ 7 w 58"/>
                <a:gd name="T35" fmla="*/ 0 h 106"/>
                <a:gd name="T36" fmla="*/ 6 w 58"/>
                <a:gd name="T37" fmla="*/ 1 h 106"/>
                <a:gd name="T38" fmla="*/ 5 w 58"/>
                <a:gd name="T39" fmla="*/ 2 h 106"/>
                <a:gd name="T40" fmla="*/ 4 w 58"/>
                <a:gd name="T41" fmla="*/ 3 h 106"/>
                <a:gd name="T42" fmla="*/ 3 w 58"/>
                <a:gd name="T43" fmla="*/ 5 h 106"/>
                <a:gd name="T44" fmla="*/ 1 w 58"/>
                <a:gd name="T45" fmla="*/ 7 h 106"/>
                <a:gd name="T46" fmla="*/ 1 w 58"/>
                <a:gd name="T47" fmla="*/ 9 h 106"/>
                <a:gd name="T48" fmla="*/ 0 w 58"/>
                <a:gd name="T49" fmla="*/ 13 h 106"/>
                <a:gd name="T50" fmla="*/ 0 w 58"/>
                <a:gd name="T51" fmla="*/ 15 h 106"/>
                <a:gd name="T52" fmla="*/ 0 w 58"/>
                <a:gd name="T53" fmla="*/ 19 h 106"/>
                <a:gd name="T54" fmla="*/ 0 w 58"/>
                <a:gd name="T55" fmla="*/ 21 h 106"/>
                <a:gd name="T56" fmla="*/ 0 w 58"/>
                <a:gd name="T57" fmla="*/ 23 h 106"/>
                <a:gd name="T58" fmla="*/ 1 w 58"/>
                <a:gd name="T59" fmla="*/ 24 h 106"/>
                <a:gd name="T60" fmla="*/ 2 w 58"/>
                <a:gd name="T61" fmla="*/ 26 h 106"/>
                <a:gd name="T62" fmla="*/ 3 w 58"/>
                <a:gd name="T63" fmla="*/ 27 h 106"/>
                <a:gd name="T64" fmla="*/ 5 w 58"/>
                <a:gd name="T65" fmla="*/ 27 h 10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8"/>
                <a:gd name="T100" fmla="*/ 0 h 106"/>
                <a:gd name="T101" fmla="*/ 58 w 58"/>
                <a:gd name="T102" fmla="*/ 106 h 10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8" h="106">
                  <a:moveTo>
                    <a:pt x="20" y="106"/>
                  </a:moveTo>
                  <a:lnTo>
                    <a:pt x="25" y="106"/>
                  </a:lnTo>
                  <a:lnTo>
                    <a:pt x="31" y="104"/>
                  </a:lnTo>
                  <a:lnTo>
                    <a:pt x="36" y="101"/>
                  </a:lnTo>
                  <a:lnTo>
                    <a:pt x="42" y="96"/>
                  </a:lnTo>
                  <a:lnTo>
                    <a:pt x="46" y="89"/>
                  </a:lnTo>
                  <a:lnTo>
                    <a:pt x="51" y="80"/>
                  </a:lnTo>
                  <a:lnTo>
                    <a:pt x="53" y="69"/>
                  </a:lnTo>
                  <a:lnTo>
                    <a:pt x="55" y="58"/>
                  </a:lnTo>
                  <a:lnTo>
                    <a:pt x="58" y="45"/>
                  </a:lnTo>
                  <a:lnTo>
                    <a:pt x="58" y="34"/>
                  </a:lnTo>
                  <a:lnTo>
                    <a:pt x="57" y="24"/>
                  </a:lnTo>
                  <a:lnTo>
                    <a:pt x="54" y="16"/>
                  </a:lnTo>
                  <a:lnTo>
                    <a:pt x="51" y="11"/>
                  </a:lnTo>
                  <a:lnTo>
                    <a:pt x="47" y="5"/>
                  </a:lnTo>
                  <a:lnTo>
                    <a:pt x="43" y="1"/>
                  </a:lnTo>
                  <a:lnTo>
                    <a:pt x="37" y="0"/>
                  </a:lnTo>
                  <a:lnTo>
                    <a:pt x="31" y="0"/>
                  </a:lnTo>
                  <a:lnTo>
                    <a:pt x="27" y="1"/>
                  </a:lnTo>
                  <a:lnTo>
                    <a:pt x="21" y="5"/>
                  </a:lnTo>
                  <a:lnTo>
                    <a:pt x="16" y="11"/>
                  </a:lnTo>
                  <a:lnTo>
                    <a:pt x="12" y="18"/>
                  </a:lnTo>
                  <a:lnTo>
                    <a:pt x="7" y="26"/>
                  </a:lnTo>
                  <a:lnTo>
                    <a:pt x="4" y="36"/>
                  </a:lnTo>
                  <a:lnTo>
                    <a:pt x="1" y="49"/>
                  </a:lnTo>
                  <a:lnTo>
                    <a:pt x="0" y="61"/>
                  </a:lnTo>
                  <a:lnTo>
                    <a:pt x="0" y="73"/>
                  </a:lnTo>
                  <a:lnTo>
                    <a:pt x="0" y="82"/>
                  </a:lnTo>
                  <a:lnTo>
                    <a:pt x="2" y="90"/>
                  </a:lnTo>
                  <a:lnTo>
                    <a:pt x="6" y="96"/>
                  </a:lnTo>
                  <a:lnTo>
                    <a:pt x="11" y="102"/>
                  </a:lnTo>
                  <a:lnTo>
                    <a:pt x="15" y="105"/>
                  </a:lnTo>
                  <a:lnTo>
                    <a:pt x="20" y="106"/>
                  </a:lnTo>
                  <a:close/>
                </a:path>
              </a:pathLst>
            </a:custGeom>
            <a:solidFill>
              <a:srgbClr val="FFF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20" name="Freeform 47"/>
            <p:cNvSpPr>
              <a:spLocks/>
            </p:cNvSpPr>
            <p:nvPr/>
          </p:nvSpPr>
          <p:spPr bwMode="auto">
            <a:xfrm>
              <a:off x="4074" y="3731"/>
              <a:ext cx="6" cy="7"/>
            </a:xfrm>
            <a:custGeom>
              <a:avLst/>
              <a:gdLst>
                <a:gd name="T0" fmla="*/ 3 w 14"/>
                <a:gd name="T1" fmla="*/ 4 h 14"/>
                <a:gd name="T2" fmla="*/ 2 w 14"/>
                <a:gd name="T3" fmla="*/ 3 h 14"/>
                <a:gd name="T4" fmla="*/ 1 w 14"/>
                <a:gd name="T5" fmla="*/ 2 h 14"/>
                <a:gd name="T6" fmla="*/ 1 w 14"/>
                <a:gd name="T7" fmla="*/ 1 h 14"/>
                <a:gd name="T8" fmla="*/ 0 w 14"/>
                <a:gd name="T9" fmla="*/ 0 h 14"/>
                <a:gd name="T10" fmla="*/ 1 w 14"/>
                <a:gd name="T11" fmla="*/ 1 h 14"/>
                <a:gd name="T12" fmla="*/ 1 w 14"/>
                <a:gd name="T13" fmla="*/ 2 h 14"/>
                <a:gd name="T14" fmla="*/ 2 w 14"/>
                <a:gd name="T15" fmla="*/ 3 h 14"/>
                <a:gd name="T16" fmla="*/ 3 w 14"/>
                <a:gd name="T17" fmla="*/ 4 h 14"/>
                <a:gd name="T18" fmla="*/ 3 w 14"/>
                <a:gd name="T19" fmla="*/ 4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4"/>
                <a:gd name="T31" fmla="*/ 0 h 14"/>
                <a:gd name="T32" fmla="*/ 14 w 14"/>
                <a:gd name="T33" fmla="*/ 14 h 14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4" h="14">
                  <a:moveTo>
                    <a:pt x="14" y="14"/>
                  </a:moveTo>
                  <a:lnTo>
                    <a:pt x="10" y="11"/>
                  </a:lnTo>
                  <a:lnTo>
                    <a:pt x="7" y="7"/>
                  </a:lnTo>
                  <a:lnTo>
                    <a:pt x="4" y="4"/>
                  </a:lnTo>
                  <a:lnTo>
                    <a:pt x="0" y="0"/>
                  </a:lnTo>
                  <a:lnTo>
                    <a:pt x="4" y="4"/>
                  </a:lnTo>
                  <a:lnTo>
                    <a:pt x="7" y="7"/>
                  </a:lnTo>
                  <a:lnTo>
                    <a:pt x="10" y="11"/>
                  </a:lnTo>
                  <a:lnTo>
                    <a:pt x="14" y="14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21" name="Freeform 48"/>
            <p:cNvSpPr>
              <a:spLocks/>
            </p:cNvSpPr>
            <p:nvPr/>
          </p:nvSpPr>
          <p:spPr bwMode="auto">
            <a:xfrm>
              <a:off x="4222" y="3651"/>
              <a:ext cx="2" cy="1"/>
            </a:xfrm>
            <a:custGeom>
              <a:avLst/>
              <a:gdLst>
                <a:gd name="T0" fmla="*/ 1 w 5"/>
                <a:gd name="T1" fmla="*/ 1 h 1"/>
                <a:gd name="T2" fmla="*/ 1 w 5"/>
                <a:gd name="T3" fmla="*/ 1 h 1"/>
                <a:gd name="T4" fmla="*/ 0 w 5"/>
                <a:gd name="T5" fmla="*/ 0 h 1"/>
                <a:gd name="T6" fmla="*/ 0 w 5"/>
                <a:gd name="T7" fmla="*/ 0 h 1"/>
                <a:gd name="T8" fmla="*/ 0 w 5"/>
                <a:gd name="T9" fmla="*/ 0 h 1"/>
                <a:gd name="T10" fmla="*/ 0 w 5"/>
                <a:gd name="T11" fmla="*/ 0 h 1"/>
                <a:gd name="T12" fmla="*/ 0 w 5"/>
                <a:gd name="T13" fmla="*/ 0 h 1"/>
                <a:gd name="T14" fmla="*/ 1 w 5"/>
                <a:gd name="T15" fmla="*/ 1 h 1"/>
                <a:gd name="T16" fmla="*/ 1 w 5"/>
                <a:gd name="T17" fmla="*/ 1 h 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"/>
                <a:gd name="T28" fmla="*/ 0 h 1"/>
                <a:gd name="T29" fmla="*/ 5 w 5"/>
                <a:gd name="T30" fmla="*/ 1 h 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" h="1">
                  <a:moveTo>
                    <a:pt x="5" y="1"/>
                  </a:moveTo>
                  <a:lnTo>
                    <a:pt x="4" y="1"/>
                  </a:lnTo>
                  <a:lnTo>
                    <a:pt x="2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lnTo>
                    <a:pt x="2" y="0"/>
                  </a:lnTo>
                  <a:lnTo>
                    <a:pt x="4" y="1"/>
                  </a:lnTo>
                  <a:lnTo>
                    <a:pt x="5" y="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22" name="Freeform 49"/>
            <p:cNvSpPr>
              <a:spLocks/>
            </p:cNvSpPr>
            <p:nvPr/>
          </p:nvSpPr>
          <p:spPr bwMode="auto">
            <a:xfrm>
              <a:off x="4153" y="3617"/>
              <a:ext cx="2" cy="1"/>
            </a:xfrm>
            <a:custGeom>
              <a:avLst/>
              <a:gdLst>
                <a:gd name="T0" fmla="*/ 0 w 4"/>
                <a:gd name="T1" fmla="*/ 0 h 2"/>
                <a:gd name="T2" fmla="*/ 1 w 4"/>
                <a:gd name="T3" fmla="*/ 1 h 2"/>
                <a:gd name="T4" fmla="*/ 1 w 4"/>
                <a:gd name="T5" fmla="*/ 1 h 2"/>
                <a:gd name="T6" fmla="*/ 1 w 4"/>
                <a:gd name="T7" fmla="*/ 1 h 2"/>
                <a:gd name="T8" fmla="*/ 1 w 4"/>
                <a:gd name="T9" fmla="*/ 1 h 2"/>
                <a:gd name="T10" fmla="*/ 1 w 4"/>
                <a:gd name="T11" fmla="*/ 1 h 2"/>
                <a:gd name="T12" fmla="*/ 1 w 4"/>
                <a:gd name="T13" fmla="*/ 1 h 2"/>
                <a:gd name="T14" fmla="*/ 1 w 4"/>
                <a:gd name="T15" fmla="*/ 1 h 2"/>
                <a:gd name="T16" fmla="*/ 1 w 4"/>
                <a:gd name="T17" fmla="*/ 1 h 2"/>
                <a:gd name="T18" fmla="*/ 0 w 4"/>
                <a:gd name="T19" fmla="*/ 0 h 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"/>
                <a:gd name="T31" fmla="*/ 0 h 2"/>
                <a:gd name="T32" fmla="*/ 4 w 4"/>
                <a:gd name="T33" fmla="*/ 2 h 2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" h="2">
                  <a:moveTo>
                    <a:pt x="0" y="0"/>
                  </a:moveTo>
                  <a:lnTo>
                    <a:pt x="1" y="1"/>
                  </a:lnTo>
                  <a:lnTo>
                    <a:pt x="2" y="1"/>
                  </a:lnTo>
                  <a:lnTo>
                    <a:pt x="4" y="2"/>
                  </a:lnTo>
                  <a:lnTo>
                    <a:pt x="2" y="1"/>
                  </a:lnTo>
                  <a:lnTo>
                    <a:pt x="1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23" name="Freeform 50"/>
            <p:cNvSpPr>
              <a:spLocks/>
            </p:cNvSpPr>
            <p:nvPr/>
          </p:nvSpPr>
          <p:spPr bwMode="auto">
            <a:xfrm>
              <a:off x="4255" y="3540"/>
              <a:ext cx="1" cy="6"/>
            </a:xfrm>
            <a:custGeom>
              <a:avLst/>
              <a:gdLst>
                <a:gd name="T0" fmla="*/ 0 w 1"/>
                <a:gd name="T1" fmla="*/ 3 h 11"/>
                <a:gd name="T2" fmla="*/ 0 w 1"/>
                <a:gd name="T3" fmla="*/ 3 h 11"/>
                <a:gd name="T4" fmla="*/ 0 w 1"/>
                <a:gd name="T5" fmla="*/ 2 h 11"/>
                <a:gd name="T6" fmla="*/ 0 w 1"/>
                <a:gd name="T7" fmla="*/ 1 h 11"/>
                <a:gd name="T8" fmla="*/ 0 w 1"/>
                <a:gd name="T9" fmla="*/ 0 h 11"/>
                <a:gd name="T10" fmla="*/ 0 w 1"/>
                <a:gd name="T11" fmla="*/ 1 h 11"/>
                <a:gd name="T12" fmla="*/ 0 w 1"/>
                <a:gd name="T13" fmla="*/ 2 h 11"/>
                <a:gd name="T14" fmla="*/ 0 w 1"/>
                <a:gd name="T15" fmla="*/ 3 h 11"/>
                <a:gd name="T16" fmla="*/ 0 w 1"/>
                <a:gd name="T17" fmla="*/ 3 h 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"/>
                <a:gd name="T28" fmla="*/ 0 h 11"/>
                <a:gd name="T29" fmla="*/ 1 w 1"/>
                <a:gd name="T30" fmla="*/ 11 h 1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" h="11">
                  <a:moveTo>
                    <a:pt x="0" y="11"/>
                  </a:moveTo>
                  <a:lnTo>
                    <a:pt x="0" y="9"/>
                  </a:lnTo>
                  <a:lnTo>
                    <a:pt x="0" y="5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24" name="Freeform 51"/>
            <p:cNvSpPr>
              <a:spLocks/>
            </p:cNvSpPr>
            <p:nvPr/>
          </p:nvSpPr>
          <p:spPr bwMode="auto">
            <a:xfrm>
              <a:off x="4292" y="3537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w 1"/>
                <a:gd name="T9" fmla="*/ 0 h 1"/>
                <a:gd name="T10" fmla="*/ 0 w 1"/>
                <a:gd name="T11" fmla="*/ 0 h 1"/>
                <a:gd name="T12" fmla="*/ 0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"/>
                <a:gd name="T28" fmla="*/ 0 h 1"/>
                <a:gd name="T29" fmla="*/ 1 w 1"/>
                <a:gd name="T30" fmla="*/ 1 h 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25" name="Freeform 52"/>
            <p:cNvSpPr>
              <a:spLocks/>
            </p:cNvSpPr>
            <p:nvPr/>
          </p:nvSpPr>
          <p:spPr bwMode="auto">
            <a:xfrm>
              <a:off x="4290" y="3535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1 w 1"/>
                <a:gd name="T5" fmla="*/ 0 h 1"/>
                <a:gd name="T6" fmla="*/ 1 w 1"/>
                <a:gd name="T7" fmla="*/ 0 h 1"/>
                <a:gd name="T8" fmla="*/ 1 w 1"/>
                <a:gd name="T9" fmla="*/ 0 h 1"/>
                <a:gd name="T10" fmla="*/ 1 w 1"/>
                <a:gd name="T11" fmla="*/ 0 h 1"/>
                <a:gd name="T12" fmla="*/ 1 w 1"/>
                <a:gd name="T13" fmla="*/ 0 h 1"/>
                <a:gd name="T14" fmla="*/ 0 w 1"/>
                <a:gd name="T15" fmla="*/ 0 h 1"/>
                <a:gd name="T16" fmla="*/ 0 w 1"/>
                <a:gd name="T17" fmla="*/ 0 h 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"/>
                <a:gd name="T28" fmla="*/ 0 h 1"/>
                <a:gd name="T29" fmla="*/ 1 w 1"/>
                <a:gd name="T30" fmla="*/ 1 h 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" h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26" name="Freeform 53"/>
            <p:cNvSpPr>
              <a:spLocks/>
            </p:cNvSpPr>
            <p:nvPr/>
          </p:nvSpPr>
          <p:spPr bwMode="auto">
            <a:xfrm>
              <a:off x="4255" y="3535"/>
              <a:ext cx="1" cy="5"/>
            </a:xfrm>
            <a:custGeom>
              <a:avLst/>
              <a:gdLst>
                <a:gd name="T0" fmla="*/ 1 w 1"/>
                <a:gd name="T1" fmla="*/ 0 h 11"/>
                <a:gd name="T2" fmla="*/ 0 w 1"/>
                <a:gd name="T3" fmla="*/ 0 h 11"/>
                <a:gd name="T4" fmla="*/ 0 w 1"/>
                <a:gd name="T5" fmla="*/ 1 h 11"/>
                <a:gd name="T6" fmla="*/ 0 w 1"/>
                <a:gd name="T7" fmla="*/ 2 h 11"/>
                <a:gd name="T8" fmla="*/ 0 w 1"/>
                <a:gd name="T9" fmla="*/ 2 h 11"/>
                <a:gd name="T10" fmla="*/ 0 w 1"/>
                <a:gd name="T11" fmla="*/ 2 h 11"/>
                <a:gd name="T12" fmla="*/ 0 w 1"/>
                <a:gd name="T13" fmla="*/ 2 h 11"/>
                <a:gd name="T14" fmla="*/ 0 w 1"/>
                <a:gd name="T15" fmla="*/ 1 h 11"/>
                <a:gd name="T16" fmla="*/ 0 w 1"/>
                <a:gd name="T17" fmla="*/ 0 h 11"/>
                <a:gd name="T18" fmla="*/ 1 w 1"/>
                <a:gd name="T19" fmla="*/ 0 h 11"/>
                <a:gd name="T20" fmla="*/ 1 w 1"/>
                <a:gd name="T21" fmla="*/ 0 h 11"/>
                <a:gd name="T22" fmla="*/ 1 w 1"/>
                <a:gd name="T23" fmla="*/ 0 h 11"/>
                <a:gd name="T24" fmla="*/ 1 w 1"/>
                <a:gd name="T25" fmla="*/ 0 h 11"/>
                <a:gd name="T26" fmla="*/ 1 w 1"/>
                <a:gd name="T27" fmla="*/ 0 h 1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"/>
                <a:gd name="T43" fmla="*/ 0 h 11"/>
                <a:gd name="T44" fmla="*/ 1 w 1"/>
                <a:gd name="T45" fmla="*/ 11 h 1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" h="11">
                  <a:moveTo>
                    <a:pt x="1" y="0"/>
                  </a:moveTo>
                  <a:lnTo>
                    <a:pt x="0" y="3"/>
                  </a:lnTo>
                  <a:lnTo>
                    <a:pt x="0" y="5"/>
                  </a:lnTo>
                  <a:lnTo>
                    <a:pt x="0" y="8"/>
                  </a:lnTo>
                  <a:lnTo>
                    <a:pt x="0" y="11"/>
                  </a:lnTo>
                  <a:lnTo>
                    <a:pt x="0" y="8"/>
                  </a:lnTo>
                  <a:lnTo>
                    <a:pt x="0" y="5"/>
                  </a:lnTo>
                  <a:lnTo>
                    <a:pt x="0" y="3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B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27" name="Freeform 54"/>
            <p:cNvSpPr>
              <a:spLocks/>
            </p:cNvSpPr>
            <p:nvPr/>
          </p:nvSpPr>
          <p:spPr bwMode="auto">
            <a:xfrm>
              <a:off x="4322" y="3436"/>
              <a:ext cx="76" cy="107"/>
            </a:xfrm>
            <a:custGeom>
              <a:avLst/>
              <a:gdLst>
                <a:gd name="T0" fmla="*/ 38 w 153"/>
                <a:gd name="T1" fmla="*/ 6 h 213"/>
                <a:gd name="T2" fmla="*/ 0 w 153"/>
                <a:gd name="T3" fmla="*/ 0 h 213"/>
                <a:gd name="T4" fmla="*/ 0 w 153"/>
                <a:gd name="T5" fmla="*/ 1 h 213"/>
                <a:gd name="T6" fmla="*/ 0 w 153"/>
                <a:gd name="T7" fmla="*/ 2 h 213"/>
                <a:gd name="T8" fmla="*/ 0 w 153"/>
                <a:gd name="T9" fmla="*/ 3 h 213"/>
                <a:gd name="T10" fmla="*/ 0 w 153"/>
                <a:gd name="T11" fmla="*/ 3 h 213"/>
                <a:gd name="T12" fmla="*/ 2 w 153"/>
                <a:gd name="T13" fmla="*/ 11 h 213"/>
                <a:gd name="T14" fmla="*/ 4 w 153"/>
                <a:gd name="T15" fmla="*/ 15 h 213"/>
                <a:gd name="T16" fmla="*/ 4 w 153"/>
                <a:gd name="T17" fmla="*/ 18 h 213"/>
                <a:gd name="T18" fmla="*/ 5 w 153"/>
                <a:gd name="T19" fmla="*/ 20 h 213"/>
                <a:gd name="T20" fmla="*/ 6 w 153"/>
                <a:gd name="T21" fmla="*/ 22 h 213"/>
                <a:gd name="T22" fmla="*/ 6 w 153"/>
                <a:gd name="T23" fmla="*/ 25 h 213"/>
                <a:gd name="T24" fmla="*/ 8 w 153"/>
                <a:gd name="T25" fmla="*/ 30 h 213"/>
                <a:gd name="T26" fmla="*/ 9 w 153"/>
                <a:gd name="T27" fmla="*/ 37 h 213"/>
                <a:gd name="T28" fmla="*/ 10 w 153"/>
                <a:gd name="T29" fmla="*/ 39 h 213"/>
                <a:gd name="T30" fmla="*/ 11 w 153"/>
                <a:gd name="T31" fmla="*/ 43 h 213"/>
                <a:gd name="T32" fmla="*/ 13 w 153"/>
                <a:gd name="T33" fmla="*/ 48 h 213"/>
                <a:gd name="T34" fmla="*/ 15 w 153"/>
                <a:gd name="T35" fmla="*/ 54 h 213"/>
                <a:gd name="T36" fmla="*/ 17 w 153"/>
                <a:gd name="T37" fmla="*/ 52 h 213"/>
                <a:gd name="T38" fmla="*/ 19 w 153"/>
                <a:gd name="T39" fmla="*/ 51 h 213"/>
                <a:gd name="T40" fmla="*/ 20 w 153"/>
                <a:gd name="T41" fmla="*/ 51 h 213"/>
                <a:gd name="T42" fmla="*/ 22 w 153"/>
                <a:gd name="T43" fmla="*/ 51 h 213"/>
                <a:gd name="T44" fmla="*/ 23 w 153"/>
                <a:gd name="T45" fmla="*/ 51 h 213"/>
                <a:gd name="T46" fmla="*/ 25 w 153"/>
                <a:gd name="T47" fmla="*/ 51 h 213"/>
                <a:gd name="T48" fmla="*/ 27 w 153"/>
                <a:gd name="T49" fmla="*/ 51 h 213"/>
                <a:gd name="T50" fmla="*/ 29 w 153"/>
                <a:gd name="T51" fmla="*/ 52 h 213"/>
                <a:gd name="T52" fmla="*/ 29 w 153"/>
                <a:gd name="T53" fmla="*/ 49 h 213"/>
                <a:gd name="T54" fmla="*/ 28 w 153"/>
                <a:gd name="T55" fmla="*/ 44 h 213"/>
                <a:gd name="T56" fmla="*/ 26 w 153"/>
                <a:gd name="T57" fmla="*/ 38 h 213"/>
                <a:gd name="T58" fmla="*/ 26 w 153"/>
                <a:gd name="T59" fmla="*/ 32 h 213"/>
                <a:gd name="T60" fmla="*/ 27 w 153"/>
                <a:gd name="T61" fmla="*/ 28 h 213"/>
                <a:gd name="T62" fmla="*/ 28 w 153"/>
                <a:gd name="T63" fmla="*/ 24 h 213"/>
                <a:gd name="T64" fmla="*/ 29 w 153"/>
                <a:gd name="T65" fmla="*/ 20 h 213"/>
                <a:gd name="T66" fmla="*/ 31 w 153"/>
                <a:gd name="T67" fmla="*/ 17 h 213"/>
                <a:gd name="T68" fmla="*/ 33 w 153"/>
                <a:gd name="T69" fmla="*/ 13 h 213"/>
                <a:gd name="T70" fmla="*/ 35 w 153"/>
                <a:gd name="T71" fmla="*/ 11 h 213"/>
                <a:gd name="T72" fmla="*/ 36 w 153"/>
                <a:gd name="T73" fmla="*/ 8 h 213"/>
                <a:gd name="T74" fmla="*/ 38 w 153"/>
                <a:gd name="T75" fmla="*/ 6 h 21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53"/>
                <a:gd name="T115" fmla="*/ 0 h 213"/>
                <a:gd name="T116" fmla="*/ 153 w 153"/>
                <a:gd name="T117" fmla="*/ 213 h 21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53" h="213">
                  <a:moveTo>
                    <a:pt x="153" y="24"/>
                  </a:moveTo>
                  <a:lnTo>
                    <a:pt x="0" y="0"/>
                  </a:lnTo>
                  <a:lnTo>
                    <a:pt x="1" y="3"/>
                  </a:lnTo>
                  <a:lnTo>
                    <a:pt x="1" y="6"/>
                  </a:lnTo>
                  <a:lnTo>
                    <a:pt x="1" y="9"/>
                  </a:lnTo>
                  <a:lnTo>
                    <a:pt x="2" y="12"/>
                  </a:lnTo>
                  <a:lnTo>
                    <a:pt x="10" y="41"/>
                  </a:lnTo>
                  <a:lnTo>
                    <a:pt x="16" y="59"/>
                  </a:lnTo>
                  <a:lnTo>
                    <a:pt x="19" y="70"/>
                  </a:lnTo>
                  <a:lnTo>
                    <a:pt x="21" y="79"/>
                  </a:lnTo>
                  <a:lnTo>
                    <a:pt x="24" y="88"/>
                  </a:lnTo>
                  <a:lnTo>
                    <a:pt x="26" y="99"/>
                  </a:lnTo>
                  <a:lnTo>
                    <a:pt x="32" y="118"/>
                  </a:lnTo>
                  <a:lnTo>
                    <a:pt x="39" y="145"/>
                  </a:lnTo>
                  <a:lnTo>
                    <a:pt x="42" y="155"/>
                  </a:lnTo>
                  <a:lnTo>
                    <a:pt x="47" y="171"/>
                  </a:lnTo>
                  <a:lnTo>
                    <a:pt x="54" y="190"/>
                  </a:lnTo>
                  <a:lnTo>
                    <a:pt x="63" y="213"/>
                  </a:lnTo>
                  <a:lnTo>
                    <a:pt x="70" y="208"/>
                  </a:lnTo>
                  <a:lnTo>
                    <a:pt x="77" y="204"/>
                  </a:lnTo>
                  <a:lnTo>
                    <a:pt x="83" y="202"/>
                  </a:lnTo>
                  <a:lnTo>
                    <a:pt x="88" y="201"/>
                  </a:lnTo>
                  <a:lnTo>
                    <a:pt x="94" y="201"/>
                  </a:lnTo>
                  <a:lnTo>
                    <a:pt x="101" y="202"/>
                  </a:lnTo>
                  <a:lnTo>
                    <a:pt x="109" y="203"/>
                  </a:lnTo>
                  <a:lnTo>
                    <a:pt x="118" y="205"/>
                  </a:lnTo>
                  <a:lnTo>
                    <a:pt x="117" y="196"/>
                  </a:lnTo>
                  <a:lnTo>
                    <a:pt x="112" y="174"/>
                  </a:lnTo>
                  <a:lnTo>
                    <a:pt x="107" y="149"/>
                  </a:lnTo>
                  <a:lnTo>
                    <a:pt x="106" y="128"/>
                  </a:lnTo>
                  <a:lnTo>
                    <a:pt x="109" y="111"/>
                  </a:lnTo>
                  <a:lnTo>
                    <a:pt x="114" y="94"/>
                  </a:lnTo>
                  <a:lnTo>
                    <a:pt x="119" y="79"/>
                  </a:lnTo>
                  <a:lnTo>
                    <a:pt x="126" y="65"/>
                  </a:lnTo>
                  <a:lnTo>
                    <a:pt x="134" y="52"/>
                  </a:lnTo>
                  <a:lnTo>
                    <a:pt x="141" y="41"/>
                  </a:lnTo>
                  <a:lnTo>
                    <a:pt x="147" y="31"/>
                  </a:lnTo>
                  <a:lnTo>
                    <a:pt x="153" y="24"/>
                  </a:lnTo>
                  <a:close/>
                </a:path>
              </a:pathLst>
            </a:custGeom>
            <a:solidFill>
              <a:srgbClr val="FF19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28" name="Freeform 55"/>
            <p:cNvSpPr>
              <a:spLocks/>
            </p:cNvSpPr>
            <p:nvPr/>
          </p:nvSpPr>
          <p:spPr bwMode="auto">
            <a:xfrm>
              <a:off x="4292" y="3537"/>
              <a:ext cx="1" cy="3"/>
            </a:xfrm>
            <a:custGeom>
              <a:avLst/>
              <a:gdLst>
                <a:gd name="T0" fmla="*/ 1 w 2"/>
                <a:gd name="T1" fmla="*/ 2 h 6"/>
                <a:gd name="T2" fmla="*/ 1 w 2"/>
                <a:gd name="T3" fmla="*/ 1 h 6"/>
                <a:gd name="T4" fmla="*/ 1 w 2"/>
                <a:gd name="T5" fmla="*/ 1 h 6"/>
                <a:gd name="T6" fmla="*/ 1 w 2"/>
                <a:gd name="T7" fmla="*/ 1 h 6"/>
                <a:gd name="T8" fmla="*/ 0 w 2"/>
                <a:gd name="T9" fmla="*/ 0 h 6"/>
                <a:gd name="T10" fmla="*/ 1 w 2"/>
                <a:gd name="T11" fmla="*/ 1 h 6"/>
                <a:gd name="T12" fmla="*/ 1 w 2"/>
                <a:gd name="T13" fmla="*/ 1 h 6"/>
                <a:gd name="T14" fmla="*/ 1 w 2"/>
                <a:gd name="T15" fmla="*/ 1 h 6"/>
                <a:gd name="T16" fmla="*/ 1 w 2"/>
                <a:gd name="T17" fmla="*/ 2 h 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"/>
                <a:gd name="T28" fmla="*/ 0 h 6"/>
                <a:gd name="T29" fmla="*/ 2 w 2"/>
                <a:gd name="T30" fmla="*/ 6 h 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" h="6">
                  <a:moveTo>
                    <a:pt x="2" y="6"/>
                  </a:moveTo>
                  <a:lnTo>
                    <a:pt x="2" y="4"/>
                  </a:lnTo>
                  <a:lnTo>
                    <a:pt x="1" y="2"/>
                  </a:lnTo>
                  <a:lnTo>
                    <a:pt x="1" y="1"/>
                  </a:lnTo>
                  <a:lnTo>
                    <a:pt x="0" y="0"/>
                  </a:lnTo>
                  <a:lnTo>
                    <a:pt x="1" y="1"/>
                  </a:lnTo>
                  <a:lnTo>
                    <a:pt x="1" y="2"/>
                  </a:lnTo>
                  <a:lnTo>
                    <a:pt x="2" y="4"/>
                  </a:lnTo>
                  <a:lnTo>
                    <a:pt x="2" y="6"/>
                  </a:lnTo>
                  <a:close/>
                </a:path>
              </a:pathLst>
            </a:custGeom>
            <a:solidFill>
              <a:srgbClr val="7FF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29" name="Freeform 56"/>
            <p:cNvSpPr>
              <a:spLocks/>
            </p:cNvSpPr>
            <p:nvPr/>
          </p:nvSpPr>
          <p:spPr bwMode="auto">
            <a:xfrm>
              <a:off x="4291" y="3535"/>
              <a:ext cx="1" cy="2"/>
            </a:xfrm>
            <a:custGeom>
              <a:avLst/>
              <a:gdLst>
                <a:gd name="T0" fmla="*/ 0 w 3"/>
                <a:gd name="T1" fmla="*/ 0 h 4"/>
                <a:gd name="T2" fmla="*/ 0 w 3"/>
                <a:gd name="T3" fmla="*/ 1 h 4"/>
                <a:gd name="T4" fmla="*/ 0 w 3"/>
                <a:gd name="T5" fmla="*/ 1 h 4"/>
                <a:gd name="T6" fmla="*/ 0 w 3"/>
                <a:gd name="T7" fmla="*/ 1 h 4"/>
                <a:gd name="T8" fmla="*/ 0 w 3"/>
                <a:gd name="T9" fmla="*/ 1 h 4"/>
                <a:gd name="T10" fmla="*/ 0 w 3"/>
                <a:gd name="T11" fmla="*/ 1 h 4"/>
                <a:gd name="T12" fmla="*/ 0 w 3"/>
                <a:gd name="T13" fmla="*/ 1 h 4"/>
                <a:gd name="T14" fmla="*/ 0 w 3"/>
                <a:gd name="T15" fmla="*/ 1 h 4"/>
                <a:gd name="T16" fmla="*/ 0 w 3"/>
                <a:gd name="T17" fmla="*/ 0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"/>
                <a:gd name="T28" fmla="*/ 0 h 4"/>
                <a:gd name="T29" fmla="*/ 3 w 3"/>
                <a:gd name="T30" fmla="*/ 4 h 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" h="4">
                  <a:moveTo>
                    <a:pt x="0" y="0"/>
                  </a:moveTo>
                  <a:lnTo>
                    <a:pt x="2" y="2"/>
                  </a:lnTo>
                  <a:lnTo>
                    <a:pt x="2" y="3"/>
                  </a:lnTo>
                  <a:lnTo>
                    <a:pt x="3" y="4"/>
                  </a:lnTo>
                  <a:lnTo>
                    <a:pt x="2" y="3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0" name="Oval 57"/>
            <p:cNvSpPr>
              <a:spLocks noChangeArrowheads="1"/>
            </p:cNvSpPr>
            <p:nvPr/>
          </p:nvSpPr>
          <p:spPr bwMode="auto">
            <a:xfrm>
              <a:off x="4290" y="3535"/>
              <a:ext cx="1" cy="1"/>
            </a:xfrm>
            <a:prstGeom prst="ellipse">
              <a:avLst/>
            </a:prstGeom>
            <a:solidFill>
              <a:srgbClr val="7FF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1" name="Freeform 58"/>
            <p:cNvSpPr>
              <a:spLocks/>
            </p:cNvSpPr>
            <p:nvPr/>
          </p:nvSpPr>
          <p:spPr bwMode="auto">
            <a:xfrm>
              <a:off x="4045" y="3731"/>
              <a:ext cx="89" cy="180"/>
            </a:xfrm>
            <a:custGeom>
              <a:avLst/>
              <a:gdLst>
                <a:gd name="T0" fmla="*/ 33 w 177"/>
                <a:gd name="T1" fmla="*/ 22 h 360"/>
                <a:gd name="T2" fmla="*/ 33 w 177"/>
                <a:gd name="T3" fmla="*/ 21 h 360"/>
                <a:gd name="T4" fmla="*/ 34 w 177"/>
                <a:gd name="T5" fmla="*/ 20 h 360"/>
                <a:gd name="T6" fmla="*/ 35 w 177"/>
                <a:gd name="T7" fmla="*/ 19 h 360"/>
                <a:gd name="T8" fmla="*/ 37 w 177"/>
                <a:gd name="T9" fmla="*/ 18 h 360"/>
                <a:gd name="T10" fmla="*/ 33 w 177"/>
                <a:gd name="T11" fmla="*/ 15 h 360"/>
                <a:gd name="T12" fmla="*/ 30 w 177"/>
                <a:gd name="T13" fmla="*/ 13 h 360"/>
                <a:gd name="T14" fmla="*/ 27 w 177"/>
                <a:gd name="T15" fmla="*/ 11 h 360"/>
                <a:gd name="T16" fmla="*/ 24 w 177"/>
                <a:gd name="T17" fmla="*/ 9 h 360"/>
                <a:gd name="T18" fmla="*/ 21 w 177"/>
                <a:gd name="T19" fmla="*/ 6 h 360"/>
                <a:gd name="T20" fmla="*/ 19 w 177"/>
                <a:gd name="T21" fmla="*/ 5 h 360"/>
                <a:gd name="T22" fmla="*/ 16 w 177"/>
                <a:gd name="T23" fmla="*/ 2 h 360"/>
                <a:gd name="T24" fmla="*/ 14 w 177"/>
                <a:gd name="T25" fmla="*/ 0 h 360"/>
                <a:gd name="T26" fmla="*/ 0 w 177"/>
                <a:gd name="T27" fmla="*/ 87 h 360"/>
                <a:gd name="T28" fmla="*/ 22 w 177"/>
                <a:gd name="T29" fmla="*/ 90 h 360"/>
                <a:gd name="T30" fmla="*/ 23 w 177"/>
                <a:gd name="T31" fmla="*/ 89 h 360"/>
                <a:gd name="T32" fmla="*/ 25 w 177"/>
                <a:gd name="T33" fmla="*/ 86 h 360"/>
                <a:gd name="T34" fmla="*/ 27 w 177"/>
                <a:gd name="T35" fmla="*/ 84 h 360"/>
                <a:gd name="T36" fmla="*/ 29 w 177"/>
                <a:gd name="T37" fmla="*/ 81 h 360"/>
                <a:gd name="T38" fmla="*/ 31 w 177"/>
                <a:gd name="T39" fmla="*/ 77 h 360"/>
                <a:gd name="T40" fmla="*/ 32 w 177"/>
                <a:gd name="T41" fmla="*/ 73 h 360"/>
                <a:gd name="T42" fmla="*/ 33 w 177"/>
                <a:gd name="T43" fmla="*/ 69 h 360"/>
                <a:gd name="T44" fmla="*/ 34 w 177"/>
                <a:gd name="T45" fmla="*/ 65 h 360"/>
                <a:gd name="T46" fmla="*/ 34 w 177"/>
                <a:gd name="T47" fmla="*/ 59 h 360"/>
                <a:gd name="T48" fmla="*/ 33 w 177"/>
                <a:gd name="T49" fmla="*/ 52 h 360"/>
                <a:gd name="T50" fmla="*/ 31 w 177"/>
                <a:gd name="T51" fmla="*/ 47 h 360"/>
                <a:gd name="T52" fmla="*/ 31 w 177"/>
                <a:gd name="T53" fmla="*/ 45 h 360"/>
                <a:gd name="T54" fmla="*/ 33 w 177"/>
                <a:gd name="T55" fmla="*/ 45 h 360"/>
                <a:gd name="T56" fmla="*/ 35 w 177"/>
                <a:gd name="T57" fmla="*/ 45 h 360"/>
                <a:gd name="T58" fmla="*/ 37 w 177"/>
                <a:gd name="T59" fmla="*/ 46 h 360"/>
                <a:gd name="T60" fmla="*/ 38 w 177"/>
                <a:gd name="T61" fmla="*/ 46 h 360"/>
                <a:gd name="T62" fmla="*/ 40 w 177"/>
                <a:gd name="T63" fmla="*/ 45 h 360"/>
                <a:gd name="T64" fmla="*/ 41 w 177"/>
                <a:gd name="T65" fmla="*/ 45 h 360"/>
                <a:gd name="T66" fmla="*/ 43 w 177"/>
                <a:gd name="T67" fmla="*/ 45 h 360"/>
                <a:gd name="T68" fmla="*/ 45 w 177"/>
                <a:gd name="T69" fmla="*/ 43 h 360"/>
                <a:gd name="T70" fmla="*/ 43 w 177"/>
                <a:gd name="T71" fmla="*/ 40 h 360"/>
                <a:gd name="T72" fmla="*/ 42 w 177"/>
                <a:gd name="T73" fmla="*/ 38 h 360"/>
                <a:gd name="T74" fmla="*/ 41 w 177"/>
                <a:gd name="T75" fmla="*/ 34 h 360"/>
                <a:gd name="T76" fmla="*/ 39 w 177"/>
                <a:gd name="T77" fmla="*/ 31 h 360"/>
                <a:gd name="T78" fmla="*/ 38 w 177"/>
                <a:gd name="T79" fmla="*/ 28 h 360"/>
                <a:gd name="T80" fmla="*/ 36 w 177"/>
                <a:gd name="T81" fmla="*/ 26 h 360"/>
                <a:gd name="T82" fmla="*/ 35 w 177"/>
                <a:gd name="T83" fmla="*/ 23 h 360"/>
                <a:gd name="T84" fmla="*/ 33 w 177"/>
                <a:gd name="T85" fmla="*/ 22 h 36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77"/>
                <a:gd name="T130" fmla="*/ 0 h 360"/>
                <a:gd name="T131" fmla="*/ 177 w 177"/>
                <a:gd name="T132" fmla="*/ 360 h 36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77" h="360">
                  <a:moveTo>
                    <a:pt x="132" y="87"/>
                  </a:moveTo>
                  <a:lnTo>
                    <a:pt x="131" y="82"/>
                  </a:lnTo>
                  <a:lnTo>
                    <a:pt x="133" y="77"/>
                  </a:lnTo>
                  <a:lnTo>
                    <a:pt x="139" y="74"/>
                  </a:lnTo>
                  <a:lnTo>
                    <a:pt x="146" y="69"/>
                  </a:lnTo>
                  <a:lnTo>
                    <a:pt x="132" y="60"/>
                  </a:lnTo>
                  <a:lnTo>
                    <a:pt x="119" y="52"/>
                  </a:lnTo>
                  <a:lnTo>
                    <a:pt x="107" y="43"/>
                  </a:lnTo>
                  <a:lnTo>
                    <a:pt x="95" y="35"/>
                  </a:lnTo>
                  <a:lnTo>
                    <a:pt x="84" y="26"/>
                  </a:lnTo>
                  <a:lnTo>
                    <a:pt x="73" y="18"/>
                  </a:lnTo>
                  <a:lnTo>
                    <a:pt x="64" y="8"/>
                  </a:lnTo>
                  <a:lnTo>
                    <a:pt x="56" y="0"/>
                  </a:lnTo>
                  <a:lnTo>
                    <a:pt x="0" y="346"/>
                  </a:lnTo>
                  <a:lnTo>
                    <a:pt x="86" y="360"/>
                  </a:lnTo>
                  <a:lnTo>
                    <a:pt x="92" y="353"/>
                  </a:lnTo>
                  <a:lnTo>
                    <a:pt x="99" y="344"/>
                  </a:lnTo>
                  <a:lnTo>
                    <a:pt x="106" y="333"/>
                  </a:lnTo>
                  <a:lnTo>
                    <a:pt x="114" y="321"/>
                  </a:lnTo>
                  <a:lnTo>
                    <a:pt x="121" y="307"/>
                  </a:lnTo>
                  <a:lnTo>
                    <a:pt x="126" y="292"/>
                  </a:lnTo>
                  <a:lnTo>
                    <a:pt x="131" y="275"/>
                  </a:lnTo>
                  <a:lnTo>
                    <a:pt x="134" y="257"/>
                  </a:lnTo>
                  <a:lnTo>
                    <a:pt x="133" y="236"/>
                  </a:lnTo>
                  <a:lnTo>
                    <a:pt x="129" y="211"/>
                  </a:lnTo>
                  <a:lnTo>
                    <a:pt x="123" y="189"/>
                  </a:lnTo>
                  <a:lnTo>
                    <a:pt x="122" y="180"/>
                  </a:lnTo>
                  <a:lnTo>
                    <a:pt x="131" y="182"/>
                  </a:lnTo>
                  <a:lnTo>
                    <a:pt x="138" y="183"/>
                  </a:lnTo>
                  <a:lnTo>
                    <a:pt x="145" y="185"/>
                  </a:lnTo>
                  <a:lnTo>
                    <a:pt x="152" y="185"/>
                  </a:lnTo>
                  <a:lnTo>
                    <a:pt x="157" y="183"/>
                  </a:lnTo>
                  <a:lnTo>
                    <a:pt x="163" y="181"/>
                  </a:lnTo>
                  <a:lnTo>
                    <a:pt x="170" y="178"/>
                  </a:lnTo>
                  <a:lnTo>
                    <a:pt x="177" y="172"/>
                  </a:lnTo>
                  <a:lnTo>
                    <a:pt x="171" y="160"/>
                  </a:lnTo>
                  <a:lnTo>
                    <a:pt x="167" y="149"/>
                  </a:lnTo>
                  <a:lnTo>
                    <a:pt x="161" y="136"/>
                  </a:lnTo>
                  <a:lnTo>
                    <a:pt x="155" y="126"/>
                  </a:lnTo>
                  <a:lnTo>
                    <a:pt x="149" y="114"/>
                  </a:lnTo>
                  <a:lnTo>
                    <a:pt x="144" y="104"/>
                  </a:lnTo>
                  <a:lnTo>
                    <a:pt x="138" y="95"/>
                  </a:lnTo>
                  <a:lnTo>
                    <a:pt x="132" y="87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2" name="Freeform 59"/>
            <p:cNvSpPr>
              <a:spLocks/>
            </p:cNvSpPr>
            <p:nvPr/>
          </p:nvSpPr>
          <p:spPr bwMode="auto">
            <a:xfrm>
              <a:off x="4227" y="3456"/>
              <a:ext cx="28" cy="10"/>
            </a:xfrm>
            <a:custGeom>
              <a:avLst/>
              <a:gdLst>
                <a:gd name="T0" fmla="*/ 14 w 55"/>
                <a:gd name="T1" fmla="*/ 3 h 21"/>
                <a:gd name="T2" fmla="*/ 14 w 55"/>
                <a:gd name="T3" fmla="*/ 3 h 21"/>
                <a:gd name="T4" fmla="*/ 12 w 55"/>
                <a:gd name="T5" fmla="*/ 2 h 21"/>
                <a:gd name="T6" fmla="*/ 10 w 55"/>
                <a:gd name="T7" fmla="*/ 1 h 21"/>
                <a:gd name="T8" fmla="*/ 7 w 55"/>
                <a:gd name="T9" fmla="*/ 0 h 21"/>
                <a:gd name="T10" fmla="*/ 5 w 55"/>
                <a:gd name="T11" fmla="*/ 0 h 21"/>
                <a:gd name="T12" fmla="*/ 3 w 55"/>
                <a:gd name="T13" fmla="*/ 0 h 21"/>
                <a:gd name="T14" fmla="*/ 1 w 55"/>
                <a:gd name="T15" fmla="*/ 1 h 21"/>
                <a:gd name="T16" fmla="*/ 0 w 55"/>
                <a:gd name="T17" fmla="*/ 1 h 21"/>
                <a:gd name="T18" fmla="*/ 1 w 55"/>
                <a:gd name="T19" fmla="*/ 2 h 21"/>
                <a:gd name="T20" fmla="*/ 2 w 55"/>
                <a:gd name="T21" fmla="*/ 3 h 21"/>
                <a:gd name="T22" fmla="*/ 4 w 55"/>
                <a:gd name="T23" fmla="*/ 4 h 21"/>
                <a:gd name="T24" fmla="*/ 7 w 55"/>
                <a:gd name="T25" fmla="*/ 5 h 21"/>
                <a:gd name="T26" fmla="*/ 10 w 55"/>
                <a:gd name="T27" fmla="*/ 5 h 21"/>
                <a:gd name="T28" fmla="*/ 12 w 55"/>
                <a:gd name="T29" fmla="*/ 4 h 21"/>
                <a:gd name="T30" fmla="*/ 14 w 55"/>
                <a:gd name="T31" fmla="*/ 4 h 21"/>
                <a:gd name="T32" fmla="*/ 14 w 55"/>
                <a:gd name="T33" fmla="*/ 3 h 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5"/>
                <a:gd name="T52" fmla="*/ 0 h 21"/>
                <a:gd name="T53" fmla="*/ 55 w 55"/>
                <a:gd name="T54" fmla="*/ 21 h 2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5" h="21">
                  <a:moveTo>
                    <a:pt x="55" y="15"/>
                  </a:moveTo>
                  <a:lnTo>
                    <a:pt x="53" y="13"/>
                  </a:lnTo>
                  <a:lnTo>
                    <a:pt x="47" y="8"/>
                  </a:lnTo>
                  <a:lnTo>
                    <a:pt x="39" y="4"/>
                  </a:lnTo>
                  <a:lnTo>
                    <a:pt x="28" y="0"/>
                  </a:lnTo>
                  <a:lnTo>
                    <a:pt x="18" y="0"/>
                  </a:lnTo>
                  <a:lnTo>
                    <a:pt x="9" y="3"/>
                  </a:lnTo>
                  <a:lnTo>
                    <a:pt x="2" y="5"/>
                  </a:lnTo>
                  <a:lnTo>
                    <a:pt x="0" y="6"/>
                  </a:lnTo>
                  <a:lnTo>
                    <a:pt x="2" y="8"/>
                  </a:lnTo>
                  <a:lnTo>
                    <a:pt x="7" y="13"/>
                  </a:lnTo>
                  <a:lnTo>
                    <a:pt x="15" y="18"/>
                  </a:lnTo>
                  <a:lnTo>
                    <a:pt x="25" y="21"/>
                  </a:lnTo>
                  <a:lnTo>
                    <a:pt x="37" y="21"/>
                  </a:lnTo>
                  <a:lnTo>
                    <a:pt x="46" y="19"/>
                  </a:lnTo>
                  <a:lnTo>
                    <a:pt x="53" y="17"/>
                  </a:lnTo>
                  <a:lnTo>
                    <a:pt x="55" y="15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3" name="Freeform 60"/>
            <p:cNvSpPr>
              <a:spLocks/>
            </p:cNvSpPr>
            <p:nvPr/>
          </p:nvSpPr>
          <p:spPr bwMode="auto">
            <a:xfrm>
              <a:off x="4233" y="3894"/>
              <a:ext cx="27" cy="10"/>
            </a:xfrm>
            <a:custGeom>
              <a:avLst/>
              <a:gdLst>
                <a:gd name="T0" fmla="*/ 7 w 55"/>
                <a:gd name="T1" fmla="*/ 0 h 21"/>
                <a:gd name="T2" fmla="*/ 4 w 55"/>
                <a:gd name="T3" fmla="*/ 0 h 21"/>
                <a:gd name="T4" fmla="*/ 2 w 55"/>
                <a:gd name="T5" fmla="*/ 0 h 21"/>
                <a:gd name="T6" fmla="*/ 0 w 55"/>
                <a:gd name="T7" fmla="*/ 1 h 21"/>
                <a:gd name="T8" fmla="*/ 0 w 55"/>
                <a:gd name="T9" fmla="*/ 1 h 21"/>
                <a:gd name="T10" fmla="*/ 0 w 55"/>
                <a:gd name="T11" fmla="*/ 2 h 21"/>
                <a:gd name="T12" fmla="*/ 1 w 55"/>
                <a:gd name="T13" fmla="*/ 3 h 21"/>
                <a:gd name="T14" fmla="*/ 4 w 55"/>
                <a:gd name="T15" fmla="*/ 4 h 21"/>
                <a:gd name="T16" fmla="*/ 6 w 55"/>
                <a:gd name="T17" fmla="*/ 5 h 21"/>
                <a:gd name="T18" fmla="*/ 9 w 55"/>
                <a:gd name="T19" fmla="*/ 5 h 21"/>
                <a:gd name="T20" fmla="*/ 11 w 55"/>
                <a:gd name="T21" fmla="*/ 4 h 21"/>
                <a:gd name="T22" fmla="*/ 13 w 55"/>
                <a:gd name="T23" fmla="*/ 4 h 21"/>
                <a:gd name="T24" fmla="*/ 13 w 55"/>
                <a:gd name="T25" fmla="*/ 3 h 21"/>
                <a:gd name="T26" fmla="*/ 13 w 55"/>
                <a:gd name="T27" fmla="*/ 3 h 21"/>
                <a:gd name="T28" fmla="*/ 12 w 55"/>
                <a:gd name="T29" fmla="*/ 2 h 21"/>
                <a:gd name="T30" fmla="*/ 10 w 55"/>
                <a:gd name="T31" fmla="*/ 1 h 21"/>
                <a:gd name="T32" fmla="*/ 7 w 55"/>
                <a:gd name="T33" fmla="*/ 0 h 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5"/>
                <a:gd name="T52" fmla="*/ 0 h 21"/>
                <a:gd name="T53" fmla="*/ 55 w 55"/>
                <a:gd name="T54" fmla="*/ 21 h 2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5" h="21">
                  <a:moveTo>
                    <a:pt x="30" y="0"/>
                  </a:moveTo>
                  <a:lnTo>
                    <a:pt x="18" y="0"/>
                  </a:lnTo>
                  <a:lnTo>
                    <a:pt x="9" y="3"/>
                  </a:lnTo>
                  <a:lnTo>
                    <a:pt x="2" y="5"/>
                  </a:lnTo>
                  <a:lnTo>
                    <a:pt x="0" y="6"/>
                  </a:lnTo>
                  <a:lnTo>
                    <a:pt x="2" y="8"/>
                  </a:lnTo>
                  <a:lnTo>
                    <a:pt x="7" y="13"/>
                  </a:lnTo>
                  <a:lnTo>
                    <a:pt x="16" y="18"/>
                  </a:lnTo>
                  <a:lnTo>
                    <a:pt x="27" y="21"/>
                  </a:lnTo>
                  <a:lnTo>
                    <a:pt x="37" y="21"/>
                  </a:lnTo>
                  <a:lnTo>
                    <a:pt x="46" y="19"/>
                  </a:lnTo>
                  <a:lnTo>
                    <a:pt x="53" y="16"/>
                  </a:lnTo>
                  <a:lnTo>
                    <a:pt x="55" y="15"/>
                  </a:lnTo>
                  <a:lnTo>
                    <a:pt x="53" y="13"/>
                  </a:lnTo>
                  <a:lnTo>
                    <a:pt x="48" y="8"/>
                  </a:lnTo>
                  <a:lnTo>
                    <a:pt x="40" y="4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4" name="Freeform 61"/>
            <p:cNvSpPr>
              <a:spLocks/>
            </p:cNvSpPr>
            <p:nvPr/>
          </p:nvSpPr>
          <p:spPr bwMode="auto">
            <a:xfrm>
              <a:off x="4353" y="3448"/>
              <a:ext cx="89" cy="181"/>
            </a:xfrm>
            <a:custGeom>
              <a:avLst/>
              <a:gdLst>
                <a:gd name="T0" fmla="*/ 23 w 177"/>
                <a:gd name="T1" fmla="*/ 0 h 361"/>
                <a:gd name="T2" fmla="*/ 21 w 177"/>
                <a:gd name="T3" fmla="*/ 2 h 361"/>
                <a:gd name="T4" fmla="*/ 20 w 177"/>
                <a:gd name="T5" fmla="*/ 5 h 361"/>
                <a:gd name="T6" fmla="*/ 18 w 177"/>
                <a:gd name="T7" fmla="*/ 7 h 361"/>
                <a:gd name="T8" fmla="*/ 16 w 177"/>
                <a:gd name="T9" fmla="*/ 11 h 361"/>
                <a:gd name="T10" fmla="*/ 14 w 177"/>
                <a:gd name="T11" fmla="*/ 14 h 361"/>
                <a:gd name="T12" fmla="*/ 13 w 177"/>
                <a:gd name="T13" fmla="*/ 18 h 361"/>
                <a:gd name="T14" fmla="*/ 12 w 177"/>
                <a:gd name="T15" fmla="*/ 22 h 361"/>
                <a:gd name="T16" fmla="*/ 11 w 177"/>
                <a:gd name="T17" fmla="*/ 26 h 361"/>
                <a:gd name="T18" fmla="*/ 11 w 177"/>
                <a:gd name="T19" fmla="*/ 32 h 361"/>
                <a:gd name="T20" fmla="*/ 13 w 177"/>
                <a:gd name="T21" fmla="*/ 38 h 361"/>
                <a:gd name="T22" fmla="*/ 14 w 177"/>
                <a:gd name="T23" fmla="*/ 43 h 361"/>
                <a:gd name="T24" fmla="*/ 14 w 177"/>
                <a:gd name="T25" fmla="*/ 46 h 361"/>
                <a:gd name="T26" fmla="*/ 12 w 177"/>
                <a:gd name="T27" fmla="*/ 45 h 361"/>
                <a:gd name="T28" fmla="*/ 10 w 177"/>
                <a:gd name="T29" fmla="*/ 45 h 361"/>
                <a:gd name="T30" fmla="*/ 8 w 177"/>
                <a:gd name="T31" fmla="*/ 45 h 361"/>
                <a:gd name="T32" fmla="*/ 7 w 177"/>
                <a:gd name="T33" fmla="*/ 45 h 361"/>
                <a:gd name="T34" fmla="*/ 5 w 177"/>
                <a:gd name="T35" fmla="*/ 45 h 361"/>
                <a:gd name="T36" fmla="*/ 4 w 177"/>
                <a:gd name="T37" fmla="*/ 45 h 361"/>
                <a:gd name="T38" fmla="*/ 2 w 177"/>
                <a:gd name="T39" fmla="*/ 46 h 361"/>
                <a:gd name="T40" fmla="*/ 0 w 177"/>
                <a:gd name="T41" fmla="*/ 48 h 361"/>
                <a:gd name="T42" fmla="*/ 2 w 177"/>
                <a:gd name="T43" fmla="*/ 51 h 361"/>
                <a:gd name="T44" fmla="*/ 3 w 177"/>
                <a:gd name="T45" fmla="*/ 53 h 361"/>
                <a:gd name="T46" fmla="*/ 4 w 177"/>
                <a:gd name="T47" fmla="*/ 56 h 361"/>
                <a:gd name="T48" fmla="*/ 6 w 177"/>
                <a:gd name="T49" fmla="*/ 59 h 361"/>
                <a:gd name="T50" fmla="*/ 7 w 177"/>
                <a:gd name="T51" fmla="*/ 62 h 361"/>
                <a:gd name="T52" fmla="*/ 9 w 177"/>
                <a:gd name="T53" fmla="*/ 64 h 361"/>
                <a:gd name="T54" fmla="*/ 10 w 177"/>
                <a:gd name="T55" fmla="*/ 67 h 361"/>
                <a:gd name="T56" fmla="*/ 12 w 177"/>
                <a:gd name="T57" fmla="*/ 69 h 361"/>
                <a:gd name="T58" fmla="*/ 12 w 177"/>
                <a:gd name="T59" fmla="*/ 70 h 361"/>
                <a:gd name="T60" fmla="*/ 11 w 177"/>
                <a:gd name="T61" fmla="*/ 71 h 361"/>
                <a:gd name="T62" fmla="*/ 10 w 177"/>
                <a:gd name="T63" fmla="*/ 72 h 361"/>
                <a:gd name="T64" fmla="*/ 8 w 177"/>
                <a:gd name="T65" fmla="*/ 73 h 361"/>
                <a:gd name="T66" fmla="*/ 10 w 177"/>
                <a:gd name="T67" fmla="*/ 75 h 361"/>
                <a:gd name="T68" fmla="*/ 13 w 177"/>
                <a:gd name="T69" fmla="*/ 76 h 361"/>
                <a:gd name="T70" fmla="*/ 15 w 177"/>
                <a:gd name="T71" fmla="*/ 78 h 361"/>
                <a:gd name="T72" fmla="*/ 17 w 177"/>
                <a:gd name="T73" fmla="*/ 79 h 361"/>
                <a:gd name="T74" fmla="*/ 19 w 177"/>
                <a:gd name="T75" fmla="*/ 81 h 361"/>
                <a:gd name="T76" fmla="*/ 21 w 177"/>
                <a:gd name="T77" fmla="*/ 82 h 361"/>
                <a:gd name="T78" fmla="*/ 23 w 177"/>
                <a:gd name="T79" fmla="*/ 84 h 361"/>
                <a:gd name="T80" fmla="*/ 25 w 177"/>
                <a:gd name="T81" fmla="*/ 85 h 361"/>
                <a:gd name="T82" fmla="*/ 27 w 177"/>
                <a:gd name="T83" fmla="*/ 87 h 361"/>
                <a:gd name="T84" fmla="*/ 28 w 177"/>
                <a:gd name="T85" fmla="*/ 88 h 361"/>
                <a:gd name="T86" fmla="*/ 29 w 177"/>
                <a:gd name="T87" fmla="*/ 89 h 361"/>
                <a:gd name="T88" fmla="*/ 31 w 177"/>
                <a:gd name="T89" fmla="*/ 91 h 361"/>
                <a:gd name="T90" fmla="*/ 40 w 177"/>
                <a:gd name="T91" fmla="*/ 32 h 361"/>
                <a:gd name="T92" fmla="*/ 45 w 177"/>
                <a:gd name="T93" fmla="*/ 4 h 361"/>
                <a:gd name="T94" fmla="*/ 23 w 177"/>
                <a:gd name="T95" fmla="*/ 0 h 361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177"/>
                <a:gd name="T145" fmla="*/ 0 h 361"/>
                <a:gd name="T146" fmla="*/ 177 w 177"/>
                <a:gd name="T147" fmla="*/ 361 h 361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177" h="361">
                  <a:moveTo>
                    <a:pt x="90" y="0"/>
                  </a:moveTo>
                  <a:lnTo>
                    <a:pt x="84" y="7"/>
                  </a:lnTo>
                  <a:lnTo>
                    <a:pt x="78" y="17"/>
                  </a:lnTo>
                  <a:lnTo>
                    <a:pt x="71" y="28"/>
                  </a:lnTo>
                  <a:lnTo>
                    <a:pt x="63" y="41"/>
                  </a:lnTo>
                  <a:lnTo>
                    <a:pt x="56" y="55"/>
                  </a:lnTo>
                  <a:lnTo>
                    <a:pt x="51" y="70"/>
                  </a:lnTo>
                  <a:lnTo>
                    <a:pt x="46" y="87"/>
                  </a:lnTo>
                  <a:lnTo>
                    <a:pt x="43" y="104"/>
                  </a:lnTo>
                  <a:lnTo>
                    <a:pt x="44" y="125"/>
                  </a:lnTo>
                  <a:lnTo>
                    <a:pt x="49" y="150"/>
                  </a:lnTo>
                  <a:lnTo>
                    <a:pt x="54" y="172"/>
                  </a:lnTo>
                  <a:lnTo>
                    <a:pt x="55" y="181"/>
                  </a:lnTo>
                  <a:lnTo>
                    <a:pt x="46" y="179"/>
                  </a:lnTo>
                  <a:lnTo>
                    <a:pt x="38" y="178"/>
                  </a:lnTo>
                  <a:lnTo>
                    <a:pt x="31" y="177"/>
                  </a:lnTo>
                  <a:lnTo>
                    <a:pt x="25" y="177"/>
                  </a:lnTo>
                  <a:lnTo>
                    <a:pt x="20" y="178"/>
                  </a:lnTo>
                  <a:lnTo>
                    <a:pt x="14" y="180"/>
                  </a:lnTo>
                  <a:lnTo>
                    <a:pt x="7" y="184"/>
                  </a:lnTo>
                  <a:lnTo>
                    <a:pt x="0" y="189"/>
                  </a:lnTo>
                  <a:lnTo>
                    <a:pt x="5" y="201"/>
                  </a:lnTo>
                  <a:lnTo>
                    <a:pt x="10" y="212"/>
                  </a:lnTo>
                  <a:lnTo>
                    <a:pt x="15" y="224"/>
                  </a:lnTo>
                  <a:lnTo>
                    <a:pt x="21" y="235"/>
                  </a:lnTo>
                  <a:lnTo>
                    <a:pt x="26" y="246"/>
                  </a:lnTo>
                  <a:lnTo>
                    <a:pt x="33" y="256"/>
                  </a:lnTo>
                  <a:lnTo>
                    <a:pt x="39" y="265"/>
                  </a:lnTo>
                  <a:lnTo>
                    <a:pt x="45" y="274"/>
                  </a:lnTo>
                  <a:lnTo>
                    <a:pt x="47" y="278"/>
                  </a:lnTo>
                  <a:lnTo>
                    <a:pt x="44" y="283"/>
                  </a:lnTo>
                  <a:lnTo>
                    <a:pt x="38" y="286"/>
                  </a:lnTo>
                  <a:lnTo>
                    <a:pt x="31" y="291"/>
                  </a:lnTo>
                  <a:lnTo>
                    <a:pt x="40" y="298"/>
                  </a:lnTo>
                  <a:lnTo>
                    <a:pt x="49" y="303"/>
                  </a:lnTo>
                  <a:lnTo>
                    <a:pt x="58" y="310"/>
                  </a:lnTo>
                  <a:lnTo>
                    <a:pt x="67" y="316"/>
                  </a:lnTo>
                  <a:lnTo>
                    <a:pt x="75" y="322"/>
                  </a:lnTo>
                  <a:lnTo>
                    <a:pt x="84" y="328"/>
                  </a:lnTo>
                  <a:lnTo>
                    <a:pt x="91" y="335"/>
                  </a:lnTo>
                  <a:lnTo>
                    <a:pt x="99" y="340"/>
                  </a:lnTo>
                  <a:lnTo>
                    <a:pt x="105" y="345"/>
                  </a:lnTo>
                  <a:lnTo>
                    <a:pt x="111" y="351"/>
                  </a:lnTo>
                  <a:lnTo>
                    <a:pt x="116" y="355"/>
                  </a:lnTo>
                  <a:lnTo>
                    <a:pt x="121" y="361"/>
                  </a:lnTo>
                  <a:lnTo>
                    <a:pt x="160" y="126"/>
                  </a:lnTo>
                  <a:lnTo>
                    <a:pt x="177" y="15"/>
                  </a:lnTo>
                  <a:lnTo>
                    <a:pt x="90" y="0"/>
                  </a:lnTo>
                  <a:close/>
                </a:path>
              </a:pathLst>
            </a:custGeom>
            <a:solidFill>
              <a:srgbClr val="0000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5" name="Freeform 62"/>
            <p:cNvSpPr>
              <a:spLocks/>
            </p:cNvSpPr>
            <p:nvPr/>
          </p:nvSpPr>
          <p:spPr bwMode="auto">
            <a:xfrm>
              <a:off x="4089" y="3817"/>
              <a:ext cx="77" cy="107"/>
            </a:xfrm>
            <a:custGeom>
              <a:avLst/>
              <a:gdLst>
                <a:gd name="T0" fmla="*/ 28 w 154"/>
                <a:gd name="T1" fmla="*/ 17 h 213"/>
                <a:gd name="T2" fmla="*/ 28 w 154"/>
                <a:gd name="T3" fmla="*/ 15 h 213"/>
                <a:gd name="T4" fmla="*/ 26 w 154"/>
                <a:gd name="T5" fmla="*/ 11 h 213"/>
                <a:gd name="T6" fmla="*/ 25 w 154"/>
                <a:gd name="T7" fmla="*/ 6 h 213"/>
                <a:gd name="T8" fmla="*/ 22 w 154"/>
                <a:gd name="T9" fmla="*/ 0 h 213"/>
                <a:gd name="T10" fmla="*/ 21 w 154"/>
                <a:gd name="T11" fmla="*/ 2 h 213"/>
                <a:gd name="T12" fmla="*/ 19 w 154"/>
                <a:gd name="T13" fmla="*/ 3 h 213"/>
                <a:gd name="T14" fmla="*/ 18 w 154"/>
                <a:gd name="T15" fmla="*/ 3 h 213"/>
                <a:gd name="T16" fmla="*/ 17 w 154"/>
                <a:gd name="T17" fmla="*/ 4 h 213"/>
                <a:gd name="T18" fmla="*/ 14 w 154"/>
                <a:gd name="T19" fmla="*/ 4 h 213"/>
                <a:gd name="T20" fmla="*/ 13 w 154"/>
                <a:gd name="T21" fmla="*/ 3 h 213"/>
                <a:gd name="T22" fmla="*/ 11 w 154"/>
                <a:gd name="T23" fmla="*/ 3 h 213"/>
                <a:gd name="T24" fmla="*/ 9 w 154"/>
                <a:gd name="T25" fmla="*/ 2 h 213"/>
                <a:gd name="T26" fmla="*/ 10 w 154"/>
                <a:gd name="T27" fmla="*/ 5 h 213"/>
                <a:gd name="T28" fmla="*/ 10 w 154"/>
                <a:gd name="T29" fmla="*/ 10 h 213"/>
                <a:gd name="T30" fmla="*/ 11 w 154"/>
                <a:gd name="T31" fmla="*/ 16 h 213"/>
                <a:gd name="T32" fmla="*/ 12 w 154"/>
                <a:gd name="T33" fmla="*/ 22 h 213"/>
                <a:gd name="T34" fmla="*/ 11 w 154"/>
                <a:gd name="T35" fmla="*/ 26 h 213"/>
                <a:gd name="T36" fmla="*/ 10 w 154"/>
                <a:gd name="T37" fmla="*/ 30 h 213"/>
                <a:gd name="T38" fmla="*/ 9 w 154"/>
                <a:gd name="T39" fmla="*/ 34 h 213"/>
                <a:gd name="T40" fmla="*/ 7 w 154"/>
                <a:gd name="T41" fmla="*/ 38 h 213"/>
                <a:gd name="T42" fmla="*/ 5 w 154"/>
                <a:gd name="T43" fmla="*/ 41 h 213"/>
                <a:gd name="T44" fmla="*/ 3 w 154"/>
                <a:gd name="T45" fmla="*/ 43 h 213"/>
                <a:gd name="T46" fmla="*/ 1 w 154"/>
                <a:gd name="T47" fmla="*/ 46 h 213"/>
                <a:gd name="T48" fmla="*/ 0 w 154"/>
                <a:gd name="T49" fmla="*/ 47 h 213"/>
                <a:gd name="T50" fmla="*/ 39 w 154"/>
                <a:gd name="T51" fmla="*/ 54 h 213"/>
                <a:gd name="T52" fmla="*/ 39 w 154"/>
                <a:gd name="T53" fmla="*/ 53 h 213"/>
                <a:gd name="T54" fmla="*/ 39 w 154"/>
                <a:gd name="T55" fmla="*/ 52 h 213"/>
                <a:gd name="T56" fmla="*/ 38 w 154"/>
                <a:gd name="T57" fmla="*/ 51 h 213"/>
                <a:gd name="T58" fmla="*/ 38 w 154"/>
                <a:gd name="T59" fmla="*/ 51 h 213"/>
                <a:gd name="T60" fmla="*/ 36 w 154"/>
                <a:gd name="T61" fmla="*/ 44 h 213"/>
                <a:gd name="T62" fmla="*/ 35 w 154"/>
                <a:gd name="T63" fmla="*/ 39 h 213"/>
                <a:gd name="T64" fmla="*/ 34 w 154"/>
                <a:gd name="T65" fmla="*/ 36 h 213"/>
                <a:gd name="T66" fmla="*/ 34 w 154"/>
                <a:gd name="T67" fmla="*/ 34 h 213"/>
                <a:gd name="T68" fmla="*/ 33 w 154"/>
                <a:gd name="T69" fmla="*/ 32 h 213"/>
                <a:gd name="T70" fmla="*/ 32 w 154"/>
                <a:gd name="T71" fmla="*/ 29 h 213"/>
                <a:gd name="T72" fmla="*/ 30 w 154"/>
                <a:gd name="T73" fmla="*/ 24 h 213"/>
                <a:gd name="T74" fmla="*/ 28 w 154"/>
                <a:gd name="T75" fmla="*/ 17 h 21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154"/>
                <a:gd name="T115" fmla="*/ 0 h 213"/>
                <a:gd name="T116" fmla="*/ 154 w 154"/>
                <a:gd name="T117" fmla="*/ 213 h 21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154" h="213">
                  <a:moveTo>
                    <a:pt x="115" y="68"/>
                  </a:moveTo>
                  <a:lnTo>
                    <a:pt x="112" y="59"/>
                  </a:lnTo>
                  <a:lnTo>
                    <a:pt x="107" y="43"/>
                  </a:lnTo>
                  <a:lnTo>
                    <a:pt x="100" y="23"/>
                  </a:lnTo>
                  <a:lnTo>
                    <a:pt x="91" y="0"/>
                  </a:lnTo>
                  <a:lnTo>
                    <a:pt x="84" y="6"/>
                  </a:lnTo>
                  <a:lnTo>
                    <a:pt x="77" y="9"/>
                  </a:lnTo>
                  <a:lnTo>
                    <a:pt x="71" y="11"/>
                  </a:lnTo>
                  <a:lnTo>
                    <a:pt x="66" y="13"/>
                  </a:lnTo>
                  <a:lnTo>
                    <a:pt x="59" y="13"/>
                  </a:lnTo>
                  <a:lnTo>
                    <a:pt x="52" y="11"/>
                  </a:lnTo>
                  <a:lnTo>
                    <a:pt x="45" y="10"/>
                  </a:lnTo>
                  <a:lnTo>
                    <a:pt x="36" y="8"/>
                  </a:lnTo>
                  <a:lnTo>
                    <a:pt x="37" y="17"/>
                  </a:lnTo>
                  <a:lnTo>
                    <a:pt x="43" y="39"/>
                  </a:lnTo>
                  <a:lnTo>
                    <a:pt x="47" y="64"/>
                  </a:lnTo>
                  <a:lnTo>
                    <a:pt x="48" y="85"/>
                  </a:lnTo>
                  <a:lnTo>
                    <a:pt x="45" y="103"/>
                  </a:lnTo>
                  <a:lnTo>
                    <a:pt x="40" y="120"/>
                  </a:lnTo>
                  <a:lnTo>
                    <a:pt x="35" y="135"/>
                  </a:lnTo>
                  <a:lnTo>
                    <a:pt x="28" y="149"/>
                  </a:lnTo>
                  <a:lnTo>
                    <a:pt x="20" y="161"/>
                  </a:lnTo>
                  <a:lnTo>
                    <a:pt x="13" y="172"/>
                  </a:lnTo>
                  <a:lnTo>
                    <a:pt x="6" y="181"/>
                  </a:lnTo>
                  <a:lnTo>
                    <a:pt x="0" y="188"/>
                  </a:lnTo>
                  <a:lnTo>
                    <a:pt x="154" y="213"/>
                  </a:lnTo>
                  <a:lnTo>
                    <a:pt x="153" y="211"/>
                  </a:lnTo>
                  <a:lnTo>
                    <a:pt x="153" y="207"/>
                  </a:lnTo>
                  <a:lnTo>
                    <a:pt x="152" y="204"/>
                  </a:lnTo>
                  <a:lnTo>
                    <a:pt x="152" y="202"/>
                  </a:lnTo>
                  <a:lnTo>
                    <a:pt x="144" y="173"/>
                  </a:lnTo>
                  <a:lnTo>
                    <a:pt x="138" y="154"/>
                  </a:lnTo>
                  <a:lnTo>
                    <a:pt x="135" y="142"/>
                  </a:lnTo>
                  <a:lnTo>
                    <a:pt x="133" y="134"/>
                  </a:lnTo>
                  <a:lnTo>
                    <a:pt x="130" y="126"/>
                  </a:lnTo>
                  <a:lnTo>
                    <a:pt x="128" y="114"/>
                  </a:lnTo>
                  <a:lnTo>
                    <a:pt x="122" y="96"/>
                  </a:lnTo>
                  <a:lnTo>
                    <a:pt x="115" y="68"/>
                  </a:lnTo>
                  <a:close/>
                </a:path>
              </a:pathLst>
            </a:custGeom>
            <a:solidFill>
              <a:srgbClr val="FF19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6" name="Freeform 63"/>
            <p:cNvSpPr>
              <a:spLocks/>
            </p:cNvSpPr>
            <p:nvPr/>
          </p:nvSpPr>
          <p:spPr bwMode="auto">
            <a:xfrm>
              <a:off x="4295" y="3431"/>
              <a:ext cx="82" cy="167"/>
            </a:xfrm>
            <a:custGeom>
              <a:avLst/>
              <a:gdLst>
                <a:gd name="T0" fmla="*/ 3 w 165"/>
                <a:gd name="T1" fmla="*/ 12 h 333"/>
                <a:gd name="T2" fmla="*/ 5 w 165"/>
                <a:gd name="T3" fmla="*/ 19 h 333"/>
                <a:gd name="T4" fmla="*/ 7 w 165"/>
                <a:gd name="T5" fmla="*/ 24 h 333"/>
                <a:gd name="T6" fmla="*/ 8 w 165"/>
                <a:gd name="T7" fmla="*/ 27 h 333"/>
                <a:gd name="T8" fmla="*/ 8 w 165"/>
                <a:gd name="T9" fmla="*/ 28 h 333"/>
                <a:gd name="T10" fmla="*/ 10 w 165"/>
                <a:gd name="T11" fmla="*/ 33 h 333"/>
                <a:gd name="T12" fmla="*/ 11 w 165"/>
                <a:gd name="T13" fmla="*/ 38 h 333"/>
                <a:gd name="T14" fmla="*/ 12 w 165"/>
                <a:gd name="T15" fmla="*/ 42 h 333"/>
                <a:gd name="T16" fmla="*/ 13 w 165"/>
                <a:gd name="T17" fmla="*/ 45 h 333"/>
                <a:gd name="T18" fmla="*/ 14 w 165"/>
                <a:gd name="T19" fmla="*/ 49 h 333"/>
                <a:gd name="T20" fmla="*/ 16 w 165"/>
                <a:gd name="T21" fmla="*/ 53 h 333"/>
                <a:gd name="T22" fmla="*/ 17 w 165"/>
                <a:gd name="T23" fmla="*/ 56 h 333"/>
                <a:gd name="T24" fmla="*/ 19 w 165"/>
                <a:gd name="T25" fmla="*/ 60 h 333"/>
                <a:gd name="T26" fmla="*/ 19 w 165"/>
                <a:gd name="T27" fmla="*/ 61 h 333"/>
                <a:gd name="T28" fmla="*/ 20 w 165"/>
                <a:gd name="T29" fmla="*/ 63 h 333"/>
                <a:gd name="T30" fmla="*/ 22 w 165"/>
                <a:gd name="T31" fmla="*/ 66 h 333"/>
                <a:gd name="T32" fmla="*/ 23 w 165"/>
                <a:gd name="T33" fmla="*/ 69 h 333"/>
                <a:gd name="T34" fmla="*/ 25 w 165"/>
                <a:gd name="T35" fmla="*/ 72 h 333"/>
                <a:gd name="T36" fmla="*/ 26 w 165"/>
                <a:gd name="T37" fmla="*/ 74 h 333"/>
                <a:gd name="T38" fmla="*/ 27 w 165"/>
                <a:gd name="T39" fmla="*/ 76 h 333"/>
                <a:gd name="T40" fmla="*/ 28 w 165"/>
                <a:gd name="T41" fmla="*/ 78 h 333"/>
                <a:gd name="T42" fmla="*/ 30 w 165"/>
                <a:gd name="T43" fmla="*/ 80 h 333"/>
                <a:gd name="T44" fmla="*/ 31 w 165"/>
                <a:gd name="T45" fmla="*/ 81 h 333"/>
                <a:gd name="T46" fmla="*/ 32 w 165"/>
                <a:gd name="T47" fmla="*/ 82 h 333"/>
                <a:gd name="T48" fmla="*/ 33 w 165"/>
                <a:gd name="T49" fmla="*/ 83 h 333"/>
                <a:gd name="T50" fmla="*/ 33 w 165"/>
                <a:gd name="T51" fmla="*/ 84 h 333"/>
                <a:gd name="T52" fmla="*/ 35 w 165"/>
                <a:gd name="T53" fmla="*/ 83 h 333"/>
                <a:gd name="T54" fmla="*/ 36 w 165"/>
                <a:gd name="T55" fmla="*/ 82 h 333"/>
                <a:gd name="T56" fmla="*/ 38 w 165"/>
                <a:gd name="T57" fmla="*/ 81 h 333"/>
                <a:gd name="T58" fmla="*/ 39 w 165"/>
                <a:gd name="T59" fmla="*/ 80 h 333"/>
                <a:gd name="T60" fmla="*/ 40 w 165"/>
                <a:gd name="T61" fmla="*/ 80 h 333"/>
                <a:gd name="T62" fmla="*/ 41 w 165"/>
                <a:gd name="T63" fmla="*/ 79 h 333"/>
                <a:gd name="T64" fmla="*/ 41 w 165"/>
                <a:gd name="T65" fmla="*/ 78 h 333"/>
                <a:gd name="T66" fmla="*/ 40 w 165"/>
                <a:gd name="T67" fmla="*/ 77 h 333"/>
                <a:gd name="T68" fmla="*/ 37 w 165"/>
                <a:gd name="T69" fmla="*/ 73 h 333"/>
                <a:gd name="T70" fmla="*/ 34 w 165"/>
                <a:gd name="T71" fmla="*/ 67 h 333"/>
                <a:gd name="T72" fmla="*/ 32 w 165"/>
                <a:gd name="T73" fmla="*/ 62 h 333"/>
                <a:gd name="T74" fmla="*/ 29 w 165"/>
                <a:gd name="T75" fmla="*/ 56 h 333"/>
                <a:gd name="T76" fmla="*/ 27 w 165"/>
                <a:gd name="T77" fmla="*/ 50 h 333"/>
                <a:gd name="T78" fmla="*/ 25 w 165"/>
                <a:gd name="T79" fmla="*/ 45 h 333"/>
                <a:gd name="T80" fmla="*/ 24 w 165"/>
                <a:gd name="T81" fmla="*/ 41 h 333"/>
                <a:gd name="T82" fmla="*/ 23 w 165"/>
                <a:gd name="T83" fmla="*/ 39 h 333"/>
                <a:gd name="T84" fmla="*/ 21 w 165"/>
                <a:gd name="T85" fmla="*/ 32 h 333"/>
                <a:gd name="T86" fmla="*/ 20 w 165"/>
                <a:gd name="T87" fmla="*/ 27 h 333"/>
                <a:gd name="T88" fmla="*/ 19 w 165"/>
                <a:gd name="T89" fmla="*/ 25 h 333"/>
                <a:gd name="T90" fmla="*/ 19 w 165"/>
                <a:gd name="T91" fmla="*/ 22 h 333"/>
                <a:gd name="T92" fmla="*/ 18 w 165"/>
                <a:gd name="T93" fmla="*/ 20 h 333"/>
                <a:gd name="T94" fmla="*/ 17 w 165"/>
                <a:gd name="T95" fmla="*/ 17 h 333"/>
                <a:gd name="T96" fmla="*/ 16 w 165"/>
                <a:gd name="T97" fmla="*/ 13 h 333"/>
                <a:gd name="T98" fmla="*/ 14 w 165"/>
                <a:gd name="T99" fmla="*/ 6 h 333"/>
                <a:gd name="T100" fmla="*/ 14 w 165"/>
                <a:gd name="T101" fmla="*/ 5 h 333"/>
                <a:gd name="T102" fmla="*/ 14 w 165"/>
                <a:gd name="T103" fmla="*/ 4 h 333"/>
                <a:gd name="T104" fmla="*/ 14 w 165"/>
                <a:gd name="T105" fmla="*/ 3 h 333"/>
                <a:gd name="T106" fmla="*/ 13 w 165"/>
                <a:gd name="T107" fmla="*/ 3 h 333"/>
                <a:gd name="T108" fmla="*/ 13 w 165"/>
                <a:gd name="T109" fmla="*/ 2 h 333"/>
                <a:gd name="T110" fmla="*/ 0 w 165"/>
                <a:gd name="T111" fmla="*/ 0 h 333"/>
                <a:gd name="T112" fmla="*/ 0 w 165"/>
                <a:gd name="T113" fmla="*/ 3 h 333"/>
                <a:gd name="T114" fmla="*/ 1 w 165"/>
                <a:gd name="T115" fmla="*/ 6 h 333"/>
                <a:gd name="T116" fmla="*/ 2 w 165"/>
                <a:gd name="T117" fmla="*/ 9 h 333"/>
                <a:gd name="T118" fmla="*/ 3 w 165"/>
                <a:gd name="T119" fmla="*/ 12 h 333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165"/>
                <a:gd name="T181" fmla="*/ 0 h 333"/>
                <a:gd name="T182" fmla="*/ 165 w 165"/>
                <a:gd name="T183" fmla="*/ 333 h 333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165" h="333">
                  <a:moveTo>
                    <a:pt x="12" y="47"/>
                  </a:moveTo>
                  <a:lnTo>
                    <a:pt x="22" y="76"/>
                  </a:lnTo>
                  <a:lnTo>
                    <a:pt x="29" y="96"/>
                  </a:lnTo>
                  <a:lnTo>
                    <a:pt x="34" y="107"/>
                  </a:lnTo>
                  <a:lnTo>
                    <a:pt x="35" y="112"/>
                  </a:lnTo>
                  <a:lnTo>
                    <a:pt x="41" y="131"/>
                  </a:lnTo>
                  <a:lnTo>
                    <a:pt x="45" y="149"/>
                  </a:lnTo>
                  <a:lnTo>
                    <a:pt x="50" y="165"/>
                  </a:lnTo>
                  <a:lnTo>
                    <a:pt x="55" y="180"/>
                  </a:lnTo>
                  <a:lnTo>
                    <a:pt x="59" y="195"/>
                  </a:lnTo>
                  <a:lnTo>
                    <a:pt x="65" y="209"/>
                  </a:lnTo>
                  <a:lnTo>
                    <a:pt x="71" y="224"/>
                  </a:lnTo>
                  <a:lnTo>
                    <a:pt x="76" y="239"/>
                  </a:lnTo>
                  <a:lnTo>
                    <a:pt x="78" y="242"/>
                  </a:lnTo>
                  <a:lnTo>
                    <a:pt x="83" y="252"/>
                  </a:lnTo>
                  <a:lnTo>
                    <a:pt x="88" y="264"/>
                  </a:lnTo>
                  <a:lnTo>
                    <a:pt x="94" y="275"/>
                  </a:lnTo>
                  <a:lnTo>
                    <a:pt x="100" y="288"/>
                  </a:lnTo>
                  <a:lnTo>
                    <a:pt x="104" y="295"/>
                  </a:lnTo>
                  <a:lnTo>
                    <a:pt x="109" y="303"/>
                  </a:lnTo>
                  <a:lnTo>
                    <a:pt x="115" y="310"/>
                  </a:lnTo>
                  <a:lnTo>
                    <a:pt x="120" y="317"/>
                  </a:lnTo>
                  <a:lnTo>
                    <a:pt x="126" y="324"/>
                  </a:lnTo>
                  <a:lnTo>
                    <a:pt x="131" y="328"/>
                  </a:lnTo>
                  <a:lnTo>
                    <a:pt x="133" y="332"/>
                  </a:lnTo>
                  <a:lnTo>
                    <a:pt x="134" y="333"/>
                  </a:lnTo>
                  <a:lnTo>
                    <a:pt x="140" y="330"/>
                  </a:lnTo>
                  <a:lnTo>
                    <a:pt x="147" y="325"/>
                  </a:lnTo>
                  <a:lnTo>
                    <a:pt x="153" y="323"/>
                  </a:lnTo>
                  <a:lnTo>
                    <a:pt x="157" y="319"/>
                  </a:lnTo>
                  <a:lnTo>
                    <a:pt x="162" y="317"/>
                  </a:lnTo>
                  <a:lnTo>
                    <a:pt x="164" y="313"/>
                  </a:lnTo>
                  <a:lnTo>
                    <a:pt x="165" y="310"/>
                  </a:lnTo>
                  <a:lnTo>
                    <a:pt x="163" y="307"/>
                  </a:lnTo>
                  <a:lnTo>
                    <a:pt x="151" y="289"/>
                  </a:lnTo>
                  <a:lnTo>
                    <a:pt x="139" y="268"/>
                  </a:lnTo>
                  <a:lnTo>
                    <a:pt x="128" y="245"/>
                  </a:lnTo>
                  <a:lnTo>
                    <a:pt x="118" y="221"/>
                  </a:lnTo>
                  <a:lnTo>
                    <a:pt x="109" y="199"/>
                  </a:lnTo>
                  <a:lnTo>
                    <a:pt x="102" y="180"/>
                  </a:lnTo>
                  <a:lnTo>
                    <a:pt x="97" y="164"/>
                  </a:lnTo>
                  <a:lnTo>
                    <a:pt x="94" y="154"/>
                  </a:lnTo>
                  <a:lnTo>
                    <a:pt x="87" y="127"/>
                  </a:lnTo>
                  <a:lnTo>
                    <a:pt x="81" y="108"/>
                  </a:lnTo>
                  <a:lnTo>
                    <a:pt x="79" y="97"/>
                  </a:lnTo>
                  <a:lnTo>
                    <a:pt x="76" y="88"/>
                  </a:lnTo>
                  <a:lnTo>
                    <a:pt x="74" y="79"/>
                  </a:lnTo>
                  <a:lnTo>
                    <a:pt x="71" y="68"/>
                  </a:lnTo>
                  <a:lnTo>
                    <a:pt x="65" y="50"/>
                  </a:lnTo>
                  <a:lnTo>
                    <a:pt x="57" y="21"/>
                  </a:lnTo>
                  <a:lnTo>
                    <a:pt x="56" y="18"/>
                  </a:lnTo>
                  <a:lnTo>
                    <a:pt x="56" y="15"/>
                  </a:lnTo>
                  <a:lnTo>
                    <a:pt x="56" y="12"/>
                  </a:lnTo>
                  <a:lnTo>
                    <a:pt x="55" y="9"/>
                  </a:lnTo>
                  <a:lnTo>
                    <a:pt x="53" y="8"/>
                  </a:lnTo>
                  <a:lnTo>
                    <a:pt x="0" y="0"/>
                  </a:lnTo>
                  <a:lnTo>
                    <a:pt x="3" y="12"/>
                  </a:lnTo>
                  <a:lnTo>
                    <a:pt x="5" y="23"/>
                  </a:lnTo>
                  <a:lnTo>
                    <a:pt x="9" y="36"/>
                  </a:lnTo>
                  <a:lnTo>
                    <a:pt x="12" y="47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7" name="Freeform 64"/>
            <p:cNvSpPr>
              <a:spLocks/>
            </p:cNvSpPr>
            <p:nvPr/>
          </p:nvSpPr>
          <p:spPr bwMode="auto">
            <a:xfrm>
              <a:off x="4196" y="3823"/>
              <a:ext cx="1" cy="1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0 h 3"/>
                <a:gd name="T4" fmla="*/ 0 w 3"/>
                <a:gd name="T5" fmla="*/ 0 h 3"/>
                <a:gd name="T6" fmla="*/ 0 w 3"/>
                <a:gd name="T7" fmla="*/ 0 h 3"/>
                <a:gd name="T8" fmla="*/ 0 w 3"/>
                <a:gd name="T9" fmla="*/ 0 h 3"/>
                <a:gd name="T10" fmla="*/ 0 w 3"/>
                <a:gd name="T11" fmla="*/ 0 h 3"/>
                <a:gd name="T12" fmla="*/ 0 w 3"/>
                <a:gd name="T13" fmla="*/ 0 h 3"/>
                <a:gd name="T14" fmla="*/ 0 w 3"/>
                <a:gd name="T15" fmla="*/ 0 h 3"/>
                <a:gd name="T16" fmla="*/ 0 w 3"/>
                <a:gd name="T17" fmla="*/ 0 h 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"/>
                <a:gd name="T28" fmla="*/ 0 h 3"/>
                <a:gd name="T29" fmla="*/ 3 w 3"/>
                <a:gd name="T30" fmla="*/ 3 h 3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" h="3">
                  <a:moveTo>
                    <a:pt x="3" y="3"/>
                  </a:moveTo>
                  <a:lnTo>
                    <a:pt x="1" y="3"/>
                  </a:lnTo>
                  <a:lnTo>
                    <a:pt x="1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2"/>
                  </a:lnTo>
                  <a:lnTo>
                    <a:pt x="1" y="2"/>
                  </a:lnTo>
                  <a:lnTo>
                    <a:pt x="1" y="3"/>
                  </a:lnTo>
                  <a:lnTo>
                    <a:pt x="3" y="3"/>
                  </a:lnTo>
                  <a:close/>
                </a:path>
              </a:pathLst>
            </a:custGeom>
            <a:solidFill>
              <a:srgbClr val="7FF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8" name="Freeform 65"/>
            <p:cNvSpPr>
              <a:spLocks/>
            </p:cNvSpPr>
            <p:nvPr/>
          </p:nvSpPr>
          <p:spPr bwMode="auto">
            <a:xfrm>
              <a:off x="4195" y="3820"/>
              <a:ext cx="1" cy="2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1 h 4"/>
                <a:gd name="T4" fmla="*/ 1 w 1"/>
                <a:gd name="T5" fmla="*/ 1 h 4"/>
                <a:gd name="T6" fmla="*/ 1 w 1"/>
                <a:gd name="T7" fmla="*/ 1 h 4"/>
                <a:gd name="T8" fmla="*/ 1 w 1"/>
                <a:gd name="T9" fmla="*/ 1 h 4"/>
                <a:gd name="T10" fmla="*/ 1 w 1"/>
                <a:gd name="T11" fmla="*/ 1 h 4"/>
                <a:gd name="T12" fmla="*/ 1 w 1"/>
                <a:gd name="T13" fmla="*/ 1 h 4"/>
                <a:gd name="T14" fmla="*/ 0 w 1"/>
                <a:gd name="T15" fmla="*/ 1 h 4"/>
                <a:gd name="T16" fmla="*/ 0 w 1"/>
                <a:gd name="T17" fmla="*/ 0 h 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"/>
                <a:gd name="T28" fmla="*/ 0 h 4"/>
                <a:gd name="T29" fmla="*/ 1 w 1"/>
                <a:gd name="T30" fmla="*/ 4 h 4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" h="4">
                  <a:moveTo>
                    <a:pt x="0" y="0"/>
                  </a:moveTo>
                  <a:lnTo>
                    <a:pt x="0" y="1"/>
                  </a:lnTo>
                  <a:lnTo>
                    <a:pt x="1" y="2"/>
                  </a:lnTo>
                  <a:lnTo>
                    <a:pt x="1" y="3"/>
                  </a:lnTo>
                  <a:lnTo>
                    <a:pt x="1" y="4"/>
                  </a:lnTo>
                  <a:lnTo>
                    <a:pt x="1" y="3"/>
                  </a:lnTo>
                  <a:lnTo>
                    <a:pt x="1" y="2"/>
                  </a:lnTo>
                  <a:lnTo>
                    <a:pt x="0" y="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FF7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39" name="Freeform 66"/>
            <p:cNvSpPr>
              <a:spLocks/>
            </p:cNvSpPr>
            <p:nvPr/>
          </p:nvSpPr>
          <p:spPr bwMode="auto">
            <a:xfrm>
              <a:off x="4271" y="3463"/>
              <a:ext cx="27" cy="11"/>
            </a:xfrm>
            <a:custGeom>
              <a:avLst/>
              <a:gdLst>
                <a:gd name="T0" fmla="*/ 7 w 54"/>
                <a:gd name="T1" fmla="*/ 6 h 22"/>
                <a:gd name="T2" fmla="*/ 9 w 54"/>
                <a:gd name="T3" fmla="*/ 6 h 22"/>
                <a:gd name="T4" fmla="*/ 12 w 54"/>
                <a:gd name="T5" fmla="*/ 5 h 22"/>
                <a:gd name="T6" fmla="*/ 13 w 54"/>
                <a:gd name="T7" fmla="*/ 4 h 22"/>
                <a:gd name="T8" fmla="*/ 14 w 54"/>
                <a:gd name="T9" fmla="*/ 3 h 22"/>
                <a:gd name="T10" fmla="*/ 13 w 54"/>
                <a:gd name="T11" fmla="*/ 3 h 22"/>
                <a:gd name="T12" fmla="*/ 12 w 54"/>
                <a:gd name="T13" fmla="*/ 2 h 22"/>
                <a:gd name="T14" fmla="*/ 10 w 54"/>
                <a:gd name="T15" fmla="*/ 1 h 22"/>
                <a:gd name="T16" fmla="*/ 7 w 54"/>
                <a:gd name="T17" fmla="*/ 0 h 22"/>
                <a:gd name="T18" fmla="*/ 5 w 54"/>
                <a:gd name="T19" fmla="*/ 0 h 22"/>
                <a:gd name="T20" fmla="*/ 3 w 54"/>
                <a:gd name="T21" fmla="*/ 1 h 22"/>
                <a:gd name="T22" fmla="*/ 1 w 54"/>
                <a:gd name="T23" fmla="*/ 1 h 22"/>
                <a:gd name="T24" fmla="*/ 0 w 54"/>
                <a:gd name="T25" fmla="*/ 1 h 22"/>
                <a:gd name="T26" fmla="*/ 1 w 54"/>
                <a:gd name="T27" fmla="*/ 3 h 22"/>
                <a:gd name="T28" fmla="*/ 2 w 54"/>
                <a:gd name="T29" fmla="*/ 3 h 22"/>
                <a:gd name="T30" fmla="*/ 3 w 54"/>
                <a:gd name="T31" fmla="*/ 5 h 22"/>
                <a:gd name="T32" fmla="*/ 7 w 54"/>
                <a:gd name="T33" fmla="*/ 6 h 2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22"/>
                <a:gd name="T53" fmla="*/ 54 w 54"/>
                <a:gd name="T54" fmla="*/ 22 h 2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22">
                  <a:moveTo>
                    <a:pt x="25" y="22"/>
                  </a:moveTo>
                  <a:lnTo>
                    <a:pt x="36" y="22"/>
                  </a:lnTo>
                  <a:lnTo>
                    <a:pt x="45" y="20"/>
                  </a:lnTo>
                  <a:lnTo>
                    <a:pt x="52" y="16"/>
                  </a:lnTo>
                  <a:lnTo>
                    <a:pt x="54" y="15"/>
                  </a:lnTo>
                  <a:lnTo>
                    <a:pt x="52" y="13"/>
                  </a:lnTo>
                  <a:lnTo>
                    <a:pt x="47" y="8"/>
                  </a:lnTo>
                  <a:lnTo>
                    <a:pt x="39" y="4"/>
                  </a:lnTo>
                  <a:lnTo>
                    <a:pt x="29" y="0"/>
                  </a:lnTo>
                  <a:lnTo>
                    <a:pt x="19" y="0"/>
                  </a:lnTo>
                  <a:lnTo>
                    <a:pt x="9" y="3"/>
                  </a:lnTo>
                  <a:lnTo>
                    <a:pt x="2" y="6"/>
                  </a:lnTo>
                  <a:lnTo>
                    <a:pt x="0" y="7"/>
                  </a:lnTo>
                  <a:lnTo>
                    <a:pt x="2" y="9"/>
                  </a:lnTo>
                  <a:lnTo>
                    <a:pt x="7" y="13"/>
                  </a:lnTo>
                  <a:lnTo>
                    <a:pt x="15" y="19"/>
                  </a:lnTo>
                  <a:lnTo>
                    <a:pt x="25" y="22"/>
                  </a:lnTo>
                  <a:close/>
                </a:path>
              </a:pathLst>
            </a:custGeom>
            <a:solidFill>
              <a:srgbClr val="00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40" name="Freeform 67"/>
            <p:cNvSpPr>
              <a:spLocks/>
            </p:cNvSpPr>
            <p:nvPr/>
          </p:nvSpPr>
          <p:spPr bwMode="auto">
            <a:xfrm>
              <a:off x="4185" y="3886"/>
              <a:ext cx="28" cy="10"/>
            </a:xfrm>
            <a:custGeom>
              <a:avLst/>
              <a:gdLst>
                <a:gd name="T0" fmla="*/ 8 w 55"/>
                <a:gd name="T1" fmla="*/ 0 h 21"/>
                <a:gd name="T2" fmla="*/ 5 w 55"/>
                <a:gd name="T3" fmla="*/ 0 h 21"/>
                <a:gd name="T4" fmla="*/ 3 w 55"/>
                <a:gd name="T5" fmla="*/ 0 h 21"/>
                <a:gd name="T6" fmla="*/ 1 w 55"/>
                <a:gd name="T7" fmla="*/ 1 h 21"/>
                <a:gd name="T8" fmla="*/ 0 w 55"/>
                <a:gd name="T9" fmla="*/ 1 h 21"/>
                <a:gd name="T10" fmla="*/ 1 w 55"/>
                <a:gd name="T11" fmla="*/ 2 h 21"/>
                <a:gd name="T12" fmla="*/ 2 w 55"/>
                <a:gd name="T13" fmla="*/ 3 h 21"/>
                <a:gd name="T14" fmla="*/ 4 w 55"/>
                <a:gd name="T15" fmla="*/ 4 h 21"/>
                <a:gd name="T16" fmla="*/ 7 w 55"/>
                <a:gd name="T17" fmla="*/ 5 h 21"/>
                <a:gd name="T18" fmla="*/ 9 w 55"/>
                <a:gd name="T19" fmla="*/ 5 h 21"/>
                <a:gd name="T20" fmla="*/ 12 w 55"/>
                <a:gd name="T21" fmla="*/ 5 h 21"/>
                <a:gd name="T22" fmla="*/ 14 w 55"/>
                <a:gd name="T23" fmla="*/ 4 h 21"/>
                <a:gd name="T24" fmla="*/ 14 w 55"/>
                <a:gd name="T25" fmla="*/ 3 h 21"/>
                <a:gd name="T26" fmla="*/ 14 w 55"/>
                <a:gd name="T27" fmla="*/ 3 h 21"/>
                <a:gd name="T28" fmla="*/ 12 w 55"/>
                <a:gd name="T29" fmla="*/ 2 h 21"/>
                <a:gd name="T30" fmla="*/ 10 w 55"/>
                <a:gd name="T31" fmla="*/ 1 h 21"/>
                <a:gd name="T32" fmla="*/ 8 w 55"/>
                <a:gd name="T33" fmla="*/ 0 h 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5"/>
                <a:gd name="T52" fmla="*/ 0 h 21"/>
                <a:gd name="T53" fmla="*/ 55 w 55"/>
                <a:gd name="T54" fmla="*/ 21 h 2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5" h="21">
                  <a:moveTo>
                    <a:pt x="30" y="0"/>
                  </a:moveTo>
                  <a:lnTo>
                    <a:pt x="18" y="0"/>
                  </a:lnTo>
                  <a:lnTo>
                    <a:pt x="9" y="3"/>
                  </a:lnTo>
                  <a:lnTo>
                    <a:pt x="2" y="5"/>
                  </a:lnTo>
                  <a:lnTo>
                    <a:pt x="0" y="6"/>
                  </a:lnTo>
                  <a:lnTo>
                    <a:pt x="2" y="8"/>
                  </a:lnTo>
                  <a:lnTo>
                    <a:pt x="6" y="13"/>
                  </a:lnTo>
                  <a:lnTo>
                    <a:pt x="16" y="18"/>
                  </a:lnTo>
                  <a:lnTo>
                    <a:pt x="26" y="21"/>
                  </a:lnTo>
                  <a:lnTo>
                    <a:pt x="36" y="21"/>
                  </a:lnTo>
                  <a:lnTo>
                    <a:pt x="46" y="20"/>
                  </a:lnTo>
                  <a:lnTo>
                    <a:pt x="53" y="16"/>
                  </a:lnTo>
                  <a:lnTo>
                    <a:pt x="55" y="15"/>
                  </a:lnTo>
                  <a:lnTo>
                    <a:pt x="53" y="13"/>
                  </a:lnTo>
                  <a:lnTo>
                    <a:pt x="48" y="8"/>
                  </a:lnTo>
                  <a:lnTo>
                    <a:pt x="40" y="4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F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41" name="Freeform 68"/>
            <p:cNvSpPr>
              <a:spLocks/>
            </p:cNvSpPr>
            <p:nvPr/>
          </p:nvSpPr>
          <p:spPr bwMode="auto">
            <a:xfrm>
              <a:off x="4094" y="3404"/>
              <a:ext cx="137" cy="195"/>
            </a:xfrm>
            <a:custGeom>
              <a:avLst/>
              <a:gdLst>
                <a:gd name="T0" fmla="*/ 67 w 274"/>
                <a:gd name="T1" fmla="*/ 21 h 389"/>
                <a:gd name="T2" fmla="*/ 67 w 274"/>
                <a:gd name="T3" fmla="*/ 20 h 389"/>
                <a:gd name="T4" fmla="*/ 67 w 274"/>
                <a:gd name="T5" fmla="*/ 19 h 389"/>
                <a:gd name="T6" fmla="*/ 67 w 274"/>
                <a:gd name="T7" fmla="*/ 18 h 389"/>
                <a:gd name="T8" fmla="*/ 68 w 274"/>
                <a:gd name="T9" fmla="*/ 16 h 389"/>
                <a:gd name="T10" fmla="*/ 68 w 274"/>
                <a:gd name="T11" fmla="*/ 14 h 389"/>
                <a:gd name="T12" fmla="*/ 68 w 274"/>
                <a:gd name="T13" fmla="*/ 13 h 389"/>
                <a:gd name="T14" fmla="*/ 68 w 274"/>
                <a:gd name="T15" fmla="*/ 11 h 389"/>
                <a:gd name="T16" fmla="*/ 68 w 274"/>
                <a:gd name="T17" fmla="*/ 9 h 389"/>
                <a:gd name="T18" fmla="*/ 21 w 274"/>
                <a:gd name="T19" fmla="*/ 1 h 389"/>
                <a:gd name="T20" fmla="*/ 15 w 274"/>
                <a:gd name="T21" fmla="*/ 0 h 389"/>
                <a:gd name="T22" fmla="*/ 0 w 274"/>
                <a:gd name="T23" fmla="*/ 98 h 389"/>
                <a:gd name="T24" fmla="*/ 1 w 274"/>
                <a:gd name="T25" fmla="*/ 97 h 389"/>
                <a:gd name="T26" fmla="*/ 1 w 274"/>
                <a:gd name="T27" fmla="*/ 97 h 389"/>
                <a:gd name="T28" fmla="*/ 1 w 274"/>
                <a:gd name="T29" fmla="*/ 96 h 389"/>
                <a:gd name="T30" fmla="*/ 1 w 274"/>
                <a:gd name="T31" fmla="*/ 96 h 389"/>
                <a:gd name="T32" fmla="*/ 1 w 274"/>
                <a:gd name="T33" fmla="*/ 94 h 389"/>
                <a:gd name="T34" fmla="*/ 2 w 274"/>
                <a:gd name="T35" fmla="*/ 93 h 389"/>
                <a:gd name="T36" fmla="*/ 4 w 274"/>
                <a:gd name="T37" fmla="*/ 92 h 389"/>
                <a:gd name="T38" fmla="*/ 5 w 274"/>
                <a:gd name="T39" fmla="*/ 91 h 389"/>
                <a:gd name="T40" fmla="*/ 6 w 274"/>
                <a:gd name="T41" fmla="*/ 90 h 389"/>
                <a:gd name="T42" fmla="*/ 9 w 274"/>
                <a:gd name="T43" fmla="*/ 90 h 389"/>
                <a:gd name="T44" fmla="*/ 10 w 274"/>
                <a:gd name="T45" fmla="*/ 89 h 389"/>
                <a:gd name="T46" fmla="*/ 11 w 274"/>
                <a:gd name="T47" fmla="*/ 88 h 389"/>
                <a:gd name="T48" fmla="*/ 12 w 274"/>
                <a:gd name="T49" fmla="*/ 88 h 389"/>
                <a:gd name="T50" fmla="*/ 13 w 274"/>
                <a:gd name="T51" fmla="*/ 88 h 389"/>
                <a:gd name="T52" fmla="*/ 15 w 274"/>
                <a:gd name="T53" fmla="*/ 87 h 389"/>
                <a:gd name="T54" fmla="*/ 17 w 274"/>
                <a:gd name="T55" fmla="*/ 86 h 389"/>
                <a:gd name="T56" fmla="*/ 19 w 274"/>
                <a:gd name="T57" fmla="*/ 85 h 389"/>
                <a:gd name="T58" fmla="*/ 20 w 274"/>
                <a:gd name="T59" fmla="*/ 85 h 389"/>
                <a:gd name="T60" fmla="*/ 21 w 274"/>
                <a:gd name="T61" fmla="*/ 84 h 389"/>
                <a:gd name="T62" fmla="*/ 23 w 274"/>
                <a:gd name="T63" fmla="*/ 84 h 389"/>
                <a:gd name="T64" fmla="*/ 24 w 274"/>
                <a:gd name="T65" fmla="*/ 84 h 389"/>
                <a:gd name="T66" fmla="*/ 25 w 274"/>
                <a:gd name="T67" fmla="*/ 83 h 389"/>
                <a:gd name="T68" fmla="*/ 27 w 274"/>
                <a:gd name="T69" fmla="*/ 83 h 389"/>
                <a:gd name="T70" fmla="*/ 28 w 274"/>
                <a:gd name="T71" fmla="*/ 82 h 389"/>
                <a:gd name="T72" fmla="*/ 34 w 274"/>
                <a:gd name="T73" fmla="*/ 81 h 389"/>
                <a:gd name="T74" fmla="*/ 38 w 274"/>
                <a:gd name="T75" fmla="*/ 79 h 389"/>
                <a:gd name="T76" fmla="*/ 43 w 274"/>
                <a:gd name="T77" fmla="*/ 78 h 389"/>
                <a:gd name="T78" fmla="*/ 48 w 274"/>
                <a:gd name="T79" fmla="*/ 76 h 389"/>
                <a:gd name="T80" fmla="*/ 52 w 274"/>
                <a:gd name="T81" fmla="*/ 74 h 389"/>
                <a:gd name="T82" fmla="*/ 57 w 274"/>
                <a:gd name="T83" fmla="*/ 72 h 389"/>
                <a:gd name="T84" fmla="*/ 61 w 274"/>
                <a:gd name="T85" fmla="*/ 69 h 389"/>
                <a:gd name="T86" fmla="*/ 67 w 274"/>
                <a:gd name="T87" fmla="*/ 66 h 389"/>
                <a:gd name="T88" fmla="*/ 67 w 274"/>
                <a:gd name="T89" fmla="*/ 66 h 389"/>
                <a:gd name="T90" fmla="*/ 68 w 274"/>
                <a:gd name="T91" fmla="*/ 66 h 389"/>
                <a:gd name="T92" fmla="*/ 68 w 274"/>
                <a:gd name="T93" fmla="*/ 65 h 389"/>
                <a:gd name="T94" fmla="*/ 68 w 274"/>
                <a:gd name="T95" fmla="*/ 65 h 389"/>
                <a:gd name="T96" fmla="*/ 69 w 274"/>
                <a:gd name="T97" fmla="*/ 62 h 389"/>
                <a:gd name="T98" fmla="*/ 66 w 274"/>
                <a:gd name="T99" fmla="*/ 53 h 389"/>
                <a:gd name="T100" fmla="*/ 65 w 274"/>
                <a:gd name="T101" fmla="*/ 43 h 389"/>
                <a:gd name="T102" fmla="*/ 65 w 274"/>
                <a:gd name="T103" fmla="*/ 32 h 389"/>
                <a:gd name="T104" fmla="*/ 67 w 274"/>
                <a:gd name="T105" fmla="*/ 21 h 38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274"/>
                <a:gd name="T160" fmla="*/ 0 h 389"/>
                <a:gd name="T161" fmla="*/ 274 w 274"/>
                <a:gd name="T162" fmla="*/ 389 h 389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274" h="389">
                  <a:moveTo>
                    <a:pt x="265" y="83"/>
                  </a:moveTo>
                  <a:lnTo>
                    <a:pt x="265" y="80"/>
                  </a:lnTo>
                  <a:lnTo>
                    <a:pt x="266" y="75"/>
                  </a:lnTo>
                  <a:lnTo>
                    <a:pt x="267" y="69"/>
                  </a:lnTo>
                  <a:lnTo>
                    <a:pt x="269" y="63"/>
                  </a:lnTo>
                  <a:lnTo>
                    <a:pt x="269" y="56"/>
                  </a:lnTo>
                  <a:lnTo>
                    <a:pt x="269" y="49"/>
                  </a:lnTo>
                  <a:lnTo>
                    <a:pt x="269" y="41"/>
                  </a:lnTo>
                  <a:lnTo>
                    <a:pt x="270" y="33"/>
                  </a:lnTo>
                  <a:lnTo>
                    <a:pt x="85" y="3"/>
                  </a:lnTo>
                  <a:lnTo>
                    <a:pt x="63" y="0"/>
                  </a:lnTo>
                  <a:lnTo>
                    <a:pt x="0" y="389"/>
                  </a:lnTo>
                  <a:lnTo>
                    <a:pt x="1" y="387"/>
                  </a:lnTo>
                  <a:lnTo>
                    <a:pt x="2" y="386"/>
                  </a:lnTo>
                  <a:lnTo>
                    <a:pt x="3" y="383"/>
                  </a:lnTo>
                  <a:lnTo>
                    <a:pt x="4" y="382"/>
                  </a:lnTo>
                  <a:lnTo>
                    <a:pt x="6" y="375"/>
                  </a:lnTo>
                  <a:lnTo>
                    <a:pt x="11" y="371"/>
                  </a:lnTo>
                  <a:lnTo>
                    <a:pt x="16" y="366"/>
                  </a:lnTo>
                  <a:lnTo>
                    <a:pt x="21" y="363"/>
                  </a:lnTo>
                  <a:lnTo>
                    <a:pt x="27" y="359"/>
                  </a:lnTo>
                  <a:lnTo>
                    <a:pt x="34" y="357"/>
                  </a:lnTo>
                  <a:lnTo>
                    <a:pt x="40" y="355"/>
                  </a:lnTo>
                  <a:lnTo>
                    <a:pt x="46" y="352"/>
                  </a:lnTo>
                  <a:lnTo>
                    <a:pt x="48" y="351"/>
                  </a:lnTo>
                  <a:lnTo>
                    <a:pt x="54" y="349"/>
                  </a:lnTo>
                  <a:lnTo>
                    <a:pt x="61" y="347"/>
                  </a:lnTo>
                  <a:lnTo>
                    <a:pt x="71" y="342"/>
                  </a:lnTo>
                  <a:lnTo>
                    <a:pt x="77" y="340"/>
                  </a:lnTo>
                  <a:lnTo>
                    <a:pt x="81" y="338"/>
                  </a:lnTo>
                  <a:lnTo>
                    <a:pt x="87" y="336"/>
                  </a:lnTo>
                  <a:lnTo>
                    <a:pt x="92" y="335"/>
                  </a:lnTo>
                  <a:lnTo>
                    <a:pt x="97" y="333"/>
                  </a:lnTo>
                  <a:lnTo>
                    <a:pt x="102" y="332"/>
                  </a:lnTo>
                  <a:lnTo>
                    <a:pt x="108" y="329"/>
                  </a:lnTo>
                  <a:lnTo>
                    <a:pt x="112" y="328"/>
                  </a:lnTo>
                  <a:lnTo>
                    <a:pt x="133" y="321"/>
                  </a:lnTo>
                  <a:lnTo>
                    <a:pt x="153" y="315"/>
                  </a:lnTo>
                  <a:lnTo>
                    <a:pt x="172" y="309"/>
                  </a:lnTo>
                  <a:lnTo>
                    <a:pt x="192" y="302"/>
                  </a:lnTo>
                  <a:lnTo>
                    <a:pt x="210" y="295"/>
                  </a:lnTo>
                  <a:lnTo>
                    <a:pt x="230" y="285"/>
                  </a:lnTo>
                  <a:lnTo>
                    <a:pt x="247" y="275"/>
                  </a:lnTo>
                  <a:lnTo>
                    <a:pt x="266" y="264"/>
                  </a:lnTo>
                  <a:lnTo>
                    <a:pt x="267" y="262"/>
                  </a:lnTo>
                  <a:lnTo>
                    <a:pt x="269" y="261"/>
                  </a:lnTo>
                  <a:lnTo>
                    <a:pt x="270" y="260"/>
                  </a:lnTo>
                  <a:lnTo>
                    <a:pt x="271" y="260"/>
                  </a:lnTo>
                  <a:lnTo>
                    <a:pt x="274" y="247"/>
                  </a:lnTo>
                  <a:lnTo>
                    <a:pt x="261" y="212"/>
                  </a:lnTo>
                  <a:lnTo>
                    <a:pt x="258" y="170"/>
                  </a:lnTo>
                  <a:lnTo>
                    <a:pt x="259" y="126"/>
                  </a:lnTo>
                  <a:lnTo>
                    <a:pt x="265" y="83"/>
                  </a:lnTo>
                  <a:close/>
                </a:path>
              </a:pathLst>
            </a:custGeom>
            <a:solidFill>
              <a:srgbClr val="00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42" name="Freeform 69"/>
            <p:cNvSpPr>
              <a:spLocks/>
            </p:cNvSpPr>
            <p:nvPr/>
          </p:nvSpPr>
          <p:spPr bwMode="auto">
            <a:xfrm>
              <a:off x="4110" y="3762"/>
              <a:ext cx="83" cy="166"/>
            </a:xfrm>
            <a:custGeom>
              <a:avLst/>
              <a:gdLst>
                <a:gd name="T0" fmla="*/ 33 w 165"/>
                <a:gd name="T1" fmla="*/ 56 h 333"/>
                <a:gd name="T2" fmla="*/ 33 w 165"/>
                <a:gd name="T3" fmla="*/ 55 h 333"/>
                <a:gd name="T4" fmla="*/ 31 w 165"/>
                <a:gd name="T5" fmla="*/ 50 h 333"/>
                <a:gd name="T6" fmla="*/ 29 w 165"/>
                <a:gd name="T7" fmla="*/ 42 h 333"/>
                <a:gd name="T8" fmla="*/ 27 w 165"/>
                <a:gd name="T9" fmla="*/ 34 h 333"/>
                <a:gd name="T10" fmla="*/ 24 w 165"/>
                <a:gd name="T11" fmla="*/ 27 h 333"/>
                <a:gd name="T12" fmla="*/ 22 w 165"/>
                <a:gd name="T13" fmla="*/ 23 h 333"/>
                <a:gd name="T14" fmla="*/ 21 w 165"/>
                <a:gd name="T15" fmla="*/ 23 h 333"/>
                <a:gd name="T16" fmla="*/ 21 w 165"/>
                <a:gd name="T17" fmla="*/ 23 h 333"/>
                <a:gd name="T18" fmla="*/ 22 w 165"/>
                <a:gd name="T19" fmla="*/ 22 h 333"/>
                <a:gd name="T20" fmla="*/ 21 w 165"/>
                <a:gd name="T21" fmla="*/ 20 h 333"/>
                <a:gd name="T22" fmla="*/ 18 w 165"/>
                <a:gd name="T23" fmla="*/ 14 h 333"/>
                <a:gd name="T24" fmla="*/ 16 w 165"/>
                <a:gd name="T25" fmla="*/ 9 h 333"/>
                <a:gd name="T26" fmla="*/ 13 w 165"/>
                <a:gd name="T27" fmla="*/ 5 h 333"/>
                <a:gd name="T28" fmla="*/ 10 w 165"/>
                <a:gd name="T29" fmla="*/ 2 h 333"/>
                <a:gd name="T30" fmla="*/ 8 w 165"/>
                <a:gd name="T31" fmla="*/ 0 h 333"/>
                <a:gd name="T32" fmla="*/ 7 w 165"/>
                <a:gd name="T33" fmla="*/ 1 h 333"/>
                <a:gd name="T34" fmla="*/ 3 w 165"/>
                <a:gd name="T35" fmla="*/ 2 h 333"/>
                <a:gd name="T36" fmla="*/ 1 w 165"/>
                <a:gd name="T37" fmla="*/ 4 h 333"/>
                <a:gd name="T38" fmla="*/ 0 w 165"/>
                <a:gd name="T39" fmla="*/ 5 h 333"/>
                <a:gd name="T40" fmla="*/ 4 w 165"/>
                <a:gd name="T41" fmla="*/ 10 h 333"/>
                <a:gd name="T42" fmla="*/ 10 w 165"/>
                <a:gd name="T43" fmla="*/ 22 h 333"/>
                <a:gd name="T44" fmla="*/ 14 w 165"/>
                <a:gd name="T45" fmla="*/ 33 h 333"/>
                <a:gd name="T46" fmla="*/ 17 w 165"/>
                <a:gd name="T47" fmla="*/ 42 h 333"/>
                <a:gd name="T48" fmla="*/ 20 w 165"/>
                <a:gd name="T49" fmla="*/ 51 h 333"/>
                <a:gd name="T50" fmla="*/ 22 w 165"/>
                <a:gd name="T51" fmla="*/ 59 h 333"/>
                <a:gd name="T52" fmla="*/ 23 w 165"/>
                <a:gd name="T53" fmla="*/ 63 h 333"/>
                <a:gd name="T54" fmla="*/ 25 w 165"/>
                <a:gd name="T55" fmla="*/ 71 h 333"/>
                <a:gd name="T56" fmla="*/ 27 w 165"/>
                <a:gd name="T57" fmla="*/ 78 h 333"/>
                <a:gd name="T58" fmla="*/ 28 w 165"/>
                <a:gd name="T59" fmla="*/ 80 h 333"/>
                <a:gd name="T60" fmla="*/ 28 w 165"/>
                <a:gd name="T61" fmla="*/ 81 h 333"/>
                <a:gd name="T62" fmla="*/ 42 w 165"/>
                <a:gd name="T63" fmla="*/ 83 h 333"/>
                <a:gd name="T64" fmla="*/ 38 w 165"/>
                <a:gd name="T65" fmla="*/ 69 h 333"/>
                <a:gd name="T66" fmla="*/ 33 w 165"/>
                <a:gd name="T67" fmla="*/ 57 h 33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65"/>
                <a:gd name="T103" fmla="*/ 0 h 333"/>
                <a:gd name="T104" fmla="*/ 165 w 165"/>
                <a:gd name="T105" fmla="*/ 333 h 333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65" h="333">
                  <a:moveTo>
                    <a:pt x="132" y="231"/>
                  </a:moveTo>
                  <a:lnTo>
                    <a:pt x="131" y="227"/>
                  </a:lnTo>
                  <a:lnTo>
                    <a:pt x="131" y="225"/>
                  </a:lnTo>
                  <a:lnTo>
                    <a:pt x="130" y="223"/>
                  </a:lnTo>
                  <a:lnTo>
                    <a:pt x="129" y="220"/>
                  </a:lnTo>
                  <a:lnTo>
                    <a:pt x="124" y="202"/>
                  </a:lnTo>
                  <a:lnTo>
                    <a:pt x="120" y="185"/>
                  </a:lnTo>
                  <a:lnTo>
                    <a:pt x="115" y="169"/>
                  </a:lnTo>
                  <a:lnTo>
                    <a:pt x="110" y="154"/>
                  </a:lnTo>
                  <a:lnTo>
                    <a:pt x="106" y="139"/>
                  </a:lnTo>
                  <a:lnTo>
                    <a:pt x="100" y="125"/>
                  </a:lnTo>
                  <a:lnTo>
                    <a:pt x="94" y="110"/>
                  </a:lnTo>
                  <a:lnTo>
                    <a:pt x="89" y="95"/>
                  </a:lnTo>
                  <a:lnTo>
                    <a:pt x="86" y="94"/>
                  </a:lnTo>
                  <a:lnTo>
                    <a:pt x="84" y="94"/>
                  </a:lnTo>
                  <a:lnTo>
                    <a:pt x="83" y="94"/>
                  </a:lnTo>
                  <a:lnTo>
                    <a:pt x="80" y="93"/>
                  </a:lnTo>
                  <a:lnTo>
                    <a:pt x="83" y="93"/>
                  </a:lnTo>
                  <a:lnTo>
                    <a:pt x="84" y="91"/>
                  </a:lnTo>
                  <a:lnTo>
                    <a:pt x="86" y="91"/>
                  </a:lnTo>
                  <a:lnTo>
                    <a:pt x="87" y="91"/>
                  </a:lnTo>
                  <a:lnTo>
                    <a:pt x="82" y="81"/>
                  </a:lnTo>
                  <a:lnTo>
                    <a:pt x="77" y="69"/>
                  </a:lnTo>
                  <a:lnTo>
                    <a:pt x="71" y="57"/>
                  </a:lnTo>
                  <a:lnTo>
                    <a:pt x="65" y="44"/>
                  </a:lnTo>
                  <a:lnTo>
                    <a:pt x="61" y="37"/>
                  </a:lnTo>
                  <a:lnTo>
                    <a:pt x="55" y="29"/>
                  </a:lnTo>
                  <a:lnTo>
                    <a:pt x="49" y="22"/>
                  </a:lnTo>
                  <a:lnTo>
                    <a:pt x="44" y="15"/>
                  </a:lnTo>
                  <a:lnTo>
                    <a:pt x="39" y="10"/>
                  </a:lnTo>
                  <a:lnTo>
                    <a:pt x="34" y="5"/>
                  </a:lnTo>
                  <a:lnTo>
                    <a:pt x="32" y="1"/>
                  </a:lnTo>
                  <a:lnTo>
                    <a:pt x="31" y="0"/>
                  </a:lnTo>
                  <a:lnTo>
                    <a:pt x="25" y="4"/>
                  </a:lnTo>
                  <a:lnTo>
                    <a:pt x="18" y="8"/>
                  </a:lnTo>
                  <a:lnTo>
                    <a:pt x="12" y="11"/>
                  </a:lnTo>
                  <a:lnTo>
                    <a:pt x="8" y="14"/>
                  </a:lnTo>
                  <a:lnTo>
                    <a:pt x="3" y="16"/>
                  </a:lnTo>
                  <a:lnTo>
                    <a:pt x="1" y="20"/>
                  </a:lnTo>
                  <a:lnTo>
                    <a:pt x="0" y="22"/>
                  </a:lnTo>
                  <a:lnTo>
                    <a:pt x="2" y="26"/>
                  </a:lnTo>
                  <a:lnTo>
                    <a:pt x="14" y="43"/>
                  </a:lnTo>
                  <a:lnTo>
                    <a:pt x="26" y="65"/>
                  </a:lnTo>
                  <a:lnTo>
                    <a:pt x="37" y="88"/>
                  </a:lnTo>
                  <a:lnTo>
                    <a:pt x="47" y="111"/>
                  </a:lnTo>
                  <a:lnTo>
                    <a:pt x="56" y="134"/>
                  </a:lnTo>
                  <a:lnTo>
                    <a:pt x="63" y="154"/>
                  </a:lnTo>
                  <a:lnTo>
                    <a:pt x="68" y="169"/>
                  </a:lnTo>
                  <a:lnTo>
                    <a:pt x="71" y="179"/>
                  </a:lnTo>
                  <a:lnTo>
                    <a:pt x="78" y="207"/>
                  </a:lnTo>
                  <a:lnTo>
                    <a:pt x="84" y="225"/>
                  </a:lnTo>
                  <a:lnTo>
                    <a:pt x="86" y="237"/>
                  </a:lnTo>
                  <a:lnTo>
                    <a:pt x="89" y="245"/>
                  </a:lnTo>
                  <a:lnTo>
                    <a:pt x="91" y="253"/>
                  </a:lnTo>
                  <a:lnTo>
                    <a:pt x="94" y="265"/>
                  </a:lnTo>
                  <a:lnTo>
                    <a:pt x="100" y="284"/>
                  </a:lnTo>
                  <a:lnTo>
                    <a:pt x="108" y="313"/>
                  </a:lnTo>
                  <a:lnTo>
                    <a:pt x="108" y="315"/>
                  </a:lnTo>
                  <a:lnTo>
                    <a:pt x="109" y="318"/>
                  </a:lnTo>
                  <a:lnTo>
                    <a:pt x="109" y="322"/>
                  </a:lnTo>
                  <a:lnTo>
                    <a:pt x="110" y="324"/>
                  </a:lnTo>
                  <a:lnTo>
                    <a:pt x="140" y="329"/>
                  </a:lnTo>
                  <a:lnTo>
                    <a:pt x="165" y="333"/>
                  </a:lnTo>
                  <a:lnTo>
                    <a:pt x="159" y="306"/>
                  </a:lnTo>
                  <a:lnTo>
                    <a:pt x="150" y="278"/>
                  </a:lnTo>
                  <a:lnTo>
                    <a:pt x="140" y="253"/>
                  </a:lnTo>
                  <a:lnTo>
                    <a:pt x="132" y="231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43" name="Freeform 70"/>
            <p:cNvSpPr>
              <a:spLocks/>
            </p:cNvSpPr>
            <p:nvPr/>
          </p:nvSpPr>
          <p:spPr bwMode="auto">
            <a:xfrm>
              <a:off x="4252" y="3761"/>
              <a:ext cx="141" cy="195"/>
            </a:xfrm>
            <a:custGeom>
              <a:avLst/>
              <a:gdLst>
                <a:gd name="T0" fmla="*/ 70 w 282"/>
                <a:gd name="T1" fmla="*/ 2 h 390"/>
                <a:gd name="T2" fmla="*/ 69 w 282"/>
                <a:gd name="T3" fmla="*/ 3 h 390"/>
                <a:gd name="T4" fmla="*/ 68 w 282"/>
                <a:gd name="T5" fmla="*/ 5 h 390"/>
                <a:gd name="T6" fmla="*/ 67 w 282"/>
                <a:gd name="T7" fmla="*/ 6 h 390"/>
                <a:gd name="T8" fmla="*/ 65 w 282"/>
                <a:gd name="T9" fmla="*/ 7 h 390"/>
                <a:gd name="T10" fmla="*/ 63 w 282"/>
                <a:gd name="T11" fmla="*/ 7 h 390"/>
                <a:gd name="T12" fmla="*/ 61 w 282"/>
                <a:gd name="T13" fmla="*/ 9 h 390"/>
                <a:gd name="T14" fmla="*/ 60 w 282"/>
                <a:gd name="T15" fmla="*/ 9 h 390"/>
                <a:gd name="T16" fmla="*/ 58 w 282"/>
                <a:gd name="T17" fmla="*/ 10 h 390"/>
                <a:gd name="T18" fmla="*/ 56 w 282"/>
                <a:gd name="T19" fmla="*/ 11 h 390"/>
                <a:gd name="T20" fmla="*/ 54 w 282"/>
                <a:gd name="T21" fmla="*/ 12 h 390"/>
                <a:gd name="T22" fmla="*/ 52 w 282"/>
                <a:gd name="T23" fmla="*/ 12 h 390"/>
                <a:gd name="T24" fmla="*/ 52 w 282"/>
                <a:gd name="T25" fmla="*/ 12 h 390"/>
                <a:gd name="T26" fmla="*/ 49 w 282"/>
                <a:gd name="T27" fmla="*/ 13 h 390"/>
                <a:gd name="T28" fmla="*/ 45 w 282"/>
                <a:gd name="T29" fmla="*/ 14 h 390"/>
                <a:gd name="T30" fmla="*/ 42 w 282"/>
                <a:gd name="T31" fmla="*/ 15 h 390"/>
                <a:gd name="T32" fmla="*/ 39 w 282"/>
                <a:gd name="T33" fmla="*/ 17 h 390"/>
                <a:gd name="T34" fmla="*/ 36 w 282"/>
                <a:gd name="T35" fmla="*/ 18 h 390"/>
                <a:gd name="T36" fmla="*/ 34 w 282"/>
                <a:gd name="T37" fmla="*/ 19 h 390"/>
                <a:gd name="T38" fmla="*/ 30 w 282"/>
                <a:gd name="T39" fmla="*/ 19 h 390"/>
                <a:gd name="T40" fmla="*/ 27 w 282"/>
                <a:gd name="T41" fmla="*/ 21 h 390"/>
                <a:gd name="T42" fmla="*/ 24 w 282"/>
                <a:gd name="T43" fmla="*/ 22 h 390"/>
                <a:gd name="T44" fmla="*/ 21 w 282"/>
                <a:gd name="T45" fmla="*/ 23 h 390"/>
                <a:gd name="T46" fmla="*/ 18 w 282"/>
                <a:gd name="T47" fmla="*/ 24 h 390"/>
                <a:gd name="T48" fmla="*/ 15 w 282"/>
                <a:gd name="T49" fmla="*/ 24 h 390"/>
                <a:gd name="T50" fmla="*/ 12 w 282"/>
                <a:gd name="T51" fmla="*/ 26 h 390"/>
                <a:gd name="T52" fmla="*/ 9 w 282"/>
                <a:gd name="T53" fmla="*/ 28 h 390"/>
                <a:gd name="T54" fmla="*/ 7 w 282"/>
                <a:gd name="T55" fmla="*/ 29 h 390"/>
                <a:gd name="T56" fmla="*/ 4 w 282"/>
                <a:gd name="T57" fmla="*/ 31 h 390"/>
                <a:gd name="T58" fmla="*/ 3 w 282"/>
                <a:gd name="T59" fmla="*/ 32 h 390"/>
                <a:gd name="T60" fmla="*/ 2 w 282"/>
                <a:gd name="T61" fmla="*/ 33 h 390"/>
                <a:gd name="T62" fmla="*/ 1 w 282"/>
                <a:gd name="T63" fmla="*/ 33 h 390"/>
                <a:gd name="T64" fmla="*/ 1 w 282"/>
                <a:gd name="T65" fmla="*/ 33 h 390"/>
                <a:gd name="T66" fmla="*/ 1 w 282"/>
                <a:gd name="T67" fmla="*/ 33 h 390"/>
                <a:gd name="T68" fmla="*/ 1 w 282"/>
                <a:gd name="T69" fmla="*/ 33 h 390"/>
                <a:gd name="T70" fmla="*/ 0 w 282"/>
                <a:gd name="T71" fmla="*/ 33 h 390"/>
                <a:gd name="T72" fmla="*/ 0 w 282"/>
                <a:gd name="T73" fmla="*/ 33 h 390"/>
                <a:gd name="T74" fmla="*/ 4 w 282"/>
                <a:gd name="T75" fmla="*/ 42 h 390"/>
                <a:gd name="T76" fmla="*/ 6 w 282"/>
                <a:gd name="T77" fmla="*/ 52 h 390"/>
                <a:gd name="T78" fmla="*/ 5 w 282"/>
                <a:gd name="T79" fmla="*/ 65 h 390"/>
                <a:gd name="T80" fmla="*/ 4 w 282"/>
                <a:gd name="T81" fmla="*/ 77 h 390"/>
                <a:gd name="T82" fmla="*/ 4 w 282"/>
                <a:gd name="T83" fmla="*/ 77 h 390"/>
                <a:gd name="T84" fmla="*/ 4 w 282"/>
                <a:gd name="T85" fmla="*/ 77 h 390"/>
                <a:gd name="T86" fmla="*/ 4 w 282"/>
                <a:gd name="T87" fmla="*/ 77 h 390"/>
                <a:gd name="T88" fmla="*/ 5 w 282"/>
                <a:gd name="T89" fmla="*/ 77 h 390"/>
                <a:gd name="T90" fmla="*/ 4 w 282"/>
                <a:gd name="T91" fmla="*/ 78 h 390"/>
                <a:gd name="T92" fmla="*/ 4 w 282"/>
                <a:gd name="T93" fmla="*/ 79 h 390"/>
                <a:gd name="T94" fmla="*/ 3 w 282"/>
                <a:gd name="T95" fmla="*/ 81 h 390"/>
                <a:gd name="T96" fmla="*/ 3 w 282"/>
                <a:gd name="T97" fmla="*/ 82 h 390"/>
                <a:gd name="T98" fmla="*/ 3 w 282"/>
                <a:gd name="T99" fmla="*/ 84 h 390"/>
                <a:gd name="T100" fmla="*/ 3 w 282"/>
                <a:gd name="T101" fmla="*/ 85 h 390"/>
                <a:gd name="T102" fmla="*/ 3 w 282"/>
                <a:gd name="T103" fmla="*/ 87 h 390"/>
                <a:gd name="T104" fmla="*/ 3 w 282"/>
                <a:gd name="T105" fmla="*/ 89 h 390"/>
                <a:gd name="T106" fmla="*/ 29 w 282"/>
                <a:gd name="T107" fmla="*/ 93 h 390"/>
                <a:gd name="T108" fmla="*/ 54 w 282"/>
                <a:gd name="T109" fmla="*/ 98 h 390"/>
                <a:gd name="T110" fmla="*/ 71 w 282"/>
                <a:gd name="T111" fmla="*/ 0 h 390"/>
                <a:gd name="T112" fmla="*/ 71 w 282"/>
                <a:gd name="T113" fmla="*/ 1 h 390"/>
                <a:gd name="T114" fmla="*/ 70 w 282"/>
                <a:gd name="T115" fmla="*/ 1 h 390"/>
                <a:gd name="T116" fmla="*/ 70 w 282"/>
                <a:gd name="T117" fmla="*/ 2 h 390"/>
                <a:gd name="T118" fmla="*/ 70 w 282"/>
                <a:gd name="T119" fmla="*/ 2 h 390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282"/>
                <a:gd name="T181" fmla="*/ 0 h 390"/>
                <a:gd name="T182" fmla="*/ 282 w 282"/>
                <a:gd name="T183" fmla="*/ 390 h 390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282" h="390">
                  <a:moveTo>
                    <a:pt x="278" y="7"/>
                  </a:moveTo>
                  <a:lnTo>
                    <a:pt x="274" y="14"/>
                  </a:lnTo>
                  <a:lnTo>
                    <a:pt x="270" y="20"/>
                  </a:lnTo>
                  <a:lnTo>
                    <a:pt x="265" y="23"/>
                  </a:lnTo>
                  <a:lnTo>
                    <a:pt x="259" y="28"/>
                  </a:lnTo>
                  <a:lnTo>
                    <a:pt x="252" y="30"/>
                  </a:lnTo>
                  <a:lnTo>
                    <a:pt x="247" y="34"/>
                  </a:lnTo>
                  <a:lnTo>
                    <a:pt x="240" y="36"/>
                  </a:lnTo>
                  <a:lnTo>
                    <a:pt x="234" y="38"/>
                  </a:lnTo>
                  <a:lnTo>
                    <a:pt x="224" y="42"/>
                  </a:lnTo>
                  <a:lnTo>
                    <a:pt x="217" y="45"/>
                  </a:lnTo>
                  <a:lnTo>
                    <a:pt x="211" y="47"/>
                  </a:lnTo>
                  <a:lnTo>
                    <a:pt x="209" y="49"/>
                  </a:lnTo>
                  <a:lnTo>
                    <a:pt x="196" y="53"/>
                  </a:lnTo>
                  <a:lnTo>
                    <a:pt x="183" y="57"/>
                  </a:lnTo>
                  <a:lnTo>
                    <a:pt x="171" y="61"/>
                  </a:lnTo>
                  <a:lnTo>
                    <a:pt x="158" y="65"/>
                  </a:lnTo>
                  <a:lnTo>
                    <a:pt x="145" y="69"/>
                  </a:lnTo>
                  <a:lnTo>
                    <a:pt x="134" y="73"/>
                  </a:lnTo>
                  <a:lnTo>
                    <a:pt x="121" y="76"/>
                  </a:lnTo>
                  <a:lnTo>
                    <a:pt x="110" y="81"/>
                  </a:lnTo>
                  <a:lnTo>
                    <a:pt x="97" y="85"/>
                  </a:lnTo>
                  <a:lnTo>
                    <a:pt x="85" y="90"/>
                  </a:lnTo>
                  <a:lnTo>
                    <a:pt x="73" y="95"/>
                  </a:lnTo>
                  <a:lnTo>
                    <a:pt x="61" y="99"/>
                  </a:lnTo>
                  <a:lnTo>
                    <a:pt x="50" y="105"/>
                  </a:lnTo>
                  <a:lnTo>
                    <a:pt x="38" y="112"/>
                  </a:lnTo>
                  <a:lnTo>
                    <a:pt x="28" y="119"/>
                  </a:lnTo>
                  <a:lnTo>
                    <a:pt x="16" y="126"/>
                  </a:lnTo>
                  <a:lnTo>
                    <a:pt x="13" y="128"/>
                  </a:lnTo>
                  <a:lnTo>
                    <a:pt x="9" y="129"/>
                  </a:lnTo>
                  <a:lnTo>
                    <a:pt x="6" y="129"/>
                  </a:lnTo>
                  <a:lnTo>
                    <a:pt x="3" y="129"/>
                  </a:lnTo>
                  <a:lnTo>
                    <a:pt x="1" y="129"/>
                  </a:lnTo>
                  <a:lnTo>
                    <a:pt x="0" y="129"/>
                  </a:lnTo>
                  <a:lnTo>
                    <a:pt x="17" y="165"/>
                  </a:lnTo>
                  <a:lnTo>
                    <a:pt x="24" y="210"/>
                  </a:lnTo>
                  <a:lnTo>
                    <a:pt x="23" y="258"/>
                  </a:lnTo>
                  <a:lnTo>
                    <a:pt x="16" y="306"/>
                  </a:lnTo>
                  <a:lnTo>
                    <a:pt x="17" y="307"/>
                  </a:lnTo>
                  <a:lnTo>
                    <a:pt x="19" y="307"/>
                  </a:lnTo>
                  <a:lnTo>
                    <a:pt x="20" y="307"/>
                  </a:lnTo>
                  <a:lnTo>
                    <a:pt x="19" y="311"/>
                  </a:lnTo>
                  <a:lnTo>
                    <a:pt x="17" y="316"/>
                  </a:lnTo>
                  <a:lnTo>
                    <a:pt x="15" y="322"/>
                  </a:lnTo>
                  <a:lnTo>
                    <a:pt x="13" y="326"/>
                  </a:lnTo>
                  <a:lnTo>
                    <a:pt x="13" y="333"/>
                  </a:lnTo>
                  <a:lnTo>
                    <a:pt x="13" y="340"/>
                  </a:lnTo>
                  <a:lnTo>
                    <a:pt x="12" y="347"/>
                  </a:lnTo>
                  <a:lnTo>
                    <a:pt x="12" y="355"/>
                  </a:lnTo>
                  <a:lnTo>
                    <a:pt x="117" y="372"/>
                  </a:lnTo>
                  <a:lnTo>
                    <a:pt x="219" y="390"/>
                  </a:lnTo>
                  <a:lnTo>
                    <a:pt x="282" y="0"/>
                  </a:lnTo>
                  <a:lnTo>
                    <a:pt x="281" y="1"/>
                  </a:lnTo>
                  <a:lnTo>
                    <a:pt x="280" y="4"/>
                  </a:lnTo>
                  <a:lnTo>
                    <a:pt x="279" y="5"/>
                  </a:lnTo>
                  <a:lnTo>
                    <a:pt x="278" y="7"/>
                  </a:lnTo>
                  <a:close/>
                </a:path>
              </a:pathLst>
            </a:custGeom>
            <a:solidFill>
              <a:srgbClr val="00FFF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44" name="Freeform 71"/>
            <p:cNvSpPr>
              <a:spLocks/>
            </p:cNvSpPr>
            <p:nvPr/>
          </p:nvSpPr>
          <p:spPr bwMode="auto">
            <a:xfrm>
              <a:off x="4243" y="3509"/>
              <a:ext cx="16" cy="10"/>
            </a:xfrm>
            <a:custGeom>
              <a:avLst/>
              <a:gdLst>
                <a:gd name="T0" fmla="*/ 6 w 31"/>
                <a:gd name="T1" fmla="*/ 0 h 21"/>
                <a:gd name="T2" fmla="*/ 4 w 31"/>
                <a:gd name="T3" fmla="*/ 0 h 21"/>
                <a:gd name="T4" fmla="*/ 2 w 31"/>
                <a:gd name="T5" fmla="*/ 0 h 21"/>
                <a:gd name="T6" fmla="*/ 1 w 31"/>
                <a:gd name="T7" fmla="*/ 0 h 21"/>
                <a:gd name="T8" fmla="*/ 0 w 31"/>
                <a:gd name="T9" fmla="*/ 1 h 21"/>
                <a:gd name="T10" fmla="*/ 1 w 31"/>
                <a:gd name="T11" fmla="*/ 1 h 21"/>
                <a:gd name="T12" fmla="*/ 3 w 31"/>
                <a:gd name="T13" fmla="*/ 3 h 21"/>
                <a:gd name="T14" fmla="*/ 5 w 31"/>
                <a:gd name="T15" fmla="*/ 4 h 21"/>
                <a:gd name="T16" fmla="*/ 8 w 31"/>
                <a:gd name="T17" fmla="*/ 5 h 21"/>
                <a:gd name="T18" fmla="*/ 8 w 31"/>
                <a:gd name="T19" fmla="*/ 4 h 21"/>
                <a:gd name="T20" fmla="*/ 8 w 31"/>
                <a:gd name="T21" fmla="*/ 3 h 21"/>
                <a:gd name="T22" fmla="*/ 8 w 31"/>
                <a:gd name="T23" fmla="*/ 2 h 21"/>
                <a:gd name="T24" fmla="*/ 8 w 31"/>
                <a:gd name="T25" fmla="*/ 1 h 21"/>
                <a:gd name="T26" fmla="*/ 8 w 31"/>
                <a:gd name="T27" fmla="*/ 0 h 21"/>
                <a:gd name="T28" fmla="*/ 7 w 31"/>
                <a:gd name="T29" fmla="*/ 0 h 21"/>
                <a:gd name="T30" fmla="*/ 6 w 31"/>
                <a:gd name="T31" fmla="*/ 0 h 21"/>
                <a:gd name="T32" fmla="*/ 6 w 31"/>
                <a:gd name="T33" fmla="*/ 0 h 2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1"/>
                <a:gd name="T52" fmla="*/ 0 h 21"/>
                <a:gd name="T53" fmla="*/ 31 w 31"/>
                <a:gd name="T54" fmla="*/ 21 h 2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1" h="21">
                  <a:moveTo>
                    <a:pt x="22" y="0"/>
                  </a:moveTo>
                  <a:lnTo>
                    <a:pt x="16" y="0"/>
                  </a:lnTo>
                  <a:lnTo>
                    <a:pt x="8" y="2"/>
                  </a:lnTo>
                  <a:lnTo>
                    <a:pt x="2" y="3"/>
                  </a:lnTo>
                  <a:lnTo>
                    <a:pt x="0" y="4"/>
                  </a:lnTo>
                  <a:lnTo>
                    <a:pt x="2" y="6"/>
                  </a:lnTo>
                  <a:lnTo>
                    <a:pt x="9" y="12"/>
                  </a:lnTo>
                  <a:lnTo>
                    <a:pt x="18" y="18"/>
                  </a:lnTo>
                  <a:lnTo>
                    <a:pt x="29" y="21"/>
                  </a:lnTo>
                  <a:lnTo>
                    <a:pt x="30" y="17"/>
                  </a:lnTo>
                  <a:lnTo>
                    <a:pt x="30" y="12"/>
                  </a:lnTo>
                  <a:lnTo>
                    <a:pt x="30" y="8"/>
                  </a:lnTo>
                  <a:lnTo>
                    <a:pt x="31" y="4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4" y="0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45" name="Freeform 72"/>
            <p:cNvSpPr>
              <a:spLocks/>
            </p:cNvSpPr>
            <p:nvPr/>
          </p:nvSpPr>
          <p:spPr bwMode="auto">
            <a:xfrm>
              <a:off x="4228" y="3840"/>
              <a:ext cx="16" cy="11"/>
            </a:xfrm>
            <a:custGeom>
              <a:avLst/>
              <a:gdLst>
                <a:gd name="T0" fmla="*/ 3 w 31"/>
                <a:gd name="T1" fmla="*/ 6 h 22"/>
                <a:gd name="T2" fmla="*/ 4 w 31"/>
                <a:gd name="T3" fmla="*/ 6 h 22"/>
                <a:gd name="T4" fmla="*/ 6 w 31"/>
                <a:gd name="T5" fmla="*/ 6 h 22"/>
                <a:gd name="T6" fmla="*/ 8 w 31"/>
                <a:gd name="T7" fmla="*/ 5 h 22"/>
                <a:gd name="T8" fmla="*/ 8 w 31"/>
                <a:gd name="T9" fmla="*/ 5 h 22"/>
                <a:gd name="T10" fmla="*/ 8 w 31"/>
                <a:gd name="T11" fmla="*/ 3 h 22"/>
                <a:gd name="T12" fmla="*/ 6 w 31"/>
                <a:gd name="T13" fmla="*/ 3 h 22"/>
                <a:gd name="T14" fmla="*/ 4 w 31"/>
                <a:gd name="T15" fmla="*/ 1 h 22"/>
                <a:gd name="T16" fmla="*/ 1 w 31"/>
                <a:gd name="T17" fmla="*/ 0 h 22"/>
                <a:gd name="T18" fmla="*/ 1 w 31"/>
                <a:gd name="T19" fmla="*/ 1 h 22"/>
                <a:gd name="T20" fmla="*/ 1 w 31"/>
                <a:gd name="T21" fmla="*/ 3 h 22"/>
                <a:gd name="T22" fmla="*/ 1 w 31"/>
                <a:gd name="T23" fmla="*/ 3 h 22"/>
                <a:gd name="T24" fmla="*/ 0 w 31"/>
                <a:gd name="T25" fmla="*/ 5 h 22"/>
                <a:gd name="T26" fmla="*/ 1 w 31"/>
                <a:gd name="T27" fmla="*/ 5 h 22"/>
                <a:gd name="T28" fmla="*/ 2 w 31"/>
                <a:gd name="T29" fmla="*/ 6 h 22"/>
                <a:gd name="T30" fmla="*/ 2 w 31"/>
                <a:gd name="T31" fmla="*/ 6 h 22"/>
                <a:gd name="T32" fmla="*/ 3 w 31"/>
                <a:gd name="T33" fmla="*/ 6 h 2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31"/>
                <a:gd name="T52" fmla="*/ 0 h 22"/>
                <a:gd name="T53" fmla="*/ 31 w 31"/>
                <a:gd name="T54" fmla="*/ 22 h 2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31" h="22">
                  <a:moveTo>
                    <a:pt x="9" y="22"/>
                  </a:moveTo>
                  <a:lnTo>
                    <a:pt x="16" y="22"/>
                  </a:lnTo>
                  <a:lnTo>
                    <a:pt x="23" y="21"/>
                  </a:lnTo>
                  <a:lnTo>
                    <a:pt x="29" y="18"/>
                  </a:lnTo>
                  <a:lnTo>
                    <a:pt x="31" y="17"/>
                  </a:lnTo>
                  <a:lnTo>
                    <a:pt x="29" y="15"/>
                  </a:lnTo>
                  <a:lnTo>
                    <a:pt x="22" y="10"/>
                  </a:lnTo>
                  <a:lnTo>
                    <a:pt x="13" y="5"/>
                  </a:lnTo>
                  <a:lnTo>
                    <a:pt x="2" y="0"/>
                  </a:lnTo>
                  <a:lnTo>
                    <a:pt x="1" y="5"/>
                  </a:lnTo>
                  <a:lnTo>
                    <a:pt x="1" y="9"/>
                  </a:lnTo>
                  <a:lnTo>
                    <a:pt x="1" y="14"/>
                  </a:lnTo>
                  <a:lnTo>
                    <a:pt x="0" y="18"/>
                  </a:lnTo>
                  <a:lnTo>
                    <a:pt x="2" y="20"/>
                  </a:lnTo>
                  <a:lnTo>
                    <a:pt x="5" y="21"/>
                  </a:lnTo>
                  <a:lnTo>
                    <a:pt x="7" y="22"/>
                  </a:lnTo>
                  <a:lnTo>
                    <a:pt x="9" y="22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46" name="Freeform 73"/>
            <p:cNvSpPr>
              <a:spLocks/>
            </p:cNvSpPr>
            <p:nvPr/>
          </p:nvSpPr>
          <p:spPr bwMode="auto">
            <a:xfrm>
              <a:off x="4227" y="3421"/>
              <a:ext cx="73" cy="34"/>
            </a:xfrm>
            <a:custGeom>
              <a:avLst/>
              <a:gdLst>
                <a:gd name="T0" fmla="*/ 33 w 147"/>
                <a:gd name="T1" fmla="*/ 5 h 69"/>
                <a:gd name="T2" fmla="*/ 1 w 147"/>
                <a:gd name="T3" fmla="*/ 0 h 69"/>
                <a:gd name="T4" fmla="*/ 1 w 147"/>
                <a:gd name="T5" fmla="*/ 2 h 69"/>
                <a:gd name="T6" fmla="*/ 1 w 147"/>
                <a:gd name="T7" fmla="*/ 4 h 69"/>
                <a:gd name="T8" fmla="*/ 1 w 147"/>
                <a:gd name="T9" fmla="*/ 5 h 69"/>
                <a:gd name="T10" fmla="*/ 1 w 147"/>
                <a:gd name="T11" fmla="*/ 7 h 69"/>
                <a:gd name="T12" fmla="*/ 0 w 147"/>
                <a:gd name="T13" fmla="*/ 8 h 69"/>
                <a:gd name="T14" fmla="*/ 0 w 147"/>
                <a:gd name="T15" fmla="*/ 9 h 69"/>
                <a:gd name="T16" fmla="*/ 0 w 147"/>
                <a:gd name="T17" fmla="*/ 11 h 69"/>
                <a:gd name="T18" fmla="*/ 0 w 147"/>
                <a:gd name="T19" fmla="*/ 12 h 69"/>
                <a:gd name="T20" fmla="*/ 1 w 147"/>
                <a:gd name="T21" fmla="*/ 12 h 69"/>
                <a:gd name="T22" fmla="*/ 3 w 147"/>
                <a:gd name="T23" fmla="*/ 12 h 69"/>
                <a:gd name="T24" fmla="*/ 5 w 147"/>
                <a:gd name="T25" fmla="*/ 12 h 69"/>
                <a:gd name="T26" fmla="*/ 6 w 147"/>
                <a:gd name="T27" fmla="*/ 12 h 69"/>
                <a:gd name="T28" fmla="*/ 8 w 147"/>
                <a:gd name="T29" fmla="*/ 11 h 69"/>
                <a:gd name="T30" fmla="*/ 10 w 147"/>
                <a:gd name="T31" fmla="*/ 11 h 69"/>
                <a:gd name="T32" fmla="*/ 11 w 147"/>
                <a:gd name="T33" fmla="*/ 11 h 69"/>
                <a:gd name="T34" fmla="*/ 13 w 147"/>
                <a:gd name="T35" fmla="*/ 10 h 69"/>
                <a:gd name="T36" fmla="*/ 15 w 147"/>
                <a:gd name="T37" fmla="*/ 10 h 69"/>
                <a:gd name="T38" fmla="*/ 16 w 147"/>
                <a:gd name="T39" fmla="*/ 9 h 69"/>
                <a:gd name="T40" fmla="*/ 19 w 147"/>
                <a:gd name="T41" fmla="*/ 9 h 69"/>
                <a:gd name="T42" fmla="*/ 20 w 147"/>
                <a:gd name="T43" fmla="*/ 9 h 69"/>
                <a:gd name="T44" fmla="*/ 22 w 147"/>
                <a:gd name="T45" fmla="*/ 10 h 69"/>
                <a:gd name="T46" fmla="*/ 24 w 147"/>
                <a:gd name="T47" fmla="*/ 11 h 69"/>
                <a:gd name="T48" fmla="*/ 26 w 147"/>
                <a:gd name="T49" fmla="*/ 12 h 69"/>
                <a:gd name="T50" fmla="*/ 28 w 147"/>
                <a:gd name="T51" fmla="*/ 13 h 69"/>
                <a:gd name="T52" fmla="*/ 30 w 147"/>
                <a:gd name="T53" fmla="*/ 14 h 69"/>
                <a:gd name="T54" fmla="*/ 32 w 147"/>
                <a:gd name="T55" fmla="*/ 15 h 69"/>
                <a:gd name="T56" fmla="*/ 34 w 147"/>
                <a:gd name="T57" fmla="*/ 16 h 69"/>
                <a:gd name="T58" fmla="*/ 36 w 147"/>
                <a:gd name="T59" fmla="*/ 17 h 69"/>
                <a:gd name="T60" fmla="*/ 36 w 147"/>
                <a:gd name="T61" fmla="*/ 14 h 69"/>
                <a:gd name="T62" fmla="*/ 35 w 147"/>
                <a:gd name="T63" fmla="*/ 11 h 69"/>
                <a:gd name="T64" fmla="*/ 34 w 147"/>
                <a:gd name="T65" fmla="*/ 8 h 69"/>
                <a:gd name="T66" fmla="*/ 33 w 147"/>
                <a:gd name="T67" fmla="*/ 5 h 6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47"/>
                <a:gd name="T103" fmla="*/ 0 h 69"/>
                <a:gd name="T104" fmla="*/ 147 w 147"/>
                <a:gd name="T105" fmla="*/ 69 h 69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47" h="69">
                  <a:moveTo>
                    <a:pt x="135" y="22"/>
                  </a:moveTo>
                  <a:lnTo>
                    <a:pt x="5" y="0"/>
                  </a:lnTo>
                  <a:lnTo>
                    <a:pt x="4" y="8"/>
                  </a:lnTo>
                  <a:lnTo>
                    <a:pt x="4" y="16"/>
                  </a:lnTo>
                  <a:lnTo>
                    <a:pt x="4" y="23"/>
                  </a:lnTo>
                  <a:lnTo>
                    <a:pt x="4" y="30"/>
                  </a:lnTo>
                  <a:lnTo>
                    <a:pt x="3" y="35"/>
                  </a:lnTo>
                  <a:lnTo>
                    <a:pt x="2" y="39"/>
                  </a:lnTo>
                  <a:lnTo>
                    <a:pt x="1" y="45"/>
                  </a:lnTo>
                  <a:lnTo>
                    <a:pt x="0" y="50"/>
                  </a:lnTo>
                  <a:lnTo>
                    <a:pt x="6" y="51"/>
                  </a:lnTo>
                  <a:lnTo>
                    <a:pt x="13" y="51"/>
                  </a:lnTo>
                  <a:lnTo>
                    <a:pt x="20" y="51"/>
                  </a:lnTo>
                  <a:lnTo>
                    <a:pt x="27" y="50"/>
                  </a:lnTo>
                  <a:lnTo>
                    <a:pt x="34" y="47"/>
                  </a:lnTo>
                  <a:lnTo>
                    <a:pt x="41" y="46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1" y="40"/>
                  </a:lnTo>
                  <a:lnTo>
                    <a:pt x="67" y="39"/>
                  </a:lnTo>
                  <a:lnTo>
                    <a:pt x="76" y="39"/>
                  </a:lnTo>
                  <a:lnTo>
                    <a:pt x="82" y="38"/>
                  </a:lnTo>
                  <a:lnTo>
                    <a:pt x="91" y="43"/>
                  </a:lnTo>
                  <a:lnTo>
                    <a:pt x="99" y="46"/>
                  </a:lnTo>
                  <a:lnTo>
                    <a:pt x="106" y="51"/>
                  </a:lnTo>
                  <a:lnTo>
                    <a:pt x="114" y="55"/>
                  </a:lnTo>
                  <a:lnTo>
                    <a:pt x="122" y="59"/>
                  </a:lnTo>
                  <a:lnTo>
                    <a:pt x="130" y="62"/>
                  </a:lnTo>
                  <a:lnTo>
                    <a:pt x="139" y="66"/>
                  </a:lnTo>
                  <a:lnTo>
                    <a:pt x="147" y="69"/>
                  </a:lnTo>
                  <a:lnTo>
                    <a:pt x="144" y="58"/>
                  </a:lnTo>
                  <a:lnTo>
                    <a:pt x="140" y="45"/>
                  </a:lnTo>
                  <a:lnTo>
                    <a:pt x="138" y="34"/>
                  </a:lnTo>
                  <a:lnTo>
                    <a:pt x="135" y="22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47" name="Freeform 74"/>
            <p:cNvSpPr>
              <a:spLocks/>
            </p:cNvSpPr>
            <p:nvPr/>
          </p:nvSpPr>
          <p:spPr bwMode="auto">
            <a:xfrm>
              <a:off x="4186" y="3905"/>
              <a:ext cx="74" cy="34"/>
            </a:xfrm>
            <a:custGeom>
              <a:avLst/>
              <a:gdLst>
                <a:gd name="T0" fmla="*/ 37 w 147"/>
                <a:gd name="T1" fmla="*/ 4 h 68"/>
                <a:gd name="T2" fmla="*/ 35 w 147"/>
                <a:gd name="T3" fmla="*/ 4 h 68"/>
                <a:gd name="T4" fmla="*/ 34 w 147"/>
                <a:gd name="T5" fmla="*/ 4 h 68"/>
                <a:gd name="T6" fmla="*/ 32 w 147"/>
                <a:gd name="T7" fmla="*/ 4 h 68"/>
                <a:gd name="T8" fmla="*/ 31 w 147"/>
                <a:gd name="T9" fmla="*/ 5 h 68"/>
                <a:gd name="T10" fmla="*/ 29 w 147"/>
                <a:gd name="T11" fmla="*/ 5 h 68"/>
                <a:gd name="T12" fmla="*/ 27 w 147"/>
                <a:gd name="T13" fmla="*/ 5 h 68"/>
                <a:gd name="T14" fmla="*/ 25 w 147"/>
                <a:gd name="T15" fmla="*/ 6 h 68"/>
                <a:gd name="T16" fmla="*/ 24 w 147"/>
                <a:gd name="T17" fmla="*/ 7 h 68"/>
                <a:gd name="T18" fmla="*/ 22 w 147"/>
                <a:gd name="T19" fmla="*/ 7 h 68"/>
                <a:gd name="T20" fmla="*/ 21 w 147"/>
                <a:gd name="T21" fmla="*/ 7 h 68"/>
                <a:gd name="T22" fmla="*/ 18 w 147"/>
                <a:gd name="T23" fmla="*/ 7 h 68"/>
                <a:gd name="T24" fmla="*/ 17 w 147"/>
                <a:gd name="T25" fmla="*/ 7 h 68"/>
                <a:gd name="T26" fmla="*/ 15 w 147"/>
                <a:gd name="T27" fmla="*/ 6 h 68"/>
                <a:gd name="T28" fmla="*/ 13 w 147"/>
                <a:gd name="T29" fmla="*/ 5 h 68"/>
                <a:gd name="T30" fmla="*/ 11 w 147"/>
                <a:gd name="T31" fmla="*/ 4 h 68"/>
                <a:gd name="T32" fmla="*/ 9 w 147"/>
                <a:gd name="T33" fmla="*/ 3 h 68"/>
                <a:gd name="T34" fmla="*/ 7 w 147"/>
                <a:gd name="T35" fmla="*/ 2 h 68"/>
                <a:gd name="T36" fmla="*/ 5 w 147"/>
                <a:gd name="T37" fmla="*/ 1 h 68"/>
                <a:gd name="T38" fmla="*/ 2 w 147"/>
                <a:gd name="T39" fmla="*/ 1 h 68"/>
                <a:gd name="T40" fmla="*/ 0 w 147"/>
                <a:gd name="T41" fmla="*/ 0 h 68"/>
                <a:gd name="T42" fmla="*/ 1 w 147"/>
                <a:gd name="T43" fmla="*/ 3 h 68"/>
                <a:gd name="T44" fmla="*/ 2 w 147"/>
                <a:gd name="T45" fmla="*/ 5 h 68"/>
                <a:gd name="T46" fmla="*/ 3 w 147"/>
                <a:gd name="T47" fmla="*/ 9 h 68"/>
                <a:gd name="T48" fmla="*/ 4 w 147"/>
                <a:gd name="T49" fmla="*/ 11 h 68"/>
                <a:gd name="T50" fmla="*/ 36 w 147"/>
                <a:gd name="T51" fmla="*/ 17 h 68"/>
                <a:gd name="T52" fmla="*/ 36 w 147"/>
                <a:gd name="T53" fmla="*/ 15 h 68"/>
                <a:gd name="T54" fmla="*/ 36 w 147"/>
                <a:gd name="T55" fmla="*/ 13 h 68"/>
                <a:gd name="T56" fmla="*/ 36 w 147"/>
                <a:gd name="T57" fmla="*/ 11 h 68"/>
                <a:gd name="T58" fmla="*/ 36 w 147"/>
                <a:gd name="T59" fmla="*/ 9 h 68"/>
                <a:gd name="T60" fmla="*/ 37 w 147"/>
                <a:gd name="T61" fmla="*/ 9 h 68"/>
                <a:gd name="T62" fmla="*/ 37 w 147"/>
                <a:gd name="T63" fmla="*/ 7 h 68"/>
                <a:gd name="T64" fmla="*/ 37 w 147"/>
                <a:gd name="T65" fmla="*/ 6 h 68"/>
                <a:gd name="T66" fmla="*/ 37 w 147"/>
                <a:gd name="T67" fmla="*/ 4 h 6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47"/>
                <a:gd name="T103" fmla="*/ 0 h 68"/>
                <a:gd name="T104" fmla="*/ 147 w 147"/>
                <a:gd name="T105" fmla="*/ 68 h 6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47" h="68">
                  <a:moveTo>
                    <a:pt x="147" y="19"/>
                  </a:moveTo>
                  <a:lnTo>
                    <a:pt x="140" y="17"/>
                  </a:lnTo>
                  <a:lnTo>
                    <a:pt x="134" y="17"/>
                  </a:lnTo>
                  <a:lnTo>
                    <a:pt x="128" y="19"/>
                  </a:lnTo>
                  <a:lnTo>
                    <a:pt x="121" y="20"/>
                  </a:lnTo>
                  <a:lnTo>
                    <a:pt x="114" y="21"/>
                  </a:lnTo>
                  <a:lnTo>
                    <a:pt x="107" y="23"/>
                  </a:lnTo>
                  <a:lnTo>
                    <a:pt x="100" y="25"/>
                  </a:lnTo>
                  <a:lnTo>
                    <a:pt x="94" y="28"/>
                  </a:lnTo>
                  <a:lnTo>
                    <a:pt x="87" y="29"/>
                  </a:lnTo>
                  <a:lnTo>
                    <a:pt x="81" y="29"/>
                  </a:lnTo>
                  <a:lnTo>
                    <a:pt x="72" y="30"/>
                  </a:lnTo>
                  <a:lnTo>
                    <a:pt x="66" y="30"/>
                  </a:lnTo>
                  <a:lnTo>
                    <a:pt x="57" y="27"/>
                  </a:lnTo>
                  <a:lnTo>
                    <a:pt x="49" y="22"/>
                  </a:lnTo>
                  <a:lnTo>
                    <a:pt x="41" y="19"/>
                  </a:lnTo>
                  <a:lnTo>
                    <a:pt x="33" y="14"/>
                  </a:lnTo>
                  <a:lnTo>
                    <a:pt x="25" y="10"/>
                  </a:lnTo>
                  <a:lnTo>
                    <a:pt x="17" y="7"/>
                  </a:lnTo>
                  <a:lnTo>
                    <a:pt x="8" y="4"/>
                  </a:lnTo>
                  <a:lnTo>
                    <a:pt x="0" y="0"/>
                  </a:lnTo>
                  <a:lnTo>
                    <a:pt x="4" y="12"/>
                  </a:lnTo>
                  <a:lnTo>
                    <a:pt x="8" y="23"/>
                  </a:lnTo>
                  <a:lnTo>
                    <a:pt x="10" y="36"/>
                  </a:lnTo>
                  <a:lnTo>
                    <a:pt x="13" y="47"/>
                  </a:lnTo>
                  <a:lnTo>
                    <a:pt x="143" y="68"/>
                  </a:lnTo>
                  <a:lnTo>
                    <a:pt x="143" y="60"/>
                  </a:lnTo>
                  <a:lnTo>
                    <a:pt x="144" y="53"/>
                  </a:lnTo>
                  <a:lnTo>
                    <a:pt x="144" y="46"/>
                  </a:lnTo>
                  <a:lnTo>
                    <a:pt x="144" y="39"/>
                  </a:lnTo>
                  <a:lnTo>
                    <a:pt x="145" y="35"/>
                  </a:lnTo>
                  <a:lnTo>
                    <a:pt x="146" y="30"/>
                  </a:lnTo>
                  <a:lnTo>
                    <a:pt x="146" y="24"/>
                  </a:lnTo>
                  <a:lnTo>
                    <a:pt x="147" y="19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48" name="Freeform 75"/>
            <p:cNvSpPr>
              <a:spLocks/>
            </p:cNvSpPr>
            <p:nvPr/>
          </p:nvSpPr>
          <p:spPr bwMode="auto">
            <a:xfrm>
              <a:off x="4131" y="3765"/>
              <a:ext cx="63" cy="122"/>
            </a:xfrm>
            <a:custGeom>
              <a:avLst/>
              <a:gdLst>
                <a:gd name="T0" fmla="*/ 20 w 127"/>
                <a:gd name="T1" fmla="*/ 12 h 244"/>
                <a:gd name="T2" fmla="*/ 20 w 127"/>
                <a:gd name="T3" fmla="*/ 12 h 244"/>
                <a:gd name="T4" fmla="*/ 20 w 127"/>
                <a:gd name="T5" fmla="*/ 12 h 244"/>
                <a:gd name="T6" fmla="*/ 20 w 127"/>
                <a:gd name="T7" fmla="*/ 12 h 244"/>
                <a:gd name="T8" fmla="*/ 20 w 127"/>
                <a:gd name="T9" fmla="*/ 11 h 244"/>
                <a:gd name="T10" fmla="*/ 20 w 127"/>
                <a:gd name="T11" fmla="*/ 11 h 244"/>
                <a:gd name="T12" fmla="*/ 20 w 127"/>
                <a:gd name="T13" fmla="*/ 11 h 244"/>
                <a:gd name="T14" fmla="*/ 19 w 127"/>
                <a:gd name="T15" fmla="*/ 11 h 244"/>
                <a:gd name="T16" fmla="*/ 19 w 127"/>
                <a:gd name="T17" fmla="*/ 11 h 244"/>
                <a:gd name="T18" fmla="*/ 18 w 127"/>
                <a:gd name="T19" fmla="*/ 11 h 244"/>
                <a:gd name="T20" fmla="*/ 18 w 127"/>
                <a:gd name="T21" fmla="*/ 10 h 244"/>
                <a:gd name="T22" fmla="*/ 18 w 127"/>
                <a:gd name="T23" fmla="*/ 10 h 244"/>
                <a:gd name="T24" fmla="*/ 17 w 127"/>
                <a:gd name="T25" fmla="*/ 10 h 244"/>
                <a:gd name="T26" fmla="*/ 15 w 127"/>
                <a:gd name="T27" fmla="*/ 8 h 244"/>
                <a:gd name="T28" fmla="*/ 13 w 127"/>
                <a:gd name="T29" fmla="*/ 6 h 244"/>
                <a:gd name="T30" fmla="*/ 11 w 127"/>
                <a:gd name="T31" fmla="*/ 4 h 244"/>
                <a:gd name="T32" fmla="*/ 9 w 127"/>
                <a:gd name="T33" fmla="*/ 2 h 244"/>
                <a:gd name="T34" fmla="*/ 7 w 127"/>
                <a:gd name="T35" fmla="*/ 1 h 244"/>
                <a:gd name="T36" fmla="*/ 5 w 127"/>
                <a:gd name="T37" fmla="*/ 0 h 244"/>
                <a:gd name="T38" fmla="*/ 2 w 127"/>
                <a:gd name="T39" fmla="*/ 0 h 244"/>
                <a:gd name="T40" fmla="*/ 0 w 127"/>
                <a:gd name="T41" fmla="*/ 2 h 244"/>
                <a:gd name="T42" fmla="*/ 1 w 127"/>
                <a:gd name="T43" fmla="*/ 4 h 244"/>
                <a:gd name="T44" fmla="*/ 3 w 127"/>
                <a:gd name="T45" fmla="*/ 6 h 244"/>
                <a:gd name="T46" fmla="*/ 5 w 127"/>
                <a:gd name="T47" fmla="*/ 8 h 244"/>
                <a:gd name="T48" fmla="*/ 6 w 127"/>
                <a:gd name="T49" fmla="*/ 10 h 244"/>
                <a:gd name="T50" fmla="*/ 8 w 127"/>
                <a:gd name="T51" fmla="*/ 14 h 244"/>
                <a:gd name="T52" fmla="*/ 9 w 127"/>
                <a:gd name="T53" fmla="*/ 18 h 244"/>
                <a:gd name="T54" fmla="*/ 11 w 127"/>
                <a:gd name="T55" fmla="*/ 21 h 244"/>
                <a:gd name="T56" fmla="*/ 12 w 127"/>
                <a:gd name="T57" fmla="*/ 23 h 244"/>
                <a:gd name="T58" fmla="*/ 13 w 127"/>
                <a:gd name="T59" fmla="*/ 26 h 244"/>
                <a:gd name="T60" fmla="*/ 15 w 127"/>
                <a:gd name="T61" fmla="*/ 30 h 244"/>
                <a:gd name="T62" fmla="*/ 16 w 127"/>
                <a:gd name="T63" fmla="*/ 34 h 244"/>
                <a:gd name="T64" fmla="*/ 17 w 127"/>
                <a:gd name="T65" fmla="*/ 38 h 244"/>
                <a:gd name="T66" fmla="*/ 18 w 127"/>
                <a:gd name="T67" fmla="*/ 41 h 244"/>
                <a:gd name="T68" fmla="*/ 20 w 127"/>
                <a:gd name="T69" fmla="*/ 46 h 244"/>
                <a:gd name="T70" fmla="*/ 21 w 127"/>
                <a:gd name="T71" fmla="*/ 50 h 244"/>
                <a:gd name="T72" fmla="*/ 22 w 127"/>
                <a:gd name="T73" fmla="*/ 55 h 244"/>
                <a:gd name="T74" fmla="*/ 22 w 127"/>
                <a:gd name="T75" fmla="*/ 55 h 244"/>
                <a:gd name="T76" fmla="*/ 22 w 127"/>
                <a:gd name="T77" fmla="*/ 56 h 244"/>
                <a:gd name="T78" fmla="*/ 22 w 127"/>
                <a:gd name="T79" fmla="*/ 56 h 244"/>
                <a:gd name="T80" fmla="*/ 23 w 127"/>
                <a:gd name="T81" fmla="*/ 57 h 244"/>
                <a:gd name="T82" fmla="*/ 23 w 127"/>
                <a:gd name="T83" fmla="*/ 58 h 244"/>
                <a:gd name="T84" fmla="*/ 24 w 127"/>
                <a:gd name="T85" fmla="*/ 59 h 244"/>
                <a:gd name="T86" fmla="*/ 24 w 127"/>
                <a:gd name="T87" fmla="*/ 60 h 244"/>
                <a:gd name="T88" fmla="*/ 24 w 127"/>
                <a:gd name="T89" fmla="*/ 61 h 244"/>
                <a:gd name="T90" fmla="*/ 28 w 127"/>
                <a:gd name="T91" fmla="*/ 57 h 244"/>
                <a:gd name="T92" fmla="*/ 30 w 127"/>
                <a:gd name="T93" fmla="*/ 51 h 244"/>
                <a:gd name="T94" fmla="*/ 31 w 127"/>
                <a:gd name="T95" fmla="*/ 44 h 244"/>
                <a:gd name="T96" fmla="*/ 31 w 127"/>
                <a:gd name="T97" fmla="*/ 38 h 244"/>
                <a:gd name="T98" fmla="*/ 30 w 127"/>
                <a:gd name="T99" fmla="*/ 31 h 244"/>
                <a:gd name="T100" fmla="*/ 28 w 127"/>
                <a:gd name="T101" fmla="*/ 24 h 244"/>
                <a:gd name="T102" fmla="*/ 24 w 127"/>
                <a:gd name="T103" fmla="*/ 17 h 244"/>
                <a:gd name="T104" fmla="*/ 20 w 127"/>
                <a:gd name="T105" fmla="*/ 12 h 24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27"/>
                <a:gd name="T160" fmla="*/ 0 h 244"/>
                <a:gd name="T161" fmla="*/ 127 w 127"/>
                <a:gd name="T162" fmla="*/ 244 h 24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27" h="244">
                  <a:moveTo>
                    <a:pt x="83" y="45"/>
                  </a:moveTo>
                  <a:lnTo>
                    <a:pt x="82" y="45"/>
                  </a:lnTo>
                  <a:lnTo>
                    <a:pt x="82" y="44"/>
                  </a:lnTo>
                  <a:lnTo>
                    <a:pt x="81" y="43"/>
                  </a:lnTo>
                  <a:lnTo>
                    <a:pt x="80" y="43"/>
                  </a:lnTo>
                  <a:lnTo>
                    <a:pt x="78" y="43"/>
                  </a:lnTo>
                  <a:lnTo>
                    <a:pt x="77" y="42"/>
                  </a:lnTo>
                  <a:lnTo>
                    <a:pt x="75" y="42"/>
                  </a:lnTo>
                  <a:lnTo>
                    <a:pt x="73" y="40"/>
                  </a:lnTo>
                  <a:lnTo>
                    <a:pt x="72" y="40"/>
                  </a:lnTo>
                  <a:lnTo>
                    <a:pt x="69" y="40"/>
                  </a:lnTo>
                  <a:lnTo>
                    <a:pt x="63" y="31"/>
                  </a:lnTo>
                  <a:lnTo>
                    <a:pt x="55" y="22"/>
                  </a:lnTo>
                  <a:lnTo>
                    <a:pt x="47" y="14"/>
                  </a:lnTo>
                  <a:lnTo>
                    <a:pt x="38" y="7"/>
                  </a:lnTo>
                  <a:lnTo>
                    <a:pt x="29" y="2"/>
                  </a:lnTo>
                  <a:lnTo>
                    <a:pt x="20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7" y="13"/>
                  </a:lnTo>
                  <a:lnTo>
                    <a:pt x="13" y="21"/>
                  </a:lnTo>
                  <a:lnTo>
                    <a:pt x="20" y="30"/>
                  </a:lnTo>
                  <a:lnTo>
                    <a:pt x="25" y="38"/>
                  </a:lnTo>
                  <a:lnTo>
                    <a:pt x="32" y="53"/>
                  </a:lnTo>
                  <a:lnTo>
                    <a:pt x="39" y="70"/>
                  </a:lnTo>
                  <a:lnTo>
                    <a:pt x="45" y="83"/>
                  </a:lnTo>
                  <a:lnTo>
                    <a:pt x="49" y="89"/>
                  </a:lnTo>
                  <a:lnTo>
                    <a:pt x="54" y="104"/>
                  </a:lnTo>
                  <a:lnTo>
                    <a:pt x="60" y="119"/>
                  </a:lnTo>
                  <a:lnTo>
                    <a:pt x="66" y="134"/>
                  </a:lnTo>
                  <a:lnTo>
                    <a:pt x="70" y="149"/>
                  </a:lnTo>
                  <a:lnTo>
                    <a:pt x="75" y="164"/>
                  </a:lnTo>
                  <a:lnTo>
                    <a:pt x="80" y="181"/>
                  </a:lnTo>
                  <a:lnTo>
                    <a:pt x="84" y="199"/>
                  </a:lnTo>
                  <a:lnTo>
                    <a:pt x="90" y="219"/>
                  </a:lnTo>
                  <a:lnTo>
                    <a:pt x="91" y="220"/>
                  </a:lnTo>
                  <a:lnTo>
                    <a:pt x="91" y="221"/>
                  </a:lnTo>
                  <a:lnTo>
                    <a:pt x="91" y="224"/>
                  </a:lnTo>
                  <a:lnTo>
                    <a:pt x="92" y="225"/>
                  </a:lnTo>
                  <a:lnTo>
                    <a:pt x="95" y="229"/>
                  </a:lnTo>
                  <a:lnTo>
                    <a:pt x="96" y="234"/>
                  </a:lnTo>
                  <a:lnTo>
                    <a:pt x="98" y="240"/>
                  </a:lnTo>
                  <a:lnTo>
                    <a:pt x="99" y="244"/>
                  </a:lnTo>
                  <a:lnTo>
                    <a:pt x="114" y="225"/>
                  </a:lnTo>
                  <a:lnTo>
                    <a:pt x="122" y="203"/>
                  </a:lnTo>
                  <a:lnTo>
                    <a:pt x="127" y="176"/>
                  </a:lnTo>
                  <a:lnTo>
                    <a:pt x="126" y="150"/>
                  </a:lnTo>
                  <a:lnTo>
                    <a:pt x="121" y="121"/>
                  </a:lnTo>
                  <a:lnTo>
                    <a:pt x="112" y="95"/>
                  </a:lnTo>
                  <a:lnTo>
                    <a:pt x="99" y="68"/>
                  </a:lnTo>
                  <a:lnTo>
                    <a:pt x="83" y="45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49" name="Freeform 76"/>
            <p:cNvSpPr>
              <a:spLocks/>
            </p:cNvSpPr>
            <p:nvPr/>
          </p:nvSpPr>
          <p:spPr bwMode="auto">
            <a:xfrm>
              <a:off x="4205" y="3528"/>
              <a:ext cx="103" cy="39"/>
            </a:xfrm>
            <a:custGeom>
              <a:avLst/>
              <a:gdLst>
                <a:gd name="T0" fmla="*/ 47 w 206"/>
                <a:gd name="T1" fmla="*/ 9 h 80"/>
                <a:gd name="T2" fmla="*/ 45 w 206"/>
                <a:gd name="T3" fmla="*/ 7 h 80"/>
                <a:gd name="T4" fmla="*/ 44 w 206"/>
                <a:gd name="T5" fmla="*/ 5 h 80"/>
                <a:gd name="T6" fmla="*/ 44 w 206"/>
                <a:gd name="T7" fmla="*/ 5 h 80"/>
                <a:gd name="T8" fmla="*/ 44 w 206"/>
                <a:gd name="T9" fmla="*/ 4 h 80"/>
                <a:gd name="T10" fmla="*/ 44 w 206"/>
                <a:gd name="T11" fmla="*/ 4 h 80"/>
                <a:gd name="T12" fmla="*/ 44 w 206"/>
                <a:gd name="T13" fmla="*/ 4 h 80"/>
                <a:gd name="T14" fmla="*/ 44 w 206"/>
                <a:gd name="T15" fmla="*/ 4 h 80"/>
                <a:gd name="T16" fmla="*/ 43 w 206"/>
                <a:gd name="T17" fmla="*/ 3 h 80"/>
                <a:gd name="T18" fmla="*/ 43 w 206"/>
                <a:gd name="T19" fmla="*/ 3 h 80"/>
                <a:gd name="T20" fmla="*/ 43 w 206"/>
                <a:gd name="T21" fmla="*/ 3 h 80"/>
                <a:gd name="T22" fmla="*/ 43 w 206"/>
                <a:gd name="T23" fmla="*/ 3 h 80"/>
                <a:gd name="T24" fmla="*/ 41 w 206"/>
                <a:gd name="T25" fmla="*/ 5 h 80"/>
                <a:gd name="T26" fmla="*/ 37 w 206"/>
                <a:gd name="T27" fmla="*/ 7 h 80"/>
                <a:gd name="T28" fmla="*/ 33 w 206"/>
                <a:gd name="T29" fmla="*/ 9 h 80"/>
                <a:gd name="T30" fmla="*/ 30 w 206"/>
                <a:gd name="T31" fmla="*/ 9 h 80"/>
                <a:gd name="T32" fmla="*/ 26 w 206"/>
                <a:gd name="T33" fmla="*/ 9 h 80"/>
                <a:gd name="T34" fmla="*/ 21 w 206"/>
                <a:gd name="T35" fmla="*/ 8 h 80"/>
                <a:gd name="T36" fmla="*/ 18 w 206"/>
                <a:gd name="T37" fmla="*/ 5 h 80"/>
                <a:gd name="T38" fmla="*/ 14 w 206"/>
                <a:gd name="T39" fmla="*/ 2 h 80"/>
                <a:gd name="T40" fmla="*/ 13 w 206"/>
                <a:gd name="T41" fmla="*/ 3 h 80"/>
                <a:gd name="T42" fmla="*/ 12 w 206"/>
                <a:gd name="T43" fmla="*/ 3 h 80"/>
                <a:gd name="T44" fmla="*/ 12 w 206"/>
                <a:gd name="T45" fmla="*/ 4 h 80"/>
                <a:gd name="T46" fmla="*/ 9 w 206"/>
                <a:gd name="T47" fmla="*/ 5 h 80"/>
                <a:gd name="T48" fmla="*/ 6 w 206"/>
                <a:gd name="T49" fmla="*/ 7 h 80"/>
                <a:gd name="T50" fmla="*/ 3 w 206"/>
                <a:gd name="T51" fmla="*/ 9 h 80"/>
                <a:gd name="T52" fmla="*/ 0 w 206"/>
                <a:gd name="T53" fmla="*/ 10 h 80"/>
                <a:gd name="T54" fmla="*/ 3 w 206"/>
                <a:gd name="T55" fmla="*/ 11 h 80"/>
                <a:gd name="T56" fmla="*/ 5 w 206"/>
                <a:gd name="T57" fmla="*/ 13 h 80"/>
                <a:gd name="T58" fmla="*/ 6 w 206"/>
                <a:gd name="T59" fmla="*/ 14 h 80"/>
                <a:gd name="T60" fmla="*/ 9 w 206"/>
                <a:gd name="T61" fmla="*/ 15 h 80"/>
                <a:gd name="T62" fmla="*/ 15 w 206"/>
                <a:gd name="T63" fmla="*/ 17 h 80"/>
                <a:gd name="T64" fmla="*/ 23 w 206"/>
                <a:gd name="T65" fmla="*/ 19 h 80"/>
                <a:gd name="T66" fmla="*/ 30 w 206"/>
                <a:gd name="T67" fmla="*/ 19 h 80"/>
                <a:gd name="T68" fmla="*/ 37 w 206"/>
                <a:gd name="T69" fmla="*/ 19 h 80"/>
                <a:gd name="T70" fmla="*/ 41 w 206"/>
                <a:gd name="T71" fmla="*/ 19 h 80"/>
                <a:gd name="T72" fmla="*/ 45 w 206"/>
                <a:gd name="T73" fmla="*/ 18 h 80"/>
                <a:gd name="T74" fmla="*/ 48 w 206"/>
                <a:gd name="T75" fmla="*/ 17 h 80"/>
                <a:gd name="T76" fmla="*/ 52 w 206"/>
                <a:gd name="T77" fmla="*/ 16 h 80"/>
                <a:gd name="T78" fmla="*/ 50 w 206"/>
                <a:gd name="T79" fmla="*/ 13 h 80"/>
                <a:gd name="T80" fmla="*/ 48 w 206"/>
                <a:gd name="T81" fmla="*/ 10 h 80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206"/>
                <a:gd name="T124" fmla="*/ 0 h 80"/>
                <a:gd name="T125" fmla="*/ 206 w 206"/>
                <a:gd name="T126" fmla="*/ 80 h 80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206" h="80">
                  <a:moveTo>
                    <a:pt x="192" y="42"/>
                  </a:moveTo>
                  <a:lnTo>
                    <a:pt x="186" y="37"/>
                  </a:lnTo>
                  <a:lnTo>
                    <a:pt x="182" y="32"/>
                  </a:lnTo>
                  <a:lnTo>
                    <a:pt x="178" y="28"/>
                  </a:lnTo>
                  <a:lnTo>
                    <a:pt x="176" y="25"/>
                  </a:lnTo>
                  <a:lnTo>
                    <a:pt x="176" y="23"/>
                  </a:lnTo>
                  <a:lnTo>
                    <a:pt x="175" y="21"/>
                  </a:lnTo>
                  <a:lnTo>
                    <a:pt x="175" y="20"/>
                  </a:lnTo>
                  <a:lnTo>
                    <a:pt x="174" y="19"/>
                  </a:lnTo>
                  <a:lnTo>
                    <a:pt x="173" y="18"/>
                  </a:lnTo>
                  <a:lnTo>
                    <a:pt x="173" y="17"/>
                  </a:lnTo>
                  <a:lnTo>
                    <a:pt x="171" y="15"/>
                  </a:lnTo>
                  <a:lnTo>
                    <a:pt x="170" y="15"/>
                  </a:lnTo>
                  <a:lnTo>
                    <a:pt x="162" y="20"/>
                  </a:lnTo>
                  <a:lnTo>
                    <a:pt x="155" y="25"/>
                  </a:lnTo>
                  <a:lnTo>
                    <a:pt x="147" y="29"/>
                  </a:lnTo>
                  <a:lnTo>
                    <a:pt x="139" y="33"/>
                  </a:lnTo>
                  <a:lnTo>
                    <a:pt x="132" y="36"/>
                  </a:lnTo>
                  <a:lnTo>
                    <a:pt x="125" y="37"/>
                  </a:lnTo>
                  <a:lnTo>
                    <a:pt x="120" y="38"/>
                  </a:lnTo>
                  <a:lnTo>
                    <a:pt x="114" y="38"/>
                  </a:lnTo>
                  <a:lnTo>
                    <a:pt x="103" y="37"/>
                  </a:lnTo>
                  <a:lnTo>
                    <a:pt x="93" y="35"/>
                  </a:lnTo>
                  <a:lnTo>
                    <a:pt x="84" y="32"/>
                  </a:lnTo>
                  <a:lnTo>
                    <a:pt x="77" y="27"/>
                  </a:lnTo>
                  <a:lnTo>
                    <a:pt x="69" y="21"/>
                  </a:lnTo>
                  <a:lnTo>
                    <a:pt x="63" y="15"/>
                  </a:lnTo>
                  <a:lnTo>
                    <a:pt x="57" y="9"/>
                  </a:lnTo>
                  <a:lnTo>
                    <a:pt x="53" y="0"/>
                  </a:lnTo>
                  <a:lnTo>
                    <a:pt x="50" y="13"/>
                  </a:lnTo>
                  <a:lnTo>
                    <a:pt x="49" y="13"/>
                  </a:lnTo>
                  <a:lnTo>
                    <a:pt x="48" y="14"/>
                  </a:lnTo>
                  <a:lnTo>
                    <a:pt x="46" y="15"/>
                  </a:lnTo>
                  <a:lnTo>
                    <a:pt x="45" y="17"/>
                  </a:lnTo>
                  <a:lnTo>
                    <a:pt x="39" y="20"/>
                  </a:lnTo>
                  <a:lnTo>
                    <a:pt x="33" y="23"/>
                  </a:lnTo>
                  <a:lnTo>
                    <a:pt x="29" y="27"/>
                  </a:lnTo>
                  <a:lnTo>
                    <a:pt x="23" y="30"/>
                  </a:lnTo>
                  <a:lnTo>
                    <a:pt x="17" y="34"/>
                  </a:lnTo>
                  <a:lnTo>
                    <a:pt x="11" y="36"/>
                  </a:lnTo>
                  <a:lnTo>
                    <a:pt x="6" y="40"/>
                  </a:lnTo>
                  <a:lnTo>
                    <a:pt x="0" y="42"/>
                  </a:lnTo>
                  <a:lnTo>
                    <a:pt x="4" y="45"/>
                  </a:lnTo>
                  <a:lnTo>
                    <a:pt x="9" y="48"/>
                  </a:lnTo>
                  <a:lnTo>
                    <a:pt x="12" y="50"/>
                  </a:lnTo>
                  <a:lnTo>
                    <a:pt x="17" y="53"/>
                  </a:lnTo>
                  <a:lnTo>
                    <a:pt x="22" y="56"/>
                  </a:lnTo>
                  <a:lnTo>
                    <a:pt x="26" y="58"/>
                  </a:lnTo>
                  <a:lnTo>
                    <a:pt x="30" y="59"/>
                  </a:lnTo>
                  <a:lnTo>
                    <a:pt x="34" y="62"/>
                  </a:lnTo>
                  <a:lnTo>
                    <a:pt x="48" y="67"/>
                  </a:lnTo>
                  <a:lnTo>
                    <a:pt x="63" y="71"/>
                  </a:lnTo>
                  <a:lnTo>
                    <a:pt x="77" y="74"/>
                  </a:lnTo>
                  <a:lnTo>
                    <a:pt x="92" y="78"/>
                  </a:lnTo>
                  <a:lnTo>
                    <a:pt x="106" y="79"/>
                  </a:lnTo>
                  <a:lnTo>
                    <a:pt x="120" y="80"/>
                  </a:lnTo>
                  <a:lnTo>
                    <a:pt x="135" y="80"/>
                  </a:lnTo>
                  <a:lnTo>
                    <a:pt x="148" y="80"/>
                  </a:lnTo>
                  <a:lnTo>
                    <a:pt x="155" y="79"/>
                  </a:lnTo>
                  <a:lnTo>
                    <a:pt x="162" y="78"/>
                  </a:lnTo>
                  <a:lnTo>
                    <a:pt x="169" y="76"/>
                  </a:lnTo>
                  <a:lnTo>
                    <a:pt x="177" y="75"/>
                  </a:lnTo>
                  <a:lnTo>
                    <a:pt x="184" y="74"/>
                  </a:lnTo>
                  <a:lnTo>
                    <a:pt x="191" y="72"/>
                  </a:lnTo>
                  <a:lnTo>
                    <a:pt x="199" y="71"/>
                  </a:lnTo>
                  <a:lnTo>
                    <a:pt x="206" y="68"/>
                  </a:lnTo>
                  <a:lnTo>
                    <a:pt x="202" y="62"/>
                  </a:lnTo>
                  <a:lnTo>
                    <a:pt x="199" y="55"/>
                  </a:lnTo>
                  <a:lnTo>
                    <a:pt x="196" y="49"/>
                  </a:lnTo>
                  <a:lnTo>
                    <a:pt x="192" y="42"/>
                  </a:lnTo>
                  <a:close/>
                </a:path>
              </a:pathLst>
            </a:custGeom>
            <a:solidFill>
              <a:srgbClr val="3FF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50" name="Freeform 77"/>
            <p:cNvSpPr>
              <a:spLocks/>
            </p:cNvSpPr>
            <p:nvPr/>
          </p:nvSpPr>
          <p:spPr bwMode="auto">
            <a:xfrm>
              <a:off x="4130" y="3548"/>
              <a:ext cx="265" cy="99"/>
            </a:xfrm>
            <a:custGeom>
              <a:avLst/>
              <a:gdLst>
                <a:gd name="T0" fmla="*/ 118 w 530"/>
                <a:gd name="T1" fmla="*/ 23 h 197"/>
                <a:gd name="T2" fmla="*/ 116 w 530"/>
                <a:gd name="T3" fmla="*/ 25 h 197"/>
                <a:gd name="T4" fmla="*/ 115 w 530"/>
                <a:gd name="T5" fmla="*/ 25 h 197"/>
                <a:gd name="T6" fmla="*/ 114 w 530"/>
                <a:gd name="T7" fmla="*/ 24 h 197"/>
                <a:gd name="T8" fmla="*/ 111 w 530"/>
                <a:gd name="T9" fmla="*/ 24 h 197"/>
                <a:gd name="T10" fmla="*/ 106 w 530"/>
                <a:gd name="T11" fmla="*/ 23 h 197"/>
                <a:gd name="T12" fmla="*/ 101 w 530"/>
                <a:gd name="T13" fmla="*/ 20 h 197"/>
                <a:gd name="T14" fmla="*/ 97 w 530"/>
                <a:gd name="T15" fmla="*/ 16 h 197"/>
                <a:gd name="T16" fmla="*/ 95 w 530"/>
                <a:gd name="T17" fmla="*/ 13 h 197"/>
                <a:gd name="T18" fmla="*/ 93 w 530"/>
                <a:gd name="T19" fmla="*/ 13 h 197"/>
                <a:gd name="T20" fmla="*/ 91 w 530"/>
                <a:gd name="T21" fmla="*/ 11 h 197"/>
                <a:gd name="T22" fmla="*/ 89 w 530"/>
                <a:gd name="T23" fmla="*/ 8 h 197"/>
                <a:gd name="T24" fmla="*/ 87 w 530"/>
                <a:gd name="T25" fmla="*/ 8 h 197"/>
                <a:gd name="T26" fmla="*/ 83 w 530"/>
                <a:gd name="T27" fmla="*/ 8 h 197"/>
                <a:gd name="T28" fmla="*/ 79 w 530"/>
                <a:gd name="T29" fmla="*/ 9 h 197"/>
                <a:gd name="T30" fmla="*/ 76 w 530"/>
                <a:gd name="T31" fmla="*/ 10 h 197"/>
                <a:gd name="T32" fmla="*/ 71 w 530"/>
                <a:gd name="T33" fmla="*/ 10 h 197"/>
                <a:gd name="T34" fmla="*/ 64 w 530"/>
                <a:gd name="T35" fmla="*/ 10 h 197"/>
                <a:gd name="T36" fmla="*/ 56 w 530"/>
                <a:gd name="T37" fmla="*/ 8 h 197"/>
                <a:gd name="T38" fmla="*/ 49 w 530"/>
                <a:gd name="T39" fmla="*/ 7 h 197"/>
                <a:gd name="T40" fmla="*/ 45 w 530"/>
                <a:gd name="T41" fmla="*/ 5 h 197"/>
                <a:gd name="T42" fmla="*/ 43 w 530"/>
                <a:gd name="T43" fmla="*/ 4 h 197"/>
                <a:gd name="T44" fmla="*/ 40 w 530"/>
                <a:gd name="T45" fmla="*/ 2 h 197"/>
                <a:gd name="T46" fmla="*/ 38 w 530"/>
                <a:gd name="T47" fmla="*/ 1 h 197"/>
                <a:gd name="T48" fmla="*/ 34 w 530"/>
                <a:gd name="T49" fmla="*/ 2 h 197"/>
                <a:gd name="T50" fmla="*/ 27 w 530"/>
                <a:gd name="T51" fmla="*/ 4 h 197"/>
                <a:gd name="T52" fmla="*/ 20 w 530"/>
                <a:gd name="T53" fmla="*/ 7 h 197"/>
                <a:gd name="T54" fmla="*/ 13 w 530"/>
                <a:gd name="T55" fmla="*/ 9 h 197"/>
                <a:gd name="T56" fmla="*/ 9 w 530"/>
                <a:gd name="T57" fmla="*/ 10 h 197"/>
                <a:gd name="T58" fmla="*/ 6 w 530"/>
                <a:gd name="T59" fmla="*/ 11 h 197"/>
                <a:gd name="T60" fmla="*/ 4 w 530"/>
                <a:gd name="T61" fmla="*/ 12 h 197"/>
                <a:gd name="T62" fmla="*/ 1 w 530"/>
                <a:gd name="T63" fmla="*/ 13 h 197"/>
                <a:gd name="T64" fmla="*/ 1 w 530"/>
                <a:gd name="T65" fmla="*/ 15 h 197"/>
                <a:gd name="T66" fmla="*/ 4 w 530"/>
                <a:gd name="T67" fmla="*/ 19 h 197"/>
                <a:gd name="T68" fmla="*/ 7 w 530"/>
                <a:gd name="T69" fmla="*/ 23 h 197"/>
                <a:gd name="T70" fmla="*/ 10 w 530"/>
                <a:gd name="T71" fmla="*/ 26 h 197"/>
                <a:gd name="T72" fmla="*/ 13 w 530"/>
                <a:gd name="T73" fmla="*/ 29 h 197"/>
                <a:gd name="T74" fmla="*/ 15 w 530"/>
                <a:gd name="T75" fmla="*/ 31 h 197"/>
                <a:gd name="T76" fmla="*/ 20 w 530"/>
                <a:gd name="T77" fmla="*/ 34 h 197"/>
                <a:gd name="T78" fmla="*/ 29 w 530"/>
                <a:gd name="T79" fmla="*/ 40 h 197"/>
                <a:gd name="T80" fmla="*/ 37 w 530"/>
                <a:gd name="T81" fmla="*/ 43 h 197"/>
                <a:gd name="T82" fmla="*/ 45 w 530"/>
                <a:gd name="T83" fmla="*/ 46 h 197"/>
                <a:gd name="T84" fmla="*/ 53 w 530"/>
                <a:gd name="T85" fmla="*/ 48 h 197"/>
                <a:gd name="T86" fmla="*/ 60 w 530"/>
                <a:gd name="T87" fmla="*/ 49 h 197"/>
                <a:gd name="T88" fmla="*/ 66 w 530"/>
                <a:gd name="T89" fmla="*/ 49 h 197"/>
                <a:gd name="T90" fmla="*/ 71 w 530"/>
                <a:gd name="T91" fmla="*/ 50 h 197"/>
                <a:gd name="T92" fmla="*/ 78 w 530"/>
                <a:gd name="T93" fmla="*/ 50 h 197"/>
                <a:gd name="T94" fmla="*/ 85 w 530"/>
                <a:gd name="T95" fmla="*/ 49 h 197"/>
                <a:gd name="T96" fmla="*/ 94 w 530"/>
                <a:gd name="T97" fmla="*/ 48 h 197"/>
                <a:gd name="T98" fmla="*/ 102 w 530"/>
                <a:gd name="T99" fmla="*/ 46 h 197"/>
                <a:gd name="T100" fmla="*/ 111 w 530"/>
                <a:gd name="T101" fmla="*/ 44 h 197"/>
                <a:gd name="T102" fmla="*/ 118 w 530"/>
                <a:gd name="T103" fmla="*/ 41 h 197"/>
                <a:gd name="T104" fmla="*/ 125 w 530"/>
                <a:gd name="T105" fmla="*/ 38 h 197"/>
                <a:gd name="T106" fmla="*/ 131 w 530"/>
                <a:gd name="T107" fmla="*/ 34 h 197"/>
                <a:gd name="T108" fmla="*/ 131 w 530"/>
                <a:gd name="T109" fmla="*/ 31 h 197"/>
                <a:gd name="T110" fmla="*/ 127 w 530"/>
                <a:gd name="T111" fmla="*/ 29 h 197"/>
                <a:gd name="T112" fmla="*/ 124 w 530"/>
                <a:gd name="T113" fmla="*/ 26 h 197"/>
                <a:gd name="T114" fmla="*/ 121 w 530"/>
                <a:gd name="T115" fmla="*/ 24 h 19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530"/>
                <a:gd name="T175" fmla="*/ 0 h 197"/>
                <a:gd name="T176" fmla="*/ 530 w 530"/>
                <a:gd name="T177" fmla="*/ 197 h 197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530" h="197">
                  <a:moveTo>
                    <a:pt x="478" y="90"/>
                  </a:moveTo>
                  <a:lnTo>
                    <a:pt x="473" y="92"/>
                  </a:lnTo>
                  <a:lnTo>
                    <a:pt x="470" y="94"/>
                  </a:lnTo>
                  <a:lnTo>
                    <a:pt x="467" y="97"/>
                  </a:lnTo>
                  <a:lnTo>
                    <a:pt x="463" y="99"/>
                  </a:lnTo>
                  <a:lnTo>
                    <a:pt x="462" y="98"/>
                  </a:lnTo>
                  <a:lnTo>
                    <a:pt x="461" y="96"/>
                  </a:lnTo>
                  <a:lnTo>
                    <a:pt x="457" y="93"/>
                  </a:lnTo>
                  <a:lnTo>
                    <a:pt x="454" y="89"/>
                  </a:lnTo>
                  <a:lnTo>
                    <a:pt x="445" y="93"/>
                  </a:lnTo>
                  <a:lnTo>
                    <a:pt x="434" y="93"/>
                  </a:lnTo>
                  <a:lnTo>
                    <a:pt x="425" y="91"/>
                  </a:lnTo>
                  <a:lnTo>
                    <a:pt x="416" y="86"/>
                  </a:lnTo>
                  <a:lnTo>
                    <a:pt x="407" y="79"/>
                  </a:lnTo>
                  <a:lnTo>
                    <a:pt x="399" y="71"/>
                  </a:lnTo>
                  <a:lnTo>
                    <a:pt x="391" y="62"/>
                  </a:lnTo>
                  <a:lnTo>
                    <a:pt x="385" y="53"/>
                  </a:lnTo>
                  <a:lnTo>
                    <a:pt x="381" y="52"/>
                  </a:lnTo>
                  <a:lnTo>
                    <a:pt x="378" y="51"/>
                  </a:lnTo>
                  <a:lnTo>
                    <a:pt x="373" y="49"/>
                  </a:lnTo>
                  <a:lnTo>
                    <a:pt x="371" y="48"/>
                  </a:lnTo>
                  <a:lnTo>
                    <a:pt x="366" y="43"/>
                  </a:lnTo>
                  <a:lnTo>
                    <a:pt x="363" y="37"/>
                  </a:lnTo>
                  <a:lnTo>
                    <a:pt x="359" y="32"/>
                  </a:lnTo>
                  <a:lnTo>
                    <a:pt x="356" y="26"/>
                  </a:lnTo>
                  <a:lnTo>
                    <a:pt x="349" y="29"/>
                  </a:lnTo>
                  <a:lnTo>
                    <a:pt x="341" y="30"/>
                  </a:lnTo>
                  <a:lnTo>
                    <a:pt x="334" y="32"/>
                  </a:lnTo>
                  <a:lnTo>
                    <a:pt x="327" y="33"/>
                  </a:lnTo>
                  <a:lnTo>
                    <a:pt x="319" y="34"/>
                  </a:lnTo>
                  <a:lnTo>
                    <a:pt x="312" y="36"/>
                  </a:lnTo>
                  <a:lnTo>
                    <a:pt x="305" y="37"/>
                  </a:lnTo>
                  <a:lnTo>
                    <a:pt x="298" y="38"/>
                  </a:lnTo>
                  <a:lnTo>
                    <a:pt x="285" y="38"/>
                  </a:lnTo>
                  <a:lnTo>
                    <a:pt x="270" y="38"/>
                  </a:lnTo>
                  <a:lnTo>
                    <a:pt x="256" y="37"/>
                  </a:lnTo>
                  <a:lnTo>
                    <a:pt x="242" y="36"/>
                  </a:lnTo>
                  <a:lnTo>
                    <a:pt x="227" y="32"/>
                  </a:lnTo>
                  <a:lnTo>
                    <a:pt x="213" y="29"/>
                  </a:lnTo>
                  <a:lnTo>
                    <a:pt x="198" y="25"/>
                  </a:lnTo>
                  <a:lnTo>
                    <a:pt x="184" y="20"/>
                  </a:lnTo>
                  <a:lnTo>
                    <a:pt x="180" y="17"/>
                  </a:lnTo>
                  <a:lnTo>
                    <a:pt x="176" y="16"/>
                  </a:lnTo>
                  <a:lnTo>
                    <a:pt x="172" y="14"/>
                  </a:lnTo>
                  <a:lnTo>
                    <a:pt x="167" y="11"/>
                  </a:lnTo>
                  <a:lnTo>
                    <a:pt x="162" y="8"/>
                  </a:lnTo>
                  <a:lnTo>
                    <a:pt x="159" y="6"/>
                  </a:lnTo>
                  <a:lnTo>
                    <a:pt x="154" y="3"/>
                  </a:lnTo>
                  <a:lnTo>
                    <a:pt x="150" y="0"/>
                  </a:lnTo>
                  <a:lnTo>
                    <a:pt x="137" y="6"/>
                  </a:lnTo>
                  <a:lnTo>
                    <a:pt x="123" y="11"/>
                  </a:lnTo>
                  <a:lnTo>
                    <a:pt x="111" y="16"/>
                  </a:lnTo>
                  <a:lnTo>
                    <a:pt x="97" y="21"/>
                  </a:lnTo>
                  <a:lnTo>
                    <a:pt x="83" y="25"/>
                  </a:lnTo>
                  <a:lnTo>
                    <a:pt x="69" y="30"/>
                  </a:lnTo>
                  <a:lnTo>
                    <a:pt x="55" y="34"/>
                  </a:lnTo>
                  <a:lnTo>
                    <a:pt x="41" y="39"/>
                  </a:lnTo>
                  <a:lnTo>
                    <a:pt x="37" y="40"/>
                  </a:lnTo>
                  <a:lnTo>
                    <a:pt x="31" y="43"/>
                  </a:lnTo>
                  <a:lnTo>
                    <a:pt x="26" y="44"/>
                  </a:lnTo>
                  <a:lnTo>
                    <a:pt x="21" y="46"/>
                  </a:lnTo>
                  <a:lnTo>
                    <a:pt x="16" y="47"/>
                  </a:lnTo>
                  <a:lnTo>
                    <a:pt x="10" y="49"/>
                  </a:lnTo>
                  <a:lnTo>
                    <a:pt x="6" y="51"/>
                  </a:lnTo>
                  <a:lnTo>
                    <a:pt x="0" y="53"/>
                  </a:lnTo>
                  <a:lnTo>
                    <a:pt x="6" y="60"/>
                  </a:lnTo>
                  <a:lnTo>
                    <a:pt x="12" y="68"/>
                  </a:lnTo>
                  <a:lnTo>
                    <a:pt x="16" y="75"/>
                  </a:lnTo>
                  <a:lnTo>
                    <a:pt x="22" y="82"/>
                  </a:lnTo>
                  <a:lnTo>
                    <a:pt x="28" y="89"/>
                  </a:lnTo>
                  <a:lnTo>
                    <a:pt x="35" y="96"/>
                  </a:lnTo>
                  <a:lnTo>
                    <a:pt x="40" y="102"/>
                  </a:lnTo>
                  <a:lnTo>
                    <a:pt x="47" y="108"/>
                  </a:lnTo>
                  <a:lnTo>
                    <a:pt x="54" y="114"/>
                  </a:lnTo>
                  <a:lnTo>
                    <a:pt x="60" y="119"/>
                  </a:lnTo>
                  <a:lnTo>
                    <a:pt x="63" y="122"/>
                  </a:lnTo>
                  <a:lnTo>
                    <a:pt x="64" y="123"/>
                  </a:lnTo>
                  <a:lnTo>
                    <a:pt x="83" y="136"/>
                  </a:lnTo>
                  <a:lnTo>
                    <a:pt x="100" y="147"/>
                  </a:lnTo>
                  <a:lnTo>
                    <a:pt x="117" y="157"/>
                  </a:lnTo>
                  <a:lnTo>
                    <a:pt x="135" y="165"/>
                  </a:lnTo>
                  <a:lnTo>
                    <a:pt x="151" y="172"/>
                  </a:lnTo>
                  <a:lnTo>
                    <a:pt x="167" y="177"/>
                  </a:lnTo>
                  <a:lnTo>
                    <a:pt x="183" y="183"/>
                  </a:lnTo>
                  <a:lnTo>
                    <a:pt x="198" y="187"/>
                  </a:lnTo>
                  <a:lnTo>
                    <a:pt x="213" y="190"/>
                  </a:lnTo>
                  <a:lnTo>
                    <a:pt x="227" y="192"/>
                  </a:lnTo>
                  <a:lnTo>
                    <a:pt x="241" y="195"/>
                  </a:lnTo>
                  <a:lnTo>
                    <a:pt x="253" y="196"/>
                  </a:lnTo>
                  <a:lnTo>
                    <a:pt x="265" y="196"/>
                  </a:lnTo>
                  <a:lnTo>
                    <a:pt x="276" y="197"/>
                  </a:lnTo>
                  <a:lnTo>
                    <a:pt x="287" y="197"/>
                  </a:lnTo>
                  <a:lnTo>
                    <a:pt x="297" y="197"/>
                  </a:lnTo>
                  <a:lnTo>
                    <a:pt x="312" y="197"/>
                  </a:lnTo>
                  <a:lnTo>
                    <a:pt x="327" y="196"/>
                  </a:lnTo>
                  <a:lnTo>
                    <a:pt x="343" y="195"/>
                  </a:lnTo>
                  <a:lnTo>
                    <a:pt x="361" y="192"/>
                  </a:lnTo>
                  <a:lnTo>
                    <a:pt x="378" y="189"/>
                  </a:lnTo>
                  <a:lnTo>
                    <a:pt x="394" y="185"/>
                  </a:lnTo>
                  <a:lnTo>
                    <a:pt x="411" y="182"/>
                  </a:lnTo>
                  <a:lnTo>
                    <a:pt x="429" y="177"/>
                  </a:lnTo>
                  <a:lnTo>
                    <a:pt x="445" y="173"/>
                  </a:lnTo>
                  <a:lnTo>
                    <a:pt x="460" y="168"/>
                  </a:lnTo>
                  <a:lnTo>
                    <a:pt x="475" y="162"/>
                  </a:lnTo>
                  <a:lnTo>
                    <a:pt x="488" y="155"/>
                  </a:lnTo>
                  <a:lnTo>
                    <a:pt x="501" y="149"/>
                  </a:lnTo>
                  <a:lnTo>
                    <a:pt x="513" y="142"/>
                  </a:lnTo>
                  <a:lnTo>
                    <a:pt x="522" y="135"/>
                  </a:lnTo>
                  <a:lnTo>
                    <a:pt x="530" y="127"/>
                  </a:lnTo>
                  <a:lnTo>
                    <a:pt x="524" y="122"/>
                  </a:lnTo>
                  <a:lnTo>
                    <a:pt x="517" y="117"/>
                  </a:lnTo>
                  <a:lnTo>
                    <a:pt x="511" y="113"/>
                  </a:lnTo>
                  <a:lnTo>
                    <a:pt x="505" y="108"/>
                  </a:lnTo>
                  <a:lnTo>
                    <a:pt x="498" y="104"/>
                  </a:lnTo>
                  <a:lnTo>
                    <a:pt x="491" y="99"/>
                  </a:lnTo>
                  <a:lnTo>
                    <a:pt x="485" y="94"/>
                  </a:lnTo>
                  <a:lnTo>
                    <a:pt x="478" y="90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51" name="Freeform 78"/>
            <p:cNvSpPr>
              <a:spLocks/>
            </p:cNvSpPr>
            <p:nvPr/>
          </p:nvSpPr>
          <p:spPr bwMode="auto">
            <a:xfrm>
              <a:off x="4180" y="3792"/>
              <a:ext cx="102" cy="34"/>
            </a:xfrm>
            <a:custGeom>
              <a:avLst/>
              <a:gdLst>
                <a:gd name="T0" fmla="*/ 39 w 205"/>
                <a:gd name="T1" fmla="*/ 3 h 68"/>
                <a:gd name="T2" fmla="*/ 32 w 205"/>
                <a:gd name="T3" fmla="*/ 1 h 68"/>
                <a:gd name="T4" fmla="*/ 25 w 205"/>
                <a:gd name="T5" fmla="*/ 1 h 68"/>
                <a:gd name="T6" fmla="*/ 17 w 205"/>
                <a:gd name="T7" fmla="*/ 0 h 68"/>
                <a:gd name="T8" fmla="*/ 12 w 205"/>
                <a:gd name="T9" fmla="*/ 1 h 68"/>
                <a:gd name="T10" fmla="*/ 9 w 205"/>
                <a:gd name="T11" fmla="*/ 1 h 68"/>
                <a:gd name="T12" fmla="*/ 5 w 205"/>
                <a:gd name="T13" fmla="*/ 1 h 68"/>
                <a:gd name="T14" fmla="*/ 1 w 205"/>
                <a:gd name="T15" fmla="*/ 2 h 68"/>
                <a:gd name="T16" fmla="*/ 1 w 205"/>
                <a:gd name="T17" fmla="*/ 4 h 68"/>
                <a:gd name="T18" fmla="*/ 2 w 205"/>
                <a:gd name="T19" fmla="*/ 9 h 68"/>
                <a:gd name="T20" fmla="*/ 5 w 205"/>
                <a:gd name="T21" fmla="*/ 11 h 68"/>
                <a:gd name="T22" fmla="*/ 7 w 205"/>
                <a:gd name="T23" fmla="*/ 13 h 68"/>
                <a:gd name="T24" fmla="*/ 7 w 205"/>
                <a:gd name="T25" fmla="*/ 14 h 68"/>
                <a:gd name="T26" fmla="*/ 7 w 205"/>
                <a:gd name="T27" fmla="*/ 15 h 68"/>
                <a:gd name="T28" fmla="*/ 8 w 205"/>
                <a:gd name="T29" fmla="*/ 15 h 68"/>
                <a:gd name="T30" fmla="*/ 8 w 205"/>
                <a:gd name="T31" fmla="*/ 15 h 68"/>
                <a:gd name="T32" fmla="*/ 8 w 205"/>
                <a:gd name="T33" fmla="*/ 16 h 68"/>
                <a:gd name="T34" fmla="*/ 8 w 205"/>
                <a:gd name="T35" fmla="*/ 17 h 68"/>
                <a:gd name="T36" fmla="*/ 8 w 205"/>
                <a:gd name="T37" fmla="*/ 17 h 68"/>
                <a:gd name="T38" fmla="*/ 8 w 205"/>
                <a:gd name="T39" fmla="*/ 17 h 68"/>
                <a:gd name="T40" fmla="*/ 9 w 205"/>
                <a:gd name="T41" fmla="*/ 17 h 68"/>
                <a:gd name="T42" fmla="*/ 9 w 205"/>
                <a:gd name="T43" fmla="*/ 17 h 68"/>
                <a:gd name="T44" fmla="*/ 9 w 205"/>
                <a:gd name="T45" fmla="*/ 17 h 68"/>
                <a:gd name="T46" fmla="*/ 9 w 205"/>
                <a:gd name="T47" fmla="*/ 17 h 68"/>
                <a:gd name="T48" fmla="*/ 11 w 205"/>
                <a:gd name="T49" fmla="*/ 15 h 68"/>
                <a:gd name="T50" fmla="*/ 14 w 205"/>
                <a:gd name="T51" fmla="*/ 12 h 68"/>
                <a:gd name="T52" fmla="*/ 18 w 205"/>
                <a:gd name="T53" fmla="*/ 11 h 68"/>
                <a:gd name="T54" fmla="*/ 21 w 205"/>
                <a:gd name="T55" fmla="*/ 10 h 68"/>
                <a:gd name="T56" fmla="*/ 25 w 205"/>
                <a:gd name="T57" fmla="*/ 10 h 68"/>
                <a:gd name="T58" fmla="*/ 29 w 205"/>
                <a:gd name="T59" fmla="*/ 11 h 68"/>
                <a:gd name="T60" fmla="*/ 32 w 205"/>
                <a:gd name="T61" fmla="*/ 13 h 68"/>
                <a:gd name="T62" fmla="*/ 35 w 205"/>
                <a:gd name="T63" fmla="*/ 15 h 68"/>
                <a:gd name="T64" fmla="*/ 36 w 205"/>
                <a:gd name="T65" fmla="*/ 17 h 68"/>
                <a:gd name="T66" fmla="*/ 36 w 205"/>
                <a:gd name="T67" fmla="*/ 17 h 68"/>
                <a:gd name="T68" fmla="*/ 37 w 205"/>
                <a:gd name="T69" fmla="*/ 17 h 68"/>
                <a:gd name="T70" fmla="*/ 39 w 205"/>
                <a:gd name="T71" fmla="*/ 17 h 68"/>
                <a:gd name="T72" fmla="*/ 41 w 205"/>
                <a:gd name="T73" fmla="*/ 15 h 68"/>
                <a:gd name="T74" fmla="*/ 44 w 205"/>
                <a:gd name="T75" fmla="*/ 13 h 68"/>
                <a:gd name="T76" fmla="*/ 47 w 205"/>
                <a:gd name="T77" fmla="*/ 11 h 68"/>
                <a:gd name="T78" fmla="*/ 49 w 205"/>
                <a:gd name="T79" fmla="*/ 10 h 68"/>
                <a:gd name="T80" fmla="*/ 50 w 205"/>
                <a:gd name="T81" fmla="*/ 9 h 68"/>
                <a:gd name="T82" fmla="*/ 48 w 205"/>
                <a:gd name="T83" fmla="*/ 7 h 68"/>
                <a:gd name="T84" fmla="*/ 46 w 205"/>
                <a:gd name="T85" fmla="*/ 6 h 68"/>
                <a:gd name="T86" fmla="*/ 43 w 205"/>
                <a:gd name="T87" fmla="*/ 5 h 6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205"/>
                <a:gd name="T133" fmla="*/ 0 h 68"/>
                <a:gd name="T134" fmla="*/ 205 w 205"/>
                <a:gd name="T135" fmla="*/ 68 h 6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205" h="68">
                  <a:moveTo>
                    <a:pt x="171" y="20"/>
                  </a:moveTo>
                  <a:lnTo>
                    <a:pt x="157" y="14"/>
                  </a:lnTo>
                  <a:lnTo>
                    <a:pt x="143" y="11"/>
                  </a:lnTo>
                  <a:lnTo>
                    <a:pt x="129" y="6"/>
                  </a:lnTo>
                  <a:lnTo>
                    <a:pt x="114" y="4"/>
                  </a:lnTo>
                  <a:lnTo>
                    <a:pt x="100" y="1"/>
                  </a:lnTo>
                  <a:lnTo>
                    <a:pt x="86" y="0"/>
                  </a:lnTo>
                  <a:lnTo>
                    <a:pt x="71" y="0"/>
                  </a:lnTo>
                  <a:lnTo>
                    <a:pt x="58" y="1"/>
                  </a:lnTo>
                  <a:lnTo>
                    <a:pt x="51" y="3"/>
                  </a:lnTo>
                  <a:lnTo>
                    <a:pt x="44" y="4"/>
                  </a:lnTo>
                  <a:lnTo>
                    <a:pt x="37" y="5"/>
                  </a:lnTo>
                  <a:lnTo>
                    <a:pt x="29" y="6"/>
                  </a:lnTo>
                  <a:lnTo>
                    <a:pt x="22" y="7"/>
                  </a:lnTo>
                  <a:lnTo>
                    <a:pt x="15" y="9"/>
                  </a:lnTo>
                  <a:lnTo>
                    <a:pt x="7" y="11"/>
                  </a:lnTo>
                  <a:lnTo>
                    <a:pt x="0" y="13"/>
                  </a:lnTo>
                  <a:lnTo>
                    <a:pt x="4" y="19"/>
                  </a:lnTo>
                  <a:lnTo>
                    <a:pt x="7" y="26"/>
                  </a:lnTo>
                  <a:lnTo>
                    <a:pt x="10" y="33"/>
                  </a:lnTo>
                  <a:lnTo>
                    <a:pt x="14" y="39"/>
                  </a:lnTo>
                  <a:lnTo>
                    <a:pt x="20" y="44"/>
                  </a:lnTo>
                  <a:lnTo>
                    <a:pt x="24" y="49"/>
                  </a:lnTo>
                  <a:lnTo>
                    <a:pt x="28" y="53"/>
                  </a:lnTo>
                  <a:lnTo>
                    <a:pt x="30" y="57"/>
                  </a:lnTo>
                  <a:lnTo>
                    <a:pt x="30" y="58"/>
                  </a:lnTo>
                  <a:lnTo>
                    <a:pt x="31" y="59"/>
                  </a:lnTo>
                  <a:lnTo>
                    <a:pt x="31" y="60"/>
                  </a:lnTo>
                  <a:lnTo>
                    <a:pt x="31" y="61"/>
                  </a:lnTo>
                  <a:lnTo>
                    <a:pt x="32" y="61"/>
                  </a:lnTo>
                  <a:lnTo>
                    <a:pt x="32" y="62"/>
                  </a:lnTo>
                  <a:lnTo>
                    <a:pt x="32" y="64"/>
                  </a:lnTo>
                  <a:lnTo>
                    <a:pt x="33" y="64"/>
                  </a:lnTo>
                  <a:lnTo>
                    <a:pt x="33" y="65"/>
                  </a:lnTo>
                  <a:lnTo>
                    <a:pt x="35" y="65"/>
                  </a:lnTo>
                  <a:lnTo>
                    <a:pt x="35" y="66"/>
                  </a:lnTo>
                  <a:lnTo>
                    <a:pt x="36" y="66"/>
                  </a:lnTo>
                  <a:lnTo>
                    <a:pt x="44" y="60"/>
                  </a:lnTo>
                  <a:lnTo>
                    <a:pt x="51" y="56"/>
                  </a:lnTo>
                  <a:lnTo>
                    <a:pt x="59" y="51"/>
                  </a:lnTo>
                  <a:lnTo>
                    <a:pt x="67" y="47"/>
                  </a:lnTo>
                  <a:lnTo>
                    <a:pt x="74" y="45"/>
                  </a:lnTo>
                  <a:lnTo>
                    <a:pt x="81" y="43"/>
                  </a:lnTo>
                  <a:lnTo>
                    <a:pt x="86" y="42"/>
                  </a:lnTo>
                  <a:lnTo>
                    <a:pt x="92" y="42"/>
                  </a:lnTo>
                  <a:lnTo>
                    <a:pt x="101" y="43"/>
                  </a:lnTo>
                  <a:lnTo>
                    <a:pt x="109" y="45"/>
                  </a:lnTo>
                  <a:lnTo>
                    <a:pt x="116" y="47"/>
                  </a:lnTo>
                  <a:lnTo>
                    <a:pt x="123" y="50"/>
                  </a:lnTo>
                  <a:lnTo>
                    <a:pt x="129" y="54"/>
                  </a:lnTo>
                  <a:lnTo>
                    <a:pt x="135" y="58"/>
                  </a:lnTo>
                  <a:lnTo>
                    <a:pt x="141" y="62"/>
                  </a:lnTo>
                  <a:lnTo>
                    <a:pt x="145" y="68"/>
                  </a:lnTo>
                  <a:lnTo>
                    <a:pt x="146" y="68"/>
                  </a:lnTo>
                  <a:lnTo>
                    <a:pt x="148" y="68"/>
                  </a:lnTo>
                  <a:lnTo>
                    <a:pt x="151" y="68"/>
                  </a:lnTo>
                  <a:lnTo>
                    <a:pt x="154" y="68"/>
                  </a:lnTo>
                  <a:lnTo>
                    <a:pt x="158" y="67"/>
                  </a:lnTo>
                  <a:lnTo>
                    <a:pt x="161" y="65"/>
                  </a:lnTo>
                  <a:lnTo>
                    <a:pt x="167" y="61"/>
                  </a:lnTo>
                  <a:lnTo>
                    <a:pt x="173" y="58"/>
                  </a:lnTo>
                  <a:lnTo>
                    <a:pt x="177" y="54"/>
                  </a:lnTo>
                  <a:lnTo>
                    <a:pt x="183" y="51"/>
                  </a:lnTo>
                  <a:lnTo>
                    <a:pt x="189" y="47"/>
                  </a:lnTo>
                  <a:lnTo>
                    <a:pt x="194" y="45"/>
                  </a:lnTo>
                  <a:lnTo>
                    <a:pt x="199" y="42"/>
                  </a:lnTo>
                  <a:lnTo>
                    <a:pt x="205" y="39"/>
                  </a:lnTo>
                  <a:lnTo>
                    <a:pt x="202" y="36"/>
                  </a:lnTo>
                  <a:lnTo>
                    <a:pt x="197" y="34"/>
                  </a:lnTo>
                  <a:lnTo>
                    <a:pt x="192" y="31"/>
                  </a:lnTo>
                  <a:lnTo>
                    <a:pt x="189" y="28"/>
                  </a:lnTo>
                  <a:lnTo>
                    <a:pt x="184" y="26"/>
                  </a:lnTo>
                  <a:lnTo>
                    <a:pt x="180" y="23"/>
                  </a:lnTo>
                  <a:lnTo>
                    <a:pt x="175" y="22"/>
                  </a:lnTo>
                  <a:lnTo>
                    <a:pt x="171" y="20"/>
                  </a:lnTo>
                  <a:close/>
                </a:path>
              </a:pathLst>
            </a:custGeom>
            <a:solidFill>
              <a:srgbClr val="3FF2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52" name="Freeform 79"/>
            <p:cNvSpPr>
              <a:spLocks/>
            </p:cNvSpPr>
            <p:nvPr/>
          </p:nvSpPr>
          <p:spPr bwMode="auto">
            <a:xfrm>
              <a:off x="4258" y="3510"/>
              <a:ext cx="18" cy="10"/>
            </a:xfrm>
            <a:custGeom>
              <a:avLst/>
              <a:gdLst>
                <a:gd name="T0" fmla="*/ 9 w 37"/>
                <a:gd name="T1" fmla="*/ 3 h 19"/>
                <a:gd name="T2" fmla="*/ 8 w 37"/>
                <a:gd name="T3" fmla="*/ 3 h 19"/>
                <a:gd name="T4" fmla="*/ 7 w 37"/>
                <a:gd name="T5" fmla="*/ 2 h 19"/>
                <a:gd name="T6" fmla="*/ 5 w 37"/>
                <a:gd name="T7" fmla="*/ 1 h 19"/>
                <a:gd name="T8" fmla="*/ 4 w 37"/>
                <a:gd name="T9" fmla="*/ 0 h 19"/>
                <a:gd name="T10" fmla="*/ 3 w 37"/>
                <a:gd name="T11" fmla="*/ 0 h 19"/>
                <a:gd name="T12" fmla="*/ 2 w 37"/>
                <a:gd name="T13" fmla="*/ 0 h 19"/>
                <a:gd name="T14" fmla="*/ 1 w 37"/>
                <a:gd name="T15" fmla="*/ 1 h 19"/>
                <a:gd name="T16" fmla="*/ 1 w 37"/>
                <a:gd name="T17" fmla="*/ 1 h 19"/>
                <a:gd name="T18" fmla="*/ 1 w 37"/>
                <a:gd name="T19" fmla="*/ 1 h 19"/>
                <a:gd name="T20" fmla="*/ 0 w 37"/>
                <a:gd name="T21" fmla="*/ 1 h 19"/>
                <a:gd name="T22" fmla="*/ 0 w 37"/>
                <a:gd name="T23" fmla="*/ 1 h 19"/>
                <a:gd name="T24" fmla="*/ 0 w 37"/>
                <a:gd name="T25" fmla="*/ 0 h 19"/>
                <a:gd name="T26" fmla="*/ 0 w 37"/>
                <a:gd name="T27" fmla="*/ 1 h 19"/>
                <a:gd name="T28" fmla="*/ 0 w 37"/>
                <a:gd name="T29" fmla="*/ 2 h 19"/>
                <a:gd name="T30" fmla="*/ 0 w 37"/>
                <a:gd name="T31" fmla="*/ 4 h 19"/>
                <a:gd name="T32" fmla="*/ 0 w 37"/>
                <a:gd name="T33" fmla="*/ 5 h 19"/>
                <a:gd name="T34" fmla="*/ 0 w 37"/>
                <a:gd name="T35" fmla="*/ 5 h 19"/>
                <a:gd name="T36" fmla="*/ 0 w 37"/>
                <a:gd name="T37" fmla="*/ 5 h 19"/>
                <a:gd name="T38" fmla="*/ 0 w 37"/>
                <a:gd name="T39" fmla="*/ 5 h 19"/>
                <a:gd name="T40" fmla="*/ 0 w 37"/>
                <a:gd name="T41" fmla="*/ 5 h 19"/>
                <a:gd name="T42" fmla="*/ 1 w 37"/>
                <a:gd name="T43" fmla="*/ 5 h 19"/>
                <a:gd name="T44" fmla="*/ 2 w 37"/>
                <a:gd name="T45" fmla="*/ 5 h 19"/>
                <a:gd name="T46" fmla="*/ 4 w 37"/>
                <a:gd name="T47" fmla="*/ 5 h 19"/>
                <a:gd name="T48" fmla="*/ 5 w 37"/>
                <a:gd name="T49" fmla="*/ 5 h 19"/>
                <a:gd name="T50" fmla="*/ 7 w 37"/>
                <a:gd name="T51" fmla="*/ 5 h 19"/>
                <a:gd name="T52" fmla="*/ 8 w 37"/>
                <a:gd name="T53" fmla="*/ 4 h 19"/>
                <a:gd name="T54" fmla="*/ 8 w 37"/>
                <a:gd name="T55" fmla="*/ 4 h 19"/>
                <a:gd name="T56" fmla="*/ 9 w 37"/>
                <a:gd name="T57" fmla="*/ 3 h 1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37"/>
                <a:gd name="T88" fmla="*/ 0 h 19"/>
                <a:gd name="T89" fmla="*/ 37 w 37"/>
                <a:gd name="T90" fmla="*/ 19 h 19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37" h="19">
                  <a:moveTo>
                    <a:pt x="37" y="11"/>
                  </a:moveTo>
                  <a:lnTo>
                    <a:pt x="34" y="10"/>
                  </a:lnTo>
                  <a:lnTo>
                    <a:pt x="30" y="6"/>
                  </a:lnTo>
                  <a:lnTo>
                    <a:pt x="23" y="2"/>
                  </a:lnTo>
                  <a:lnTo>
                    <a:pt x="17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5" y="1"/>
                  </a:lnTo>
                  <a:lnTo>
                    <a:pt x="4" y="3"/>
                  </a:lnTo>
                  <a:lnTo>
                    <a:pt x="4" y="2"/>
                  </a:lnTo>
                  <a:lnTo>
                    <a:pt x="3" y="1"/>
                  </a:lnTo>
                  <a:lnTo>
                    <a:pt x="2" y="0"/>
                  </a:lnTo>
                  <a:lnTo>
                    <a:pt x="1" y="4"/>
                  </a:lnTo>
                  <a:lnTo>
                    <a:pt x="1" y="8"/>
                  </a:lnTo>
                  <a:lnTo>
                    <a:pt x="1" y="13"/>
                  </a:lnTo>
                  <a:lnTo>
                    <a:pt x="0" y="17"/>
                  </a:lnTo>
                  <a:lnTo>
                    <a:pt x="0" y="18"/>
                  </a:lnTo>
                  <a:lnTo>
                    <a:pt x="1" y="18"/>
                  </a:lnTo>
                  <a:lnTo>
                    <a:pt x="5" y="19"/>
                  </a:lnTo>
                  <a:lnTo>
                    <a:pt x="11" y="19"/>
                  </a:lnTo>
                  <a:lnTo>
                    <a:pt x="17" y="18"/>
                  </a:lnTo>
                  <a:lnTo>
                    <a:pt x="23" y="18"/>
                  </a:lnTo>
                  <a:lnTo>
                    <a:pt x="29" y="17"/>
                  </a:lnTo>
                  <a:lnTo>
                    <a:pt x="32" y="15"/>
                  </a:lnTo>
                  <a:lnTo>
                    <a:pt x="35" y="14"/>
                  </a:lnTo>
                  <a:lnTo>
                    <a:pt x="37" y="11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53" name="Freeform 80"/>
            <p:cNvSpPr>
              <a:spLocks/>
            </p:cNvSpPr>
            <p:nvPr/>
          </p:nvSpPr>
          <p:spPr bwMode="auto">
            <a:xfrm>
              <a:off x="4211" y="3839"/>
              <a:ext cx="19" cy="10"/>
            </a:xfrm>
            <a:custGeom>
              <a:avLst/>
              <a:gdLst>
                <a:gd name="T0" fmla="*/ 0 w 37"/>
                <a:gd name="T1" fmla="*/ 2 h 19"/>
                <a:gd name="T2" fmla="*/ 1 w 37"/>
                <a:gd name="T3" fmla="*/ 3 h 19"/>
                <a:gd name="T4" fmla="*/ 2 w 37"/>
                <a:gd name="T5" fmla="*/ 4 h 19"/>
                <a:gd name="T6" fmla="*/ 4 w 37"/>
                <a:gd name="T7" fmla="*/ 5 h 19"/>
                <a:gd name="T8" fmla="*/ 5 w 37"/>
                <a:gd name="T9" fmla="*/ 5 h 19"/>
                <a:gd name="T10" fmla="*/ 7 w 37"/>
                <a:gd name="T11" fmla="*/ 5 h 19"/>
                <a:gd name="T12" fmla="*/ 7 w 37"/>
                <a:gd name="T13" fmla="*/ 5 h 19"/>
                <a:gd name="T14" fmla="*/ 8 w 37"/>
                <a:gd name="T15" fmla="*/ 5 h 19"/>
                <a:gd name="T16" fmla="*/ 9 w 37"/>
                <a:gd name="T17" fmla="*/ 4 h 19"/>
                <a:gd name="T18" fmla="*/ 9 w 37"/>
                <a:gd name="T19" fmla="*/ 5 h 19"/>
                <a:gd name="T20" fmla="*/ 9 w 37"/>
                <a:gd name="T21" fmla="*/ 5 h 19"/>
                <a:gd name="T22" fmla="*/ 9 w 37"/>
                <a:gd name="T23" fmla="*/ 5 h 19"/>
                <a:gd name="T24" fmla="*/ 9 w 37"/>
                <a:gd name="T25" fmla="*/ 5 h 19"/>
                <a:gd name="T26" fmla="*/ 9 w 37"/>
                <a:gd name="T27" fmla="*/ 4 h 19"/>
                <a:gd name="T28" fmla="*/ 9 w 37"/>
                <a:gd name="T29" fmla="*/ 3 h 19"/>
                <a:gd name="T30" fmla="*/ 9 w 37"/>
                <a:gd name="T31" fmla="*/ 2 h 19"/>
                <a:gd name="T32" fmla="*/ 10 w 37"/>
                <a:gd name="T33" fmla="*/ 1 h 19"/>
                <a:gd name="T34" fmla="*/ 10 w 37"/>
                <a:gd name="T35" fmla="*/ 1 h 19"/>
                <a:gd name="T36" fmla="*/ 10 w 37"/>
                <a:gd name="T37" fmla="*/ 1 h 19"/>
                <a:gd name="T38" fmla="*/ 10 w 37"/>
                <a:gd name="T39" fmla="*/ 1 h 19"/>
                <a:gd name="T40" fmla="*/ 9 w 37"/>
                <a:gd name="T41" fmla="*/ 1 h 19"/>
                <a:gd name="T42" fmla="*/ 8 w 37"/>
                <a:gd name="T43" fmla="*/ 0 h 19"/>
                <a:gd name="T44" fmla="*/ 7 w 37"/>
                <a:gd name="T45" fmla="*/ 0 h 19"/>
                <a:gd name="T46" fmla="*/ 5 w 37"/>
                <a:gd name="T47" fmla="*/ 1 h 19"/>
                <a:gd name="T48" fmla="*/ 4 w 37"/>
                <a:gd name="T49" fmla="*/ 1 h 19"/>
                <a:gd name="T50" fmla="*/ 2 w 37"/>
                <a:gd name="T51" fmla="*/ 1 h 19"/>
                <a:gd name="T52" fmla="*/ 2 w 37"/>
                <a:gd name="T53" fmla="*/ 2 h 19"/>
                <a:gd name="T54" fmla="*/ 1 w 37"/>
                <a:gd name="T55" fmla="*/ 2 h 19"/>
                <a:gd name="T56" fmla="*/ 0 w 37"/>
                <a:gd name="T57" fmla="*/ 2 h 1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37"/>
                <a:gd name="T88" fmla="*/ 0 h 19"/>
                <a:gd name="T89" fmla="*/ 37 w 37"/>
                <a:gd name="T90" fmla="*/ 19 h 19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37" h="19">
                  <a:moveTo>
                    <a:pt x="0" y="8"/>
                  </a:moveTo>
                  <a:lnTo>
                    <a:pt x="3" y="9"/>
                  </a:lnTo>
                  <a:lnTo>
                    <a:pt x="7" y="14"/>
                  </a:lnTo>
                  <a:lnTo>
                    <a:pt x="14" y="17"/>
                  </a:lnTo>
                  <a:lnTo>
                    <a:pt x="20" y="19"/>
                  </a:lnTo>
                  <a:lnTo>
                    <a:pt x="25" y="19"/>
                  </a:lnTo>
                  <a:lnTo>
                    <a:pt x="28" y="19"/>
                  </a:lnTo>
                  <a:lnTo>
                    <a:pt x="32" y="18"/>
                  </a:lnTo>
                  <a:lnTo>
                    <a:pt x="33" y="16"/>
                  </a:lnTo>
                  <a:lnTo>
                    <a:pt x="33" y="17"/>
                  </a:lnTo>
                  <a:lnTo>
                    <a:pt x="34" y="17"/>
                  </a:lnTo>
                  <a:lnTo>
                    <a:pt x="34" y="18"/>
                  </a:lnTo>
                  <a:lnTo>
                    <a:pt x="35" y="19"/>
                  </a:lnTo>
                  <a:lnTo>
                    <a:pt x="36" y="15"/>
                  </a:lnTo>
                  <a:lnTo>
                    <a:pt x="36" y="10"/>
                  </a:lnTo>
                  <a:lnTo>
                    <a:pt x="36" y="6"/>
                  </a:lnTo>
                  <a:lnTo>
                    <a:pt x="37" y="1"/>
                  </a:lnTo>
                  <a:lnTo>
                    <a:pt x="36" y="1"/>
                  </a:lnTo>
                  <a:lnTo>
                    <a:pt x="30" y="0"/>
                  </a:lnTo>
                  <a:lnTo>
                    <a:pt x="25" y="0"/>
                  </a:lnTo>
                  <a:lnTo>
                    <a:pt x="19" y="1"/>
                  </a:lnTo>
                  <a:lnTo>
                    <a:pt x="13" y="1"/>
                  </a:lnTo>
                  <a:lnTo>
                    <a:pt x="8" y="2"/>
                  </a:lnTo>
                  <a:lnTo>
                    <a:pt x="5" y="5"/>
                  </a:lnTo>
                  <a:lnTo>
                    <a:pt x="2" y="6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54" name="Freeform 81"/>
            <p:cNvSpPr>
              <a:spLocks/>
            </p:cNvSpPr>
            <p:nvPr/>
          </p:nvSpPr>
          <p:spPr bwMode="auto">
            <a:xfrm>
              <a:off x="4131" y="3434"/>
              <a:ext cx="76" cy="97"/>
            </a:xfrm>
            <a:custGeom>
              <a:avLst/>
              <a:gdLst>
                <a:gd name="T0" fmla="*/ 33 w 152"/>
                <a:gd name="T1" fmla="*/ 4 h 193"/>
                <a:gd name="T2" fmla="*/ 33 w 152"/>
                <a:gd name="T3" fmla="*/ 4 h 193"/>
                <a:gd name="T4" fmla="*/ 31 w 152"/>
                <a:gd name="T5" fmla="*/ 4 h 193"/>
                <a:gd name="T6" fmla="*/ 30 w 152"/>
                <a:gd name="T7" fmla="*/ 3 h 193"/>
                <a:gd name="T8" fmla="*/ 29 w 152"/>
                <a:gd name="T9" fmla="*/ 3 h 193"/>
                <a:gd name="T10" fmla="*/ 28 w 152"/>
                <a:gd name="T11" fmla="*/ 3 h 193"/>
                <a:gd name="T12" fmla="*/ 26 w 152"/>
                <a:gd name="T13" fmla="*/ 4 h 193"/>
                <a:gd name="T14" fmla="*/ 24 w 152"/>
                <a:gd name="T15" fmla="*/ 4 h 193"/>
                <a:gd name="T16" fmla="*/ 23 w 152"/>
                <a:gd name="T17" fmla="*/ 5 h 193"/>
                <a:gd name="T18" fmla="*/ 22 w 152"/>
                <a:gd name="T19" fmla="*/ 7 h 193"/>
                <a:gd name="T20" fmla="*/ 20 w 152"/>
                <a:gd name="T21" fmla="*/ 8 h 193"/>
                <a:gd name="T22" fmla="*/ 19 w 152"/>
                <a:gd name="T23" fmla="*/ 9 h 193"/>
                <a:gd name="T24" fmla="*/ 19 w 152"/>
                <a:gd name="T25" fmla="*/ 11 h 193"/>
                <a:gd name="T26" fmla="*/ 18 w 152"/>
                <a:gd name="T27" fmla="*/ 8 h 193"/>
                <a:gd name="T28" fmla="*/ 17 w 152"/>
                <a:gd name="T29" fmla="*/ 4 h 193"/>
                <a:gd name="T30" fmla="*/ 14 w 152"/>
                <a:gd name="T31" fmla="*/ 1 h 193"/>
                <a:gd name="T32" fmla="*/ 11 w 152"/>
                <a:gd name="T33" fmla="*/ 0 h 193"/>
                <a:gd name="T34" fmla="*/ 10 w 152"/>
                <a:gd name="T35" fmla="*/ 0 h 193"/>
                <a:gd name="T36" fmla="*/ 7 w 152"/>
                <a:gd name="T37" fmla="*/ 1 h 193"/>
                <a:gd name="T38" fmla="*/ 5 w 152"/>
                <a:gd name="T39" fmla="*/ 1 h 193"/>
                <a:gd name="T40" fmla="*/ 4 w 152"/>
                <a:gd name="T41" fmla="*/ 2 h 193"/>
                <a:gd name="T42" fmla="*/ 2 w 152"/>
                <a:gd name="T43" fmla="*/ 3 h 193"/>
                <a:gd name="T44" fmla="*/ 1 w 152"/>
                <a:gd name="T45" fmla="*/ 4 h 193"/>
                <a:gd name="T46" fmla="*/ 1 w 152"/>
                <a:gd name="T47" fmla="*/ 6 h 193"/>
                <a:gd name="T48" fmla="*/ 0 w 152"/>
                <a:gd name="T49" fmla="*/ 8 h 193"/>
                <a:gd name="T50" fmla="*/ 1 w 152"/>
                <a:gd name="T51" fmla="*/ 12 h 193"/>
                <a:gd name="T52" fmla="*/ 1 w 152"/>
                <a:gd name="T53" fmla="*/ 18 h 193"/>
                <a:gd name="T54" fmla="*/ 4 w 152"/>
                <a:gd name="T55" fmla="*/ 25 h 193"/>
                <a:gd name="T56" fmla="*/ 6 w 152"/>
                <a:gd name="T57" fmla="*/ 33 h 193"/>
                <a:gd name="T58" fmla="*/ 9 w 152"/>
                <a:gd name="T59" fmla="*/ 39 h 193"/>
                <a:gd name="T60" fmla="*/ 10 w 152"/>
                <a:gd name="T61" fmla="*/ 44 h 193"/>
                <a:gd name="T62" fmla="*/ 12 w 152"/>
                <a:gd name="T63" fmla="*/ 47 h 193"/>
                <a:gd name="T64" fmla="*/ 12 w 152"/>
                <a:gd name="T65" fmla="*/ 49 h 193"/>
                <a:gd name="T66" fmla="*/ 13 w 152"/>
                <a:gd name="T67" fmla="*/ 48 h 193"/>
                <a:gd name="T68" fmla="*/ 15 w 152"/>
                <a:gd name="T69" fmla="*/ 46 h 193"/>
                <a:gd name="T70" fmla="*/ 18 w 152"/>
                <a:gd name="T71" fmla="*/ 42 h 193"/>
                <a:gd name="T72" fmla="*/ 21 w 152"/>
                <a:gd name="T73" fmla="*/ 38 h 193"/>
                <a:gd name="T74" fmla="*/ 24 w 152"/>
                <a:gd name="T75" fmla="*/ 33 h 193"/>
                <a:gd name="T76" fmla="*/ 28 w 152"/>
                <a:gd name="T77" fmla="*/ 29 h 193"/>
                <a:gd name="T78" fmla="*/ 32 w 152"/>
                <a:gd name="T79" fmla="*/ 24 h 193"/>
                <a:gd name="T80" fmla="*/ 35 w 152"/>
                <a:gd name="T81" fmla="*/ 20 h 193"/>
                <a:gd name="T82" fmla="*/ 36 w 152"/>
                <a:gd name="T83" fmla="*/ 18 h 193"/>
                <a:gd name="T84" fmla="*/ 37 w 152"/>
                <a:gd name="T85" fmla="*/ 16 h 193"/>
                <a:gd name="T86" fmla="*/ 38 w 152"/>
                <a:gd name="T87" fmla="*/ 15 h 193"/>
                <a:gd name="T88" fmla="*/ 38 w 152"/>
                <a:gd name="T89" fmla="*/ 14 h 193"/>
                <a:gd name="T90" fmla="*/ 38 w 152"/>
                <a:gd name="T91" fmla="*/ 11 h 193"/>
                <a:gd name="T92" fmla="*/ 37 w 152"/>
                <a:gd name="T93" fmla="*/ 8 h 193"/>
                <a:gd name="T94" fmla="*/ 36 w 152"/>
                <a:gd name="T95" fmla="*/ 6 h 193"/>
                <a:gd name="T96" fmla="*/ 33 w 152"/>
                <a:gd name="T97" fmla="*/ 4 h 19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52"/>
                <a:gd name="T148" fmla="*/ 0 h 193"/>
                <a:gd name="T149" fmla="*/ 152 w 152"/>
                <a:gd name="T150" fmla="*/ 193 h 19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52" h="193">
                  <a:moveTo>
                    <a:pt x="132" y="16"/>
                  </a:moveTo>
                  <a:lnTo>
                    <a:pt x="129" y="15"/>
                  </a:lnTo>
                  <a:lnTo>
                    <a:pt x="126" y="14"/>
                  </a:lnTo>
                  <a:lnTo>
                    <a:pt x="122" y="12"/>
                  </a:lnTo>
                  <a:lnTo>
                    <a:pt x="119" y="11"/>
                  </a:lnTo>
                  <a:lnTo>
                    <a:pt x="112" y="11"/>
                  </a:lnTo>
                  <a:lnTo>
                    <a:pt x="106" y="14"/>
                  </a:lnTo>
                  <a:lnTo>
                    <a:pt x="99" y="16"/>
                  </a:lnTo>
                  <a:lnTo>
                    <a:pt x="94" y="20"/>
                  </a:lnTo>
                  <a:lnTo>
                    <a:pt x="88" y="25"/>
                  </a:lnTo>
                  <a:lnTo>
                    <a:pt x="83" y="31"/>
                  </a:lnTo>
                  <a:lnTo>
                    <a:pt x="79" y="35"/>
                  </a:lnTo>
                  <a:lnTo>
                    <a:pt x="75" y="41"/>
                  </a:lnTo>
                  <a:lnTo>
                    <a:pt x="72" y="29"/>
                  </a:lnTo>
                  <a:lnTo>
                    <a:pt x="66" y="15"/>
                  </a:lnTo>
                  <a:lnTo>
                    <a:pt x="57" y="4"/>
                  </a:lnTo>
                  <a:lnTo>
                    <a:pt x="45" y="0"/>
                  </a:lnTo>
                  <a:lnTo>
                    <a:pt x="37" y="0"/>
                  </a:lnTo>
                  <a:lnTo>
                    <a:pt x="30" y="1"/>
                  </a:lnTo>
                  <a:lnTo>
                    <a:pt x="23" y="2"/>
                  </a:lnTo>
                  <a:lnTo>
                    <a:pt x="16" y="6"/>
                  </a:lnTo>
                  <a:lnTo>
                    <a:pt x="11" y="10"/>
                  </a:lnTo>
                  <a:lnTo>
                    <a:pt x="6" y="16"/>
                  </a:lnTo>
                  <a:lnTo>
                    <a:pt x="3" y="23"/>
                  </a:lnTo>
                  <a:lnTo>
                    <a:pt x="0" y="30"/>
                  </a:lnTo>
                  <a:lnTo>
                    <a:pt x="1" y="45"/>
                  </a:lnTo>
                  <a:lnTo>
                    <a:pt x="7" y="69"/>
                  </a:lnTo>
                  <a:lnTo>
                    <a:pt x="16" y="98"/>
                  </a:lnTo>
                  <a:lnTo>
                    <a:pt x="27" y="129"/>
                  </a:lnTo>
                  <a:lnTo>
                    <a:pt x="36" y="153"/>
                  </a:lnTo>
                  <a:lnTo>
                    <a:pt x="43" y="174"/>
                  </a:lnTo>
                  <a:lnTo>
                    <a:pt x="48" y="188"/>
                  </a:lnTo>
                  <a:lnTo>
                    <a:pt x="50" y="193"/>
                  </a:lnTo>
                  <a:lnTo>
                    <a:pt x="52" y="190"/>
                  </a:lnTo>
                  <a:lnTo>
                    <a:pt x="60" y="181"/>
                  </a:lnTo>
                  <a:lnTo>
                    <a:pt x="72" y="168"/>
                  </a:lnTo>
                  <a:lnTo>
                    <a:pt x="84" y="151"/>
                  </a:lnTo>
                  <a:lnTo>
                    <a:pt x="99" y="132"/>
                  </a:lnTo>
                  <a:lnTo>
                    <a:pt x="114" y="113"/>
                  </a:lnTo>
                  <a:lnTo>
                    <a:pt x="128" y="94"/>
                  </a:lnTo>
                  <a:lnTo>
                    <a:pt x="140" y="77"/>
                  </a:lnTo>
                  <a:lnTo>
                    <a:pt x="144" y="70"/>
                  </a:lnTo>
                  <a:lnTo>
                    <a:pt x="148" y="63"/>
                  </a:lnTo>
                  <a:lnTo>
                    <a:pt x="151" y="59"/>
                  </a:lnTo>
                  <a:lnTo>
                    <a:pt x="152" y="55"/>
                  </a:lnTo>
                  <a:lnTo>
                    <a:pt x="152" y="44"/>
                  </a:lnTo>
                  <a:lnTo>
                    <a:pt x="148" y="32"/>
                  </a:lnTo>
                  <a:lnTo>
                    <a:pt x="141" y="23"/>
                  </a:lnTo>
                  <a:lnTo>
                    <a:pt x="132" y="16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55" name="Freeform 82"/>
            <p:cNvSpPr>
              <a:spLocks/>
            </p:cNvSpPr>
            <p:nvPr/>
          </p:nvSpPr>
          <p:spPr bwMode="auto">
            <a:xfrm>
              <a:off x="4063" y="3470"/>
              <a:ext cx="38" cy="48"/>
            </a:xfrm>
            <a:custGeom>
              <a:avLst/>
              <a:gdLst>
                <a:gd name="T0" fmla="*/ 19 w 76"/>
                <a:gd name="T1" fmla="*/ 6 h 97"/>
                <a:gd name="T2" fmla="*/ 19 w 76"/>
                <a:gd name="T3" fmla="*/ 5 h 97"/>
                <a:gd name="T4" fmla="*/ 19 w 76"/>
                <a:gd name="T5" fmla="*/ 3 h 97"/>
                <a:gd name="T6" fmla="*/ 17 w 76"/>
                <a:gd name="T7" fmla="*/ 2 h 97"/>
                <a:gd name="T8" fmla="*/ 15 w 76"/>
                <a:gd name="T9" fmla="*/ 1 h 97"/>
                <a:gd name="T10" fmla="*/ 13 w 76"/>
                <a:gd name="T11" fmla="*/ 1 h 97"/>
                <a:gd name="T12" fmla="*/ 11 w 76"/>
                <a:gd name="T13" fmla="*/ 2 h 97"/>
                <a:gd name="T14" fmla="*/ 10 w 76"/>
                <a:gd name="T15" fmla="*/ 3 h 97"/>
                <a:gd name="T16" fmla="*/ 10 w 76"/>
                <a:gd name="T17" fmla="*/ 5 h 97"/>
                <a:gd name="T18" fmla="*/ 9 w 76"/>
                <a:gd name="T19" fmla="*/ 3 h 97"/>
                <a:gd name="T20" fmla="*/ 8 w 76"/>
                <a:gd name="T21" fmla="*/ 2 h 97"/>
                <a:gd name="T22" fmla="*/ 7 w 76"/>
                <a:gd name="T23" fmla="*/ 0 h 97"/>
                <a:gd name="T24" fmla="*/ 5 w 76"/>
                <a:gd name="T25" fmla="*/ 0 h 97"/>
                <a:gd name="T26" fmla="*/ 3 w 76"/>
                <a:gd name="T27" fmla="*/ 0 h 97"/>
                <a:gd name="T28" fmla="*/ 2 w 76"/>
                <a:gd name="T29" fmla="*/ 0 h 97"/>
                <a:gd name="T30" fmla="*/ 1 w 76"/>
                <a:gd name="T31" fmla="*/ 2 h 97"/>
                <a:gd name="T32" fmla="*/ 0 w 76"/>
                <a:gd name="T33" fmla="*/ 3 h 97"/>
                <a:gd name="T34" fmla="*/ 1 w 76"/>
                <a:gd name="T35" fmla="*/ 8 h 97"/>
                <a:gd name="T36" fmla="*/ 3 w 76"/>
                <a:gd name="T37" fmla="*/ 15 h 97"/>
                <a:gd name="T38" fmla="*/ 5 w 76"/>
                <a:gd name="T39" fmla="*/ 21 h 97"/>
                <a:gd name="T40" fmla="*/ 6 w 76"/>
                <a:gd name="T41" fmla="*/ 24 h 97"/>
                <a:gd name="T42" fmla="*/ 7 w 76"/>
                <a:gd name="T43" fmla="*/ 23 h 97"/>
                <a:gd name="T44" fmla="*/ 9 w 76"/>
                <a:gd name="T45" fmla="*/ 22 h 97"/>
                <a:gd name="T46" fmla="*/ 10 w 76"/>
                <a:gd name="T47" fmla="*/ 19 h 97"/>
                <a:gd name="T48" fmla="*/ 12 w 76"/>
                <a:gd name="T49" fmla="*/ 16 h 97"/>
                <a:gd name="T50" fmla="*/ 15 w 76"/>
                <a:gd name="T51" fmla="*/ 13 h 97"/>
                <a:gd name="T52" fmla="*/ 17 w 76"/>
                <a:gd name="T53" fmla="*/ 10 h 97"/>
                <a:gd name="T54" fmla="*/ 19 w 76"/>
                <a:gd name="T55" fmla="*/ 8 h 97"/>
                <a:gd name="T56" fmla="*/ 19 w 76"/>
                <a:gd name="T57" fmla="*/ 6 h 9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76"/>
                <a:gd name="T88" fmla="*/ 0 h 97"/>
                <a:gd name="T89" fmla="*/ 76 w 76"/>
                <a:gd name="T90" fmla="*/ 97 h 97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76" h="97">
                  <a:moveTo>
                    <a:pt x="76" y="27"/>
                  </a:moveTo>
                  <a:lnTo>
                    <a:pt x="76" y="20"/>
                  </a:lnTo>
                  <a:lnTo>
                    <a:pt x="73" y="13"/>
                  </a:lnTo>
                  <a:lnTo>
                    <a:pt x="67" y="8"/>
                  </a:lnTo>
                  <a:lnTo>
                    <a:pt x="60" y="6"/>
                  </a:lnTo>
                  <a:lnTo>
                    <a:pt x="53" y="7"/>
                  </a:lnTo>
                  <a:lnTo>
                    <a:pt x="47" y="9"/>
                  </a:lnTo>
                  <a:lnTo>
                    <a:pt x="42" y="14"/>
                  </a:lnTo>
                  <a:lnTo>
                    <a:pt x="38" y="20"/>
                  </a:lnTo>
                  <a:lnTo>
                    <a:pt x="36" y="14"/>
                  </a:lnTo>
                  <a:lnTo>
                    <a:pt x="32" y="8"/>
                  </a:lnTo>
                  <a:lnTo>
                    <a:pt x="29" y="2"/>
                  </a:lnTo>
                  <a:lnTo>
                    <a:pt x="23" y="0"/>
                  </a:lnTo>
                  <a:lnTo>
                    <a:pt x="15" y="0"/>
                  </a:lnTo>
                  <a:lnTo>
                    <a:pt x="8" y="2"/>
                  </a:lnTo>
                  <a:lnTo>
                    <a:pt x="4" y="8"/>
                  </a:lnTo>
                  <a:lnTo>
                    <a:pt x="0" y="15"/>
                  </a:lnTo>
                  <a:lnTo>
                    <a:pt x="4" y="32"/>
                  </a:lnTo>
                  <a:lnTo>
                    <a:pt x="13" y="60"/>
                  </a:lnTo>
                  <a:lnTo>
                    <a:pt x="21" y="85"/>
                  </a:lnTo>
                  <a:lnTo>
                    <a:pt x="26" y="97"/>
                  </a:lnTo>
                  <a:lnTo>
                    <a:pt x="28" y="95"/>
                  </a:lnTo>
                  <a:lnTo>
                    <a:pt x="34" y="88"/>
                  </a:lnTo>
                  <a:lnTo>
                    <a:pt x="42" y="77"/>
                  </a:lnTo>
                  <a:lnTo>
                    <a:pt x="51" y="66"/>
                  </a:lnTo>
                  <a:lnTo>
                    <a:pt x="60" y="53"/>
                  </a:lnTo>
                  <a:lnTo>
                    <a:pt x="68" y="42"/>
                  </a:lnTo>
                  <a:lnTo>
                    <a:pt x="74" y="32"/>
                  </a:lnTo>
                  <a:lnTo>
                    <a:pt x="76" y="27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56" name="Freeform 83"/>
            <p:cNvSpPr>
              <a:spLocks/>
            </p:cNvSpPr>
            <p:nvPr/>
          </p:nvSpPr>
          <p:spPr bwMode="auto">
            <a:xfrm>
              <a:off x="4280" y="3829"/>
              <a:ext cx="76" cy="96"/>
            </a:xfrm>
            <a:custGeom>
              <a:avLst/>
              <a:gdLst>
                <a:gd name="T0" fmla="*/ 29 w 152"/>
                <a:gd name="T1" fmla="*/ 9 h 194"/>
                <a:gd name="T2" fmla="*/ 27 w 152"/>
                <a:gd name="T3" fmla="*/ 5 h 194"/>
                <a:gd name="T4" fmla="*/ 26 w 152"/>
                <a:gd name="T5" fmla="*/ 2 h 194"/>
                <a:gd name="T6" fmla="*/ 25 w 152"/>
                <a:gd name="T7" fmla="*/ 0 h 194"/>
                <a:gd name="T8" fmla="*/ 25 w 152"/>
                <a:gd name="T9" fmla="*/ 0 h 194"/>
                <a:gd name="T10" fmla="*/ 24 w 152"/>
                <a:gd name="T11" fmla="*/ 1 h 194"/>
                <a:gd name="T12" fmla="*/ 21 w 152"/>
                <a:gd name="T13" fmla="*/ 4 h 194"/>
                <a:gd name="T14" fmla="*/ 18 w 152"/>
                <a:gd name="T15" fmla="*/ 9 h 194"/>
                <a:gd name="T16" fmla="*/ 12 w 152"/>
                <a:gd name="T17" fmla="*/ 15 h 194"/>
                <a:gd name="T18" fmla="*/ 9 w 152"/>
                <a:gd name="T19" fmla="*/ 21 h 194"/>
                <a:gd name="T20" fmla="*/ 5 w 152"/>
                <a:gd name="T21" fmla="*/ 26 h 194"/>
                <a:gd name="T22" fmla="*/ 1 w 152"/>
                <a:gd name="T23" fmla="*/ 31 h 194"/>
                <a:gd name="T24" fmla="*/ 0 w 152"/>
                <a:gd name="T25" fmla="*/ 34 h 194"/>
                <a:gd name="T26" fmla="*/ 0 w 152"/>
                <a:gd name="T27" fmla="*/ 36 h 194"/>
                <a:gd name="T28" fmla="*/ 1 w 152"/>
                <a:gd name="T29" fmla="*/ 38 h 194"/>
                <a:gd name="T30" fmla="*/ 1 w 152"/>
                <a:gd name="T31" fmla="*/ 39 h 194"/>
                <a:gd name="T32" fmla="*/ 1 w 152"/>
                <a:gd name="T33" fmla="*/ 41 h 194"/>
                <a:gd name="T34" fmla="*/ 3 w 152"/>
                <a:gd name="T35" fmla="*/ 42 h 194"/>
                <a:gd name="T36" fmla="*/ 5 w 152"/>
                <a:gd name="T37" fmla="*/ 43 h 194"/>
                <a:gd name="T38" fmla="*/ 6 w 152"/>
                <a:gd name="T39" fmla="*/ 44 h 194"/>
                <a:gd name="T40" fmla="*/ 9 w 152"/>
                <a:gd name="T41" fmla="*/ 45 h 194"/>
                <a:gd name="T42" fmla="*/ 10 w 152"/>
                <a:gd name="T43" fmla="*/ 45 h 194"/>
                <a:gd name="T44" fmla="*/ 11 w 152"/>
                <a:gd name="T45" fmla="*/ 44 h 194"/>
                <a:gd name="T46" fmla="*/ 13 w 152"/>
                <a:gd name="T47" fmla="*/ 44 h 194"/>
                <a:gd name="T48" fmla="*/ 14 w 152"/>
                <a:gd name="T49" fmla="*/ 43 h 194"/>
                <a:gd name="T50" fmla="*/ 16 w 152"/>
                <a:gd name="T51" fmla="*/ 41 h 194"/>
                <a:gd name="T52" fmla="*/ 18 w 152"/>
                <a:gd name="T53" fmla="*/ 40 h 194"/>
                <a:gd name="T54" fmla="*/ 19 w 152"/>
                <a:gd name="T55" fmla="*/ 39 h 194"/>
                <a:gd name="T56" fmla="*/ 19 w 152"/>
                <a:gd name="T57" fmla="*/ 37 h 194"/>
                <a:gd name="T58" fmla="*/ 19 w 152"/>
                <a:gd name="T59" fmla="*/ 38 h 194"/>
                <a:gd name="T60" fmla="*/ 19 w 152"/>
                <a:gd name="T61" fmla="*/ 39 h 194"/>
                <a:gd name="T62" fmla="*/ 19 w 152"/>
                <a:gd name="T63" fmla="*/ 40 h 194"/>
                <a:gd name="T64" fmla="*/ 20 w 152"/>
                <a:gd name="T65" fmla="*/ 41 h 194"/>
                <a:gd name="T66" fmla="*/ 21 w 152"/>
                <a:gd name="T67" fmla="*/ 43 h 194"/>
                <a:gd name="T68" fmla="*/ 22 w 152"/>
                <a:gd name="T69" fmla="*/ 45 h 194"/>
                <a:gd name="T70" fmla="*/ 24 w 152"/>
                <a:gd name="T71" fmla="*/ 47 h 194"/>
                <a:gd name="T72" fmla="*/ 26 w 152"/>
                <a:gd name="T73" fmla="*/ 48 h 194"/>
                <a:gd name="T74" fmla="*/ 28 w 152"/>
                <a:gd name="T75" fmla="*/ 48 h 194"/>
                <a:gd name="T76" fmla="*/ 30 w 152"/>
                <a:gd name="T77" fmla="*/ 48 h 194"/>
                <a:gd name="T78" fmla="*/ 33 w 152"/>
                <a:gd name="T79" fmla="*/ 47 h 194"/>
                <a:gd name="T80" fmla="*/ 34 w 152"/>
                <a:gd name="T81" fmla="*/ 46 h 194"/>
                <a:gd name="T82" fmla="*/ 36 w 152"/>
                <a:gd name="T83" fmla="*/ 45 h 194"/>
                <a:gd name="T84" fmla="*/ 37 w 152"/>
                <a:gd name="T85" fmla="*/ 43 h 194"/>
                <a:gd name="T86" fmla="*/ 38 w 152"/>
                <a:gd name="T87" fmla="*/ 42 h 194"/>
                <a:gd name="T88" fmla="*/ 38 w 152"/>
                <a:gd name="T89" fmla="*/ 40 h 194"/>
                <a:gd name="T90" fmla="*/ 38 w 152"/>
                <a:gd name="T91" fmla="*/ 38 h 194"/>
                <a:gd name="T92" fmla="*/ 38 w 152"/>
                <a:gd name="T93" fmla="*/ 35 h 194"/>
                <a:gd name="T94" fmla="*/ 37 w 152"/>
                <a:gd name="T95" fmla="*/ 32 h 194"/>
                <a:gd name="T96" fmla="*/ 35 w 152"/>
                <a:gd name="T97" fmla="*/ 28 h 194"/>
                <a:gd name="T98" fmla="*/ 34 w 152"/>
                <a:gd name="T99" fmla="*/ 23 h 194"/>
                <a:gd name="T100" fmla="*/ 33 w 152"/>
                <a:gd name="T101" fmla="*/ 18 h 194"/>
                <a:gd name="T102" fmla="*/ 30 w 152"/>
                <a:gd name="T103" fmla="*/ 14 h 194"/>
                <a:gd name="T104" fmla="*/ 29 w 152"/>
                <a:gd name="T105" fmla="*/ 9 h 19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152"/>
                <a:gd name="T160" fmla="*/ 0 h 194"/>
                <a:gd name="T161" fmla="*/ 152 w 152"/>
                <a:gd name="T162" fmla="*/ 194 h 19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152" h="194">
                  <a:moveTo>
                    <a:pt x="116" y="39"/>
                  </a:moveTo>
                  <a:lnTo>
                    <a:pt x="110" y="23"/>
                  </a:lnTo>
                  <a:lnTo>
                    <a:pt x="106" y="10"/>
                  </a:lnTo>
                  <a:lnTo>
                    <a:pt x="102" y="2"/>
                  </a:lnTo>
                  <a:lnTo>
                    <a:pt x="101" y="0"/>
                  </a:lnTo>
                  <a:lnTo>
                    <a:pt x="96" y="5"/>
                  </a:lnTo>
                  <a:lnTo>
                    <a:pt x="86" y="18"/>
                  </a:lnTo>
                  <a:lnTo>
                    <a:pt x="70" y="38"/>
                  </a:lnTo>
                  <a:lnTo>
                    <a:pt x="51" y="61"/>
                  </a:lnTo>
                  <a:lnTo>
                    <a:pt x="33" y="85"/>
                  </a:lnTo>
                  <a:lnTo>
                    <a:pt x="17" y="108"/>
                  </a:lnTo>
                  <a:lnTo>
                    <a:pt x="5" y="127"/>
                  </a:lnTo>
                  <a:lnTo>
                    <a:pt x="0" y="138"/>
                  </a:lnTo>
                  <a:lnTo>
                    <a:pt x="0" y="145"/>
                  </a:lnTo>
                  <a:lnTo>
                    <a:pt x="1" y="153"/>
                  </a:lnTo>
                  <a:lnTo>
                    <a:pt x="3" y="159"/>
                  </a:lnTo>
                  <a:lnTo>
                    <a:pt x="7" y="166"/>
                  </a:lnTo>
                  <a:lnTo>
                    <a:pt x="12" y="171"/>
                  </a:lnTo>
                  <a:lnTo>
                    <a:pt x="18" y="175"/>
                  </a:lnTo>
                  <a:lnTo>
                    <a:pt x="25" y="179"/>
                  </a:lnTo>
                  <a:lnTo>
                    <a:pt x="33" y="181"/>
                  </a:lnTo>
                  <a:lnTo>
                    <a:pt x="40" y="181"/>
                  </a:lnTo>
                  <a:lnTo>
                    <a:pt x="46" y="180"/>
                  </a:lnTo>
                  <a:lnTo>
                    <a:pt x="53" y="177"/>
                  </a:lnTo>
                  <a:lnTo>
                    <a:pt x="58" y="173"/>
                  </a:lnTo>
                  <a:lnTo>
                    <a:pt x="64" y="168"/>
                  </a:lnTo>
                  <a:lnTo>
                    <a:pt x="69" y="162"/>
                  </a:lnTo>
                  <a:lnTo>
                    <a:pt x="73" y="158"/>
                  </a:lnTo>
                  <a:lnTo>
                    <a:pt x="77" y="152"/>
                  </a:lnTo>
                  <a:lnTo>
                    <a:pt x="77" y="156"/>
                  </a:lnTo>
                  <a:lnTo>
                    <a:pt x="78" y="159"/>
                  </a:lnTo>
                  <a:lnTo>
                    <a:pt x="79" y="162"/>
                  </a:lnTo>
                  <a:lnTo>
                    <a:pt x="80" y="166"/>
                  </a:lnTo>
                  <a:lnTo>
                    <a:pt x="85" y="175"/>
                  </a:lnTo>
                  <a:lnTo>
                    <a:pt x="91" y="183"/>
                  </a:lnTo>
                  <a:lnTo>
                    <a:pt x="98" y="190"/>
                  </a:lnTo>
                  <a:lnTo>
                    <a:pt x="107" y="194"/>
                  </a:lnTo>
                  <a:lnTo>
                    <a:pt x="115" y="194"/>
                  </a:lnTo>
                  <a:lnTo>
                    <a:pt x="122" y="194"/>
                  </a:lnTo>
                  <a:lnTo>
                    <a:pt x="129" y="191"/>
                  </a:lnTo>
                  <a:lnTo>
                    <a:pt x="136" y="187"/>
                  </a:lnTo>
                  <a:lnTo>
                    <a:pt x="141" y="182"/>
                  </a:lnTo>
                  <a:lnTo>
                    <a:pt x="146" y="176"/>
                  </a:lnTo>
                  <a:lnTo>
                    <a:pt x="149" y="169"/>
                  </a:lnTo>
                  <a:lnTo>
                    <a:pt x="152" y="162"/>
                  </a:lnTo>
                  <a:lnTo>
                    <a:pt x="152" y="156"/>
                  </a:lnTo>
                  <a:lnTo>
                    <a:pt x="149" y="144"/>
                  </a:lnTo>
                  <a:lnTo>
                    <a:pt x="145" y="129"/>
                  </a:lnTo>
                  <a:lnTo>
                    <a:pt x="140" y="113"/>
                  </a:lnTo>
                  <a:lnTo>
                    <a:pt x="134" y="94"/>
                  </a:lnTo>
                  <a:lnTo>
                    <a:pt x="129" y="75"/>
                  </a:lnTo>
                  <a:lnTo>
                    <a:pt x="122" y="56"/>
                  </a:lnTo>
                  <a:lnTo>
                    <a:pt x="116" y="39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57" name="Freeform 84"/>
            <p:cNvSpPr>
              <a:spLocks/>
            </p:cNvSpPr>
            <p:nvPr/>
          </p:nvSpPr>
          <p:spPr bwMode="auto">
            <a:xfrm>
              <a:off x="4387" y="3841"/>
              <a:ext cx="38" cy="49"/>
            </a:xfrm>
            <a:custGeom>
              <a:avLst/>
              <a:gdLst>
                <a:gd name="T0" fmla="*/ 0 w 76"/>
                <a:gd name="T1" fmla="*/ 18 h 97"/>
                <a:gd name="T2" fmla="*/ 0 w 76"/>
                <a:gd name="T3" fmla="*/ 20 h 97"/>
                <a:gd name="T4" fmla="*/ 1 w 76"/>
                <a:gd name="T5" fmla="*/ 21 h 97"/>
                <a:gd name="T6" fmla="*/ 2 w 76"/>
                <a:gd name="T7" fmla="*/ 23 h 97"/>
                <a:gd name="T8" fmla="*/ 4 w 76"/>
                <a:gd name="T9" fmla="*/ 23 h 97"/>
                <a:gd name="T10" fmla="*/ 5 w 76"/>
                <a:gd name="T11" fmla="*/ 23 h 97"/>
                <a:gd name="T12" fmla="*/ 7 w 76"/>
                <a:gd name="T13" fmla="*/ 22 h 97"/>
                <a:gd name="T14" fmla="*/ 9 w 76"/>
                <a:gd name="T15" fmla="*/ 21 h 97"/>
                <a:gd name="T16" fmla="*/ 10 w 76"/>
                <a:gd name="T17" fmla="*/ 20 h 97"/>
                <a:gd name="T18" fmla="*/ 10 w 76"/>
                <a:gd name="T19" fmla="*/ 21 h 97"/>
                <a:gd name="T20" fmla="*/ 10 w 76"/>
                <a:gd name="T21" fmla="*/ 23 h 97"/>
                <a:gd name="T22" fmla="*/ 11 w 76"/>
                <a:gd name="T23" fmla="*/ 24 h 97"/>
                <a:gd name="T24" fmla="*/ 13 w 76"/>
                <a:gd name="T25" fmla="*/ 25 h 97"/>
                <a:gd name="T26" fmla="*/ 15 w 76"/>
                <a:gd name="T27" fmla="*/ 25 h 97"/>
                <a:gd name="T28" fmla="*/ 17 w 76"/>
                <a:gd name="T29" fmla="*/ 24 h 97"/>
                <a:gd name="T30" fmla="*/ 18 w 76"/>
                <a:gd name="T31" fmla="*/ 23 h 97"/>
                <a:gd name="T32" fmla="*/ 19 w 76"/>
                <a:gd name="T33" fmla="*/ 21 h 97"/>
                <a:gd name="T34" fmla="*/ 18 w 76"/>
                <a:gd name="T35" fmla="*/ 17 h 97"/>
                <a:gd name="T36" fmla="*/ 15 w 76"/>
                <a:gd name="T37" fmla="*/ 10 h 97"/>
                <a:gd name="T38" fmla="*/ 13 w 76"/>
                <a:gd name="T39" fmla="*/ 3 h 97"/>
                <a:gd name="T40" fmla="*/ 12 w 76"/>
                <a:gd name="T41" fmla="*/ 0 h 97"/>
                <a:gd name="T42" fmla="*/ 12 w 76"/>
                <a:gd name="T43" fmla="*/ 1 h 97"/>
                <a:gd name="T44" fmla="*/ 10 w 76"/>
                <a:gd name="T45" fmla="*/ 3 h 97"/>
                <a:gd name="T46" fmla="*/ 9 w 76"/>
                <a:gd name="T47" fmla="*/ 5 h 97"/>
                <a:gd name="T48" fmla="*/ 6 w 76"/>
                <a:gd name="T49" fmla="*/ 8 h 97"/>
                <a:gd name="T50" fmla="*/ 4 w 76"/>
                <a:gd name="T51" fmla="*/ 11 h 97"/>
                <a:gd name="T52" fmla="*/ 2 w 76"/>
                <a:gd name="T53" fmla="*/ 14 h 97"/>
                <a:gd name="T54" fmla="*/ 1 w 76"/>
                <a:gd name="T55" fmla="*/ 16 h 97"/>
                <a:gd name="T56" fmla="*/ 0 w 76"/>
                <a:gd name="T57" fmla="*/ 18 h 9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w 76"/>
                <a:gd name="T88" fmla="*/ 0 h 97"/>
                <a:gd name="T89" fmla="*/ 76 w 76"/>
                <a:gd name="T90" fmla="*/ 97 h 97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T87" t="T88" r="T89" b="T90"/>
              <a:pathLst>
                <a:path w="76" h="97">
                  <a:moveTo>
                    <a:pt x="0" y="69"/>
                  </a:moveTo>
                  <a:lnTo>
                    <a:pt x="0" y="78"/>
                  </a:lnTo>
                  <a:lnTo>
                    <a:pt x="3" y="83"/>
                  </a:lnTo>
                  <a:lnTo>
                    <a:pt x="9" y="89"/>
                  </a:lnTo>
                  <a:lnTo>
                    <a:pt x="16" y="91"/>
                  </a:lnTo>
                  <a:lnTo>
                    <a:pt x="23" y="90"/>
                  </a:lnTo>
                  <a:lnTo>
                    <a:pt x="29" y="88"/>
                  </a:lnTo>
                  <a:lnTo>
                    <a:pt x="34" y="83"/>
                  </a:lnTo>
                  <a:lnTo>
                    <a:pt x="38" y="78"/>
                  </a:lnTo>
                  <a:lnTo>
                    <a:pt x="39" y="83"/>
                  </a:lnTo>
                  <a:lnTo>
                    <a:pt x="42" y="89"/>
                  </a:lnTo>
                  <a:lnTo>
                    <a:pt x="47" y="95"/>
                  </a:lnTo>
                  <a:lnTo>
                    <a:pt x="53" y="97"/>
                  </a:lnTo>
                  <a:lnTo>
                    <a:pt x="61" y="97"/>
                  </a:lnTo>
                  <a:lnTo>
                    <a:pt x="68" y="95"/>
                  </a:lnTo>
                  <a:lnTo>
                    <a:pt x="72" y="89"/>
                  </a:lnTo>
                  <a:lnTo>
                    <a:pt x="76" y="82"/>
                  </a:lnTo>
                  <a:lnTo>
                    <a:pt x="72" y="65"/>
                  </a:lnTo>
                  <a:lnTo>
                    <a:pt x="63" y="37"/>
                  </a:lnTo>
                  <a:lnTo>
                    <a:pt x="55" y="12"/>
                  </a:lnTo>
                  <a:lnTo>
                    <a:pt x="50" y="0"/>
                  </a:lnTo>
                  <a:lnTo>
                    <a:pt x="48" y="3"/>
                  </a:lnTo>
                  <a:lnTo>
                    <a:pt x="42" y="10"/>
                  </a:lnTo>
                  <a:lnTo>
                    <a:pt x="34" y="20"/>
                  </a:lnTo>
                  <a:lnTo>
                    <a:pt x="25" y="31"/>
                  </a:lnTo>
                  <a:lnTo>
                    <a:pt x="16" y="43"/>
                  </a:lnTo>
                  <a:lnTo>
                    <a:pt x="8" y="55"/>
                  </a:lnTo>
                  <a:lnTo>
                    <a:pt x="2" y="64"/>
                  </a:lnTo>
                  <a:lnTo>
                    <a:pt x="0" y="69"/>
                  </a:lnTo>
                  <a:close/>
                </a:path>
              </a:pathLst>
            </a:custGeom>
            <a:solidFill>
              <a:srgbClr val="D8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58" name="Freeform 85"/>
            <p:cNvSpPr>
              <a:spLocks/>
            </p:cNvSpPr>
            <p:nvPr/>
          </p:nvSpPr>
          <p:spPr bwMode="auto">
            <a:xfrm>
              <a:off x="4118" y="3575"/>
              <a:ext cx="289" cy="83"/>
            </a:xfrm>
            <a:custGeom>
              <a:avLst/>
              <a:gdLst>
                <a:gd name="T0" fmla="*/ 134 w 577"/>
                <a:gd name="T1" fmla="*/ 22 h 166"/>
                <a:gd name="T2" fmla="*/ 125 w 577"/>
                <a:gd name="T3" fmla="*/ 27 h 166"/>
                <a:gd name="T4" fmla="*/ 113 w 577"/>
                <a:gd name="T5" fmla="*/ 31 h 166"/>
                <a:gd name="T6" fmla="*/ 101 w 577"/>
                <a:gd name="T7" fmla="*/ 34 h 166"/>
                <a:gd name="T8" fmla="*/ 88 w 577"/>
                <a:gd name="T9" fmla="*/ 36 h 166"/>
                <a:gd name="T10" fmla="*/ 78 w 577"/>
                <a:gd name="T11" fmla="*/ 36 h 166"/>
                <a:gd name="T12" fmla="*/ 69 w 577"/>
                <a:gd name="T13" fmla="*/ 36 h 166"/>
                <a:gd name="T14" fmla="*/ 59 w 577"/>
                <a:gd name="T15" fmla="*/ 35 h 166"/>
                <a:gd name="T16" fmla="*/ 48 w 577"/>
                <a:gd name="T17" fmla="*/ 31 h 166"/>
                <a:gd name="T18" fmla="*/ 35 w 577"/>
                <a:gd name="T19" fmla="*/ 26 h 166"/>
                <a:gd name="T20" fmla="*/ 22 w 577"/>
                <a:gd name="T21" fmla="*/ 18 h 166"/>
                <a:gd name="T22" fmla="*/ 19 w 577"/>
                <a:gd name="T23" fmla="*/ 14 h 166"/>
                <a:gd name="T24" fmla="*/ 17 w 577"/>
                <a:gd name="T25" fmla="*/ 13 h 166"/>
                <a:gd name="T26" fmla="*/ 15 w 577"/>
                <a:gd name="T27" fmla="*/ 11 h 166"/>
                <a:gd name="T28" fmla="*/ 11 w 577"/>
                <a:gd name="T29" fmla="*/ 6 h 166"/>
                <a:gd name="T30" fmla="*/ 7 w 577"/>
                <a:gd name="T31" fmla="*/ 1 h 166"/>
                <a:gd name="T32" fmla="*/ 3 w 577"/>
                <a:gd name="T33" fmla="*/ 1 h 166"/>
                <a:gd name="T34" fmla="*/ 2 w 577"/>
                <a:gd name="T35" fmla="*/ 5 h 166"/>
                <a:gd name="T36" fmla="*/ 6 w 577"/>
                <a:gd name="T37" fmla="*/ 10 h 166"/>
                <a:gd name="T38" fmla="*/ 11 w 577"/>
                <a:gd name="T39" fmla="*/ 15 h 166"/>
                <a:gd name="T40" fmla="*/ 16 w 577"/>
                <a:gd name="T41" fmla="*/ 20 h 166"/>
                <a:gd name="T42" fmla="*/ 20 w 577"/>
                <a:gd name="T43" fmla="*/ 22 h 166"/>
                <a:gd name="T44" fmla="*/ 24 w 577"/>
                <a:gd name="T45" fmla="*/ 25 h 166"/>
                <a:gd name="T46" fmla="*/ 28 w 577"/>
                <a:gd name="T47" fmla="*/ 27 h 166"/>
                <a:gd name="T48" fmla="*/ 34 w 577"/>
                <a:gd name="T49" fmla="*/ 31 h 166"/>
                <a:gd name="T50" fmla="*/ 37 w 577"/>
                <a:gd name="T51" fmla="*/ 33 h 166"/>
                <a:gd name="T52" fmla="*/ 41 w 577"/>
                <a:gd name="T53" fmla="*/ 35 h 166"/>
                <a:gd name="T54" fmla="*/ 48 w 577"/>
                <a:gd name="T55" fmla="*/ 37 h 166"/>
                <a:gd name="T56" fmla="*/ 53 w 577"/>
                <a:gd name="T57" fmla="*/ 39 h 166"/>
                <a:gd name="T58" fmla="*/ 55 w 577"/>
                <a:gd name="T59" fmla="*/ 39 h 166"/>
                <a:gd name="T60" fmla="*/ 57 w 577"/>
                <a:gd name="T61" fmla="*/ 40 h 166"/>
                <a:gd name="T62" fmla="*/ 57 w 577"/>
                <a:gd name="T63" fmla="*/ 40 h 166"/>
                <a:gd name="T64" fmla="*/ 60 w 577"/>
                <a:gd name="T65" fmla="*/ 40 h 166"/>
                <a:gd name="T66" fmla="*/ 63 w 577"/>
                <a:gd name="T67" fmla="*/ 41 h 166"/>
                <a:gd name="T68" fmla="*/ 63 w 577"/>
                <a:gd name="T69" fmla="*/ 41 h 166"/>
                <a:gd name="T70" fmla="*/ 69 w 577"/>
                <a:gd name="T71" fmla="*/ 41 h 166"/>
                <a:gd name="T72" fmla="*/ 74 w 577"/>
                <a:gd name="T73" fmla="*/ 42 h 166"/>
                <a:gd name="T74" fmla="*/ 78 w 577"/>
                <a:gd name="T75" fmla="*/ 42 h 166"/>
                <a:gd name="T76" fmla="*/ 79 w 577"/>
                <a:gd name="T77" fmla="*/ 42 h 166"/>
                <a:gd name="T78" fmla="*/ 81 w 577"/>
                <a:gd name="T79" fmla="*/ 42 h 166"/>
                <a:gd name="T80" fmla="*/ 90 w 577"/>
                <a:gd name="T81" fmla="*/ 42 h 166"/>
                <a:gd name="T82" fmla="*/ 103 w 577"/>
                <a:gd name="T83" fmla="*/ 40 h 166"/>
                <a:gd name="T84" fmla="*/ 116 w 577"/>
                <a:gd name="T85" fmla="*/ 37 h 166"/>
                <a:gd name="T86" fmla="*/ 129 w 577"/>
                <a:gd name="T87" fmla="*/ 33 h 166"/>
                <a:gd name="T88" fmla="*/ 139 w 577"/>
                <a:gd name="T89" fmla="*/ 27 h 166"/>
                <a:gd name="T90" fmla="*/ 143 w 577"/>
                <a:gd name="T91" fmla="*/ 22 h 166"/>
                <a:gd name="T92" fmla="*/ 139 w 577"/>
                <a:gd name="T93" fmla="*/ 19 h 16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w 577"/>
                <a:gd name="T142" fmla="*/ 0 h 166"/>
                <a:gd name="T143" fmla="*/ 577 w 577"/>
                <a:gd name="T144" fmla="*/ 166 h 16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T141" t="T142" r="T143" b="T144"/>
              <a:pathLst>
                <a:path w="577" h="166">
                  <a:moveTo>
                    <a:pt x="553" y="74"/>
                  </a:moveTo>
                  <a:lnTo>
                    <a:pt x="545" y="82"/>
                  </a:lnTo>
                  <a:lnTo>
                    <a:pt x="536" y="89"/>
                  </a:lnTo>
                  <a:lnTo>
                    <a:pt x="524" y="96"/>
                  </a:lnTo>
                  <a:lnTo>
                    <a:pt x="511" y="102"/>
                  </a:lnTo>
                  <a:lnTo>
                    <a:pt x="498" y="109"/>
                  </a:lnTo>
                  <a:lnTo>
                    <a:pt x="483" y="115"/>
                  </a:lnTo>
                  <a:lnTo>
                    <a:pt x="468" y="120"/>
                  </a:lnTo>
                  <a:lnTo>
                    <a:pt x="452" y="124"/>
                  </a:lnTo>
                  <a:lnTo>
                    <a:pt x="434" y="129"/>
                  </a:lnTo>
                  <a:lnTo>
                    <a:pt x="417" y="132"/>
                  </a:lnTo>
                  <a:lnTo>
                    <a:pt x="401" y="136"/>
                  </a:lnTo>
                  <a:lnTo>
                    <a:pt x="384" y="139"/>
                  </a:lnTo>
                  <a:lnTo>
                    <a:pt x="366" y="142"/>
                  </a:lnTo>
                  <a:lnTo>
                    <a:pt x="350" y="143"/>
                  </a:lnTo>
                  <a:lnTo>
                    <a:pt x="335" y="144"/>
                  </a:lnTo>
                  <a:lnTo>
                    <a:pt x="320" y="144"/>
                  </a:lnTo>
                  <a:lnTo>
                    <a:pt x="310" y="144"/>
                  </a:lnTo>
                  <a:lnTo>
                    <a:pt x="299" y="144"/>
                  </a:lnTo>
                  <a:lnTo>
                    <a:pt x="288" y="143"/>
                  </a:lnTo>
                  <a:lnTo>
                    <a:pt x="276" y="143"/>
                  </a:lnTo>
                  <a:lnTo>
                    <a:pt x="264" y="142"/>
                  </a:lnTo>
                  <a:lnTo>
                    <a:pt x="250" y="139"/>
                  </a:lnTo>
                  <a:lnTo>
                    <a:pt x="236" y="137"/>
                  </a:lnTo>
                  <a:lnTo>
                    <a:pt x="221" y="134"/>
                  </a:lnTo>
                  <a:lnTo>
                    <a:pt x="206" y="130"/>
                  </a:lnTo>
                  <a:lnTo>
                    <a:pt x="190" y="124"/>
                  </a:lnTo>
                  <a:lnTo>
                    <a:pt x="174" y="119"/>
                  </a:lnTo>
                  <a:lnTo>
                    <a:pt x="158" y="112"/>
                  </a:lnTo>
                  <a:lnTo>
                    <a:pt x="140" y="104"/>
                  </a:lnTo>
                  <a:lnTo>
                    <a:pt x="123" y="94"/>
                  </a:lnTo>
                  <a:lnTo>
                    <a:pt x="106" y="83"/>
                  </a:lnTo>
                  <a:lnTo>
                    <a:pt x="87" y="70"/>
                  </a:lnTo>
                  <a:lnTo>
                    <a:pt x="85" y="68"/>
                  </a:lnTo>
                  <a:lnTo>
                    <a:pt x="79" y="63"/>
                  </a:lnTo>
                  <a:lnTo>
                    <a:pt x="74" y="59"/>
                  </a:lnTo>
                  <a:lnTo>
                    <a:pt x="70" y="55"/>
                  </a:lnTo>
                  <a:lnTo>
                    <a:pt x="69" y="54"/>
                  </a:lnTo>
                  <a:lnTo>
                    <a:pt x="67" y="52"/>
                  </a:lnTo>
                  <a:lnTo>
                    <a:pt x="66" y="51"/>
                  </a:lnTo>
                  <a:lnTo>
                    <a:pt x="63" y="49"/>
                  </a:lnTo>
                  <a:lnTo>
                    <a:pt x="58" y="44"/>
                  </a:lnTo>
                  <a:lnTo>
                    <a:pt x="53" y="38"/>
                  </a:lnTo>
                  <a:lnTo>
                    <a:pt x="47" y="32"/>
                  </a:lnTo>
                  <a:lnTo>
                    <a:pt x="43" y="25"/>
                  </a:lnTo>
                  <a:lnTo>
                    <a:pt x="37" y="20"/>
                  </a:lnTo>
                  <a:lnTo>
                    <a:pt x="32" y="13"/>
                  </a:lnTo>
                  <a:lnTo>
                    <a:pt x="28" y="7"/>
                  </a:lnTo>
                  <a:lnTo>
                    <a:pt x="23" y="0"/>
                  </a:lnTo>
                  <a:lnTo>
                    <a:pt x="17" y="2"/>
                  </a:lnTo>
                  <a:lnTo>
                    <a:pt x="11" y="5"/>
                  </a:lnTo>
                  <a:lnTo>
                    <a:pt x="6" y="7"/>
                  </a:lnTo>
                  <a:lnTo>
                    <a:pt x="0" y="9"/>
                  </a:lnTo>
                  <a:lnTo>
                    <a:pt x="6" y="17"/>
                  </a:lnTo>
                  <a:lnTo>
                    <a:pt x="11" y="24"/>
                  </a:lnTo>
                  <a:lnTo>
                    <a:pt x="17" y="32"/>
                  </a:lnTo>
                  <a:lnTo>
                    <a:pt x="23" y="40"/>
                  </a:lnTo>
                  <a:lnTo>
                    <a:pt x="30" y="47"/>
                  </a:lnTo>
                  <a:lnTo>
                    <a:pt x="36" y="54"/>
                  </a:lnTo>
                  <a:lnTo>
                    <a:pt x="43" y="61"/>
                  </a:lnTo>
                  <a:lnTo>
                    <a:pt x="49" y="68"/>
                  </a:lnTo>
                  <a:lnTo>
                    <a:pt x="55" y="73"/>
                  </a:lnTo>
                  <a:lnTo>
                    <a:pt x="61" y="77"/>
                  </a:lnTo>
                  <a:lnTo>
                    <a:pt x="67" y="82"/>
                  </a:lnTo>
                  <a:lnTo>
                    <a:pt x="73" y="86"/>
                  </a:lnTo>
                  <a:lnTo>
                    <a:pt x="78" y="90"/>
                  </a:lnTo>
                  <a:lnTo>
                    <a:pt x="85" y="94"/>
                  </a:lnTo>
                  <a:lnTo>
                    <a:pt x="91" y="99"/>
                  </a:lnTo>
                  <a:lnTo>
                    <a:pt x="94" y="101"/>
                  </a:lnTo>
                  <a:lnTo>
                    <a:pt x="98" y="104"/>
                  </a:lnTo>
                  <a:lnTo>
                    <a:pt x="104" y="106"/>
                  </a:lnTo>
                  <a:lnTo>
                    <a:pt x="111" y="111"/>
                  </a:lnTo>
                  <a:lnTo>
                    <a:pt x="120" y="115"/>
                  </a:lnTo>
                  <a:lnTo>
                    <a:pt x="128" y="120"/>
                  </a:lnTo>
                  <a:lnTo>
                    <a:pt x="136" y="124"/>
                  </a:lnTo>
                  <a:lnTo>
                    <a:pt x="142" y="127"/>
                  </a:lnTo>
                  <a:lnTo>
                    <a:pt x="145" y="129"/>
                  </a:lnTo>
                  <a:lnTo>
                    <a:pt x="147" y="130"/>
                  </a:lnTo>
                  <a:lnTo>
                    <a:pt x="152" y="132"/>
                  </a:lnTo>
                  <a:lnTo>
                    <a:pt x="157" y="135"/>
                  </a:lnTo>
                  <a:lnTo>
                    <a:pt x="164" y="137"/>
                  </a:lnTo>
                  <a:lnTo>
                    <a:pt x="168" y="139"/>
                  </a:lnTo>
                  <a:lnTo>
                    <a:pt x="179" y="143"/>
                  </a:lnTo>
                  <a:lnTo>
                    <a:pt x="189" y="146"/>
                  </a:lnTo>
                  <a:lnTo>
                    <a:pt x="195" y="149"/>
                  </a:lnTo>
                  <a:lnTo>
                    <a:pt x="204" y="151"/>
                  </a:lnTo>
                  <a:lnTo>
                    <a:pt x="210" y="153"/>
                  </a:lnTo>
                  <a:lnTo>
                    <a:pt x="214" y="153"/>
                  </a:lnTo>
                  <a:lnTo>
                    <a:pt x="217" y="154"/>
                  </a:lnTo>
                  <a:lnTo>
                    <a:pt x="219" y="156"/>
                  </a:lnTo>
                  <a:lnTo>
                    <a:pt x="222" y="156"/>
                  </a:lnTo>
                  <a:lnTo>
                    <a:pt x="225" y="157"/>
                  </a:lnTo>
                  <a:lnTo>
                    <a:pt x="228" y="157"/>
                  </a:lnTo>
                  <a:lnTo>
                    <a:pt x="234" y="158"/>
                  </a:lnTo>
                  <a:lnTo>
                    <a:pt x="238" y="159"/>
                  </a:lnTo>
                  <a:lnTo>
                    <a:pt x="244" y="160"/>
                  </a:lnTo>
                  <a:lnTo>
                    <a:pt x="249" y="161"/>
                  </a:lnTo>
                  <a:lnTo>
                    <a:pt x="261" y="162"/>
                  </a:lnTo>
                  <a:lnTo>
                    <a:pt x="270" y="164"/>
                  </a:lnTo>
                  <a:lnTo>
                    <a:pt x="275" y="164"/>
                  </a:lnTo>
                  <a:lnTo>
                    <a:pt x="279" y="165"/>
                  </a:lnTo>
                  <a:lnTo>
                    <a:pt x="288" y="165"/>
                  </a:lnTo>
                  <a:lnTo>
                    <a:pt x="296" y="166"/>
                  </a:lnTo>
                  <a:lnTo>
                    <a:pt x="303" y="166"/>
                  </a:lnTo>
                  <a:lnTo>
                    <a:pt x="308" y="166"/>
                  </a:lnTo>
                  <a:lnTo>
                    <a:pt x="311" y="166"/>
                  </a:lnTo>
                  <a:lnTo>
                    <a:pt x="313" y="166"/>
                  </a:lnTo>
                  <a:lnTo>
                    <a:pt x="314" y="166"/>
                  </a:lnTo>
                  <a:lnTo>
                    <a:pt x="316" y="166"/>
                  </a:lnTo>
                  <a:lnTo>
                    <a:pt x="318" y="166"/>
                  </a:lnTo>
                  <a:lnTo>
                    <a:pt x="320" y="166"/>
                  </a:lnTo>
                  <a:lnTo>
                    <a:pt x="323" y="166"/>
                  </a:lnTo>
                  <a:lnTo>
                    <a:pt x="325" y="166"/>
                  </a:lnTo>
                  <a:lnTo>
                    <a:pt x="341" y="166"/>
                  </a:lnTo>
                  <a:lnTo>
                    <a:pt x="357" y="165"/>
                  </a:lnTo>
                  <a:lnTo>
                    <a:pt x="374" y="164"/>
                  </a:lnTo>
                  <a:lnTo>
                    <a:pt x="392" y="161"/>
                  </a:lnTo>
                  <a:lnTo>
                    <a:pt x="410" y="158"/>
                  </a:lnTo>
                  <a:lnTo>
                    <a:pt x="428" y="154"/>
                  </a:lnTo>
                  <a:lnTo>
                    <a:pt x="447" y="151"/>
                  </a:lnTo>
                  <a:lnTo>
                    <a:pt x="464" y="146"/>
                  </a:lnTo>
                  <a:lnTo>
                    <a:pt x="481" y="142"/>
                  </a:lnTo>
                  <a:lnTo>
                    <a:pt x="499" y="136"/>
                  </a:lnTo>
                  <a:lnTo>
                    <a:pt x="515" y="130"/>
                  </a:lnTo>
                  <a:lnTo>
                    <a:pt x="530" y="123"/>
                  </a:lnTo>
                  <a:lnTo>
                    <a:pt x="544" y="116"/>
                  </a:lnTo>
                  <a:lnTo>
                    <a:pt x="556" y="109"/>
                  </a:lnTo>
                  <a:lnTo>
                    <a:pt x="568" y="101"/>
                  </a:lnTo>
                  <a:lnTo>
                    <a:pt x="577" y="93"/>
                  </a:lnTo>
                  <a:lnTo>
                    <a:pt x="572" y="90"/>
                  </a:lnTo>
                  <a:lnTo>
                    <a:pt x="567" y="85"/>
                  </a:lnTo>
                  <a:lnTo>
                    <a:pt x="560" y="79"/>
                  </a:lnTo>
                  <a:lnTo>
                    <a:pt x="553" y="74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59" name="Freeform 86"/>
            <p:cNvSpPr>
              <a:spLocks/>
            </p:cNvSpPr>
            <p:nvPr/>
          </p:nvSpPr>
          <p:spPr bwMode="auto">
            <a:xfrm>
              <a:off x="4074" y="3580"/>
              <a:ext cx="340" cy="200"/>
            </a:xfrm>
            <a:custGeom>
              <a:avLst/>
              <a:gdLst>
                <a:gd name="T0" fmla="*/ 167 w 681"/>
                <a:gd name="T1" fmla="*/ 22 h 401"/>
                <a:gd name="T2" fmla="*/ 164 w 681"/>
                <a:gd name="T3" fmla="*/ 22 h 401"/>
                <a:gd name="T4" fmla="*/ 158 w 681"/>
                <a:gd name="T5" fmla="*/ 26 h 401"/>
                <a:gd name="T6" fmla="*/ 144 w 681"/>
                <a:gd name="T7" fmla="*/ 32 h 401"/>
                <a:gd name="T8" fmla="*/ 128 w 681"/>
                <a:gd name="T9" fmla="*/ 37 h 401"/>
                <a:gd name="T10" fmla="*/ 111 w 681"/>
                <a:gd name="T11" fmla="*/ 39 h 401"/>
                <a:gd name="T12" fmla="*/ 102 w 681"/>
                <a:gd name="T13" fmla="*/ 39 h 401"/>
                <a:gd name="T14" fmla="*/ 99 w 681"/>
                <a:gd name="T15" fmla="*/ 39 h 401"/>
                <a:gd name="T16" fmla="*/ 90 w 681"/>
                <a:gd name="T17" fmla="*/ 38 h 401"/>
                <a:gd name="T18" fmla="*/ 83 w 681"/>
                <a:gd name="T19" fmla="*/ 37 h 401"/>
                <a:gd name="T20" fmla="*/ 79 w 681"/>
                <a:gd name="T21" fmla="*/ 37 h 401"/>
                <a:gd name="T22" fmla="*/ 79 w 681"/>
                <a:gd name="T23" fmla="*/ 37 h 401"/>
                <a:gd name="T24" fmla="*/ 77 w 681"/>
                <a:gd name="T25" fmla="*/ 36 h 401"/>
                <a:gd name="T26" fmla="*/ 71 w 681"/>
                <a:gd name="T27" fmla="*/ 35 h 401"/>
                <a:gd name="T28" fmla="*/ 68 w 681"/>
                <a:gd name="T29" fmla="*/ 33 h 401"/>
                <a:gd name="T30" fmla="*/ 63 w 681"/>
                <a:gd name="T31" fmla="*/ 32 h 401"/>
                <a:gd name="T32" fmla="*/ 58 w 681"/>
                <a:gd name="T33" fmla="*/ 29 h 401"/>
                <a:gd name="T34" fmla="*/ 51 w 681"/>
                <a:gd name="T35" fmla="*/ 26 h 401"/>
                <a:gd name="T36" fmla="*/ 45 w 681"/>
                <a:gd name="T37" fmla="*/ 22 h 401"/>
                <a:gd name="T38" fmla="*/ 42 w 681"/>
                <a:gd name="T39" fmla="*/ 20 h 401"/>
                <a:gd name="T40" fmla="*/ 35 w 681"/>
                <a:gd name="T41" fmla="*/ 15 h 401"/>
                <a:gd name="T42" fmla="*/ 26 w 681"/>
                <a:gd name="T43" fmla="*/ 5 h 401"/>
                <a:gd name="T44" fmla="*/ 22 w 681"/>
                <a:gd name="T45" fmla="*/ 0 h 401"/>
                <a:gd name="T46" fmla="*/ 19 w 681"/>
                <a:gd name="T47" fmla="*/ 1 h 401"/>
                <a:gd name="T48" fmla="*/ 13 w 681"/>
                <a:gd name="T49" fmla="*/ 5 h 401"/>
                <a:gd name="T50" fmla="*/ 11 w 681"/>
                <a:gd name="T51" fmla="*/ 8 h 401"/>
                <a:gd name="T52" fmla="*/ 4 w 681"/>
                <a:gd name="T53" fmla="*/ 48 h 401"/>
                <a:gd name="T54" fmla="*/ 0 w 681"/>
                <a:gd name="T55" fmla="*/ 75 h 401"/>
                <a:gd name="T56" fmla="*/ 3 w 681"/>
                <a:gd name="T57" fmla="*/ 79 h 401"/>
                <a:gd name="T58" fmla="*/ 20 w 681"/>
                <a:gd name="T59" fmla="*/ 69 h 401"/>
                <a:gd name="T60" fmla="*/ 44 w 681"/>
                <a:gd name="T61" fmla="*/ 63 h 401"/>
                <a:gd name="T62" fmla="*/ 52 w 681"/>
                <a:gd name="T63" fmla="*/ 62 h 401"/>
                <a:gd name="T64" fmla="*/ 57 w 681"/>
                <a:gd name="T65" fmla="*/ 61 h 401"/>
                <a:gd name="T66" fmla="*/ 65 w 681"/>
                <a:gd name="T67" fmla="*/ 61 h 401"/>
                <a:gd name="T68" fmla="*/ 66 w 681"/>
                <a:gd name="T69" fmla="*/ 61 h 401"/>
                <a:gd name="T70" fmla="*/ 66 w 681"/>
                <a:gd name="T71" fmla="*/ 61 h 401"/>
                <a:gd name="T72" fmla="*/ 71 w 681"/>
                <a:gd name="T73" fmla="*/ 61 h 401"/>
                <a:gd name="T74" fmla="*/ 75 w 681"/>
                <a:gd name="T75" fmla="*/ 61 h 401"/>
                <a:gd name="T76" fmla="*/ 80 w 681"/>
                <a:gd name="T77" fmla="*/ 61 h 401"/>
                <a:gd name="T78" fmla="*/ 84 w 681"/>
                <a:gd name="T79" fmla="*/ 62 h 401"/>
                <a:gd name="T80" fmla="*/ 89 w 681"/>
                <a:gd name="T81" fmla="*/ 63 h 401"/>
                <a:gd name="T82" fmla="*/ 90 w 681"/>
                <a:gd name="T83" fmla="*/ 63 h 401"/>
                <a:gd name="T84" fmla="*/ 90 w 681"/>
                <a:gd name="T85" fmla="*/ 63 h 401"/>
                <a:gd name="T86" fmla="*/ 90 w 681"/>
                <a:gd name="T87" fmla="*/ 63 h 401"/>
                <a:gd name="T88" fmla="*/ 95 w 681"/>
                <a:gd name="T89" fmla="*/ 64 h 401"/>
                <a:gd name="T90" fmla="*/ 100 w 681"/>
                <a:gd name="T91" fmla="*/ 65 h 401"/>
                <a:gd name="T92" fmla="*/ 106 w 681"/>
                <a:gd name="T93" fmla="*/ 67 h 401"/>
                <a:gd name="T94" fmla="*/ 111 w 681"/>
                <a:gd name="T95" fmla="*/ 70 h 401"/>
                <a:gd name="T96" fmla="*/ 115 w 681"/>
                <a:gd name="T97" fmla="*/ 72 h 401"/>
                <a:gd name="T98" fmla="*/ 120 w 681"/>
                <a:gd name="T99" fmla="*/ 74 h 401"/>
                <a:gd name="T100" fmla="*/ 125 w 681"/>
                <a:gd name="T101" fmla="*/ 77 h 401"/>
                <a:gd name="T102" fmla="*/ 129 w 681"/>
                <a:gd name="T103" fmla="*/ 81 h 401"/>
                <a:gd name="T104" fmla="*/ 135 w 681"/>
                <a:gd name="T105" fmla="*/ 86 h 401"/>
                <a:gd name="T106" fmla="*/ 141 w 681"/>
                <a:gd name="T107" fmla="*/ 92 h 401"/>
                <a:gd name="T108" fmla="*/ 143 w 681"/>
                <a:gd name="T109" fmla="*/ 94 h 401"/>
                <a:gd name="T110" fmla="*/ 146 w 681"/>
                <a:gd name="T111" fmla="*/ 98 h 401"/>
                <a:gd name="T112" fmla="*/ 151 w 681"/>
                <a:gd name="T113" fmla="*/ 98 h 401"/>
                <a:gd name="T114" fmla="*/ 157 w 681"/>
                <a:gd name="T115" fmla="*/ 95 h 401"/>
                <a:gd name="T116" fmla="*/ 159 w 681"/>
                <a:gd name="T117" fmla="*/ 91 h 401"/>
                <a:gd name="T118" fmla="*/ 166 w 681"/>
                <a:gd name="T119" fmla="*/ 51 h 401"/>
                <a:gd name="T120" fmla="*/ 170 w 681"/>
                <a:gd name="T121" fmla="*/ 24 h 401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681"/>
                <a:gd name="T184" fmla="*/ 0 h 401"/>
                <a:gd name="T185" fmla="*/ 681 w 681"/>
                <a:gd name="T186" fmla="*/ 401 h 401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681" h="401">
                  <a:moveTo>
                    <a:pt x="681" y="98"/>
                  </a:moveTo>
                  <a:lnTo>
                    <a:pt x="677" y="95"/>
                  </a:lnTo>
                  <a:lnTo>
                    <a:pt x="674" y="91"/>
                  </a:lnTo>
                  <a:lnTo>
                    <a:pt x="671" y="88"/>
                  </a:lnTo>
                  <a:lnTo>
                    <a:pt x="667" y="84"/>
                  </a:lnTo>
                  <a:lnTo>
                    <a:pt x="665" y="87"/>
                  </a:lnTo>
                  <a:lnTo>
                    <a:pt x="662" y="88"/>
                  </a:lnTo>
                  <a:lnTo>
                    <a:pt x="659" y="90"/>
                  </a:lnTo>
                  <a:lnTo>
                    <a:pt x="657" y="92"/>
                  </a:lnTo>
                  <a:lnTo>
                    <a:pt x="646" y="99"/>
                  </a:lnTo>
                  <a:lnTo>
                    <a:pt x="635" y="106"/>
                  </a:lnTo>
                  <a:lnTo>
                    <a:pt x="622" y="113"/>
                  </a:lnTo>
                  <a:lnTo>
                    <a:pt x="608" y="120"/>
                  </a:lnTo>
                  <a:lnTo>
                    <a:pt x="593" y="125"/>
                  </a:lnTo>
                  <a:lnTo>
                    <a:pt x="578" y="130"/>
                  </a:lnTo>
                  <a:lnTo>
                    <a:pt x="562" y="135"/>
                  </a:lnTo>
                  <a:lnTo>
                    <a:pt x="545" y="140"/>
                  </a:lnTo>
                  <a:lnTo>
                    <a:pt x="529" y="144"/>
                  </a:lnTo>
                  <a:lnTo>
                    <a:pt x="512" y="148"/>
                  </a:lnTo>
                  <a:lnTo>
                    <a:pt x="494" y="150"/>
                  </a:lnTo>
                  <a:lnTo>
                    <a:pt x="477" y="152"/>
                  </a:lnTo>
                  <a:lnTo>
                    <a:pt x="461" y="155"/>
                  </a:lnTo>
                  <a:lnTo>
                    <a:pt x="445" y="156"/>
                  </a:lnTo>
                  <a:lnTo>
                    <a:pt x="430" y="157"/>
                  </a:lnTo>
                  <a:lnTo>
                    <a:pt x="415" y="157"/>
                  </a:lnTo>
                  <a:lnTo>
                    <a:pt x="413" y="157"/>
                  </a:lnTo>
                  <a:lnTo>
                    <a:pt x="410" y="157"/>
                  </a:lnTo>
                  <a:lnTo>
                    <a:pt x="408" y="157"/>
                  </a:lnTo>
                  <a:lnTo>
                    <a:pt x="406" y="157"/>
                  </a:lnTo>
                  <a:lnTo>
                    <a:pt x="403" y="157"/>
                  </a:lnTo>
                  <a:lnTo>
                    <a:pt x="396" y="157"/>
                  </a:lnTo>
                  <a:lnTo>
                    <a:pt x="388" y="156"/>
                  </a:lnTo>
                  <a:lnTo>
                    <a:pt x="379" y="155"/>
                  </a:lnTo>
                  <a:lnTo>
                    <a:pt x="369" y="155"/>
                  </a:lnTo>
                  <a:lnTo>
                    <a:pt x="361" y="153"/>
                  </a:lnTo>
                  <a:lnTo>
                    <a:pt x="354" y="153"/>
                  </a:lnTo>
                  <a:lnTo>
                    <a:pt x="351" y="153"/>
                  </a:lnTo>
                  <a:lnTo>
                    <a:pt x="343" y="152"/>
                  </a:lnTo>
                  <a:lnTo>
                    <a:pt x="335" y="151"/>
                  </a:lnTo>
                  <a:lnTo>
                    <a:pt x="326" y="149"/>
                  </a:lnTo>
                  <a:lnTo>
                    <a:pt x="318" y="148"/>
                  </a:lnTo>
                  <a:lnTo>
                    <a:pt x="313" y="148"/>
                  </a:lnTo>
                  <a:lnTo>
                    <a:pt x="309" y="145"/>
                  </a:lnTo>
                  <a:lnTo>
                    <a:pt x="304" y="144"/>
                  </a:lnTo>
                  <a:lnTo>
                    <a:pt x="301" y="144"/>
                  </a:lnTo>
                  <a:lnTo>
                    <a:pt x="293" y="142"/>
                  </a:lnTo>
                  <a:lnTo>
                    <a:pt x="287" y="140"/>
                  </a:lnTo>
                  <a:lnTo>
                    <a:pt x="281" y="138"/>
                  </a:lnTo>
                  <a:lnTo>
                    <a:pt x="278" y="137"/>
                  </a:lnTo>
                  <a:lnTo>
                    <a:pt x="275" y="136"/>
                  </a:lnTo>
                  <a:lnTo>
                    <a:pt x="273" y="135"/>
                  </a:lnTo>
                  <a:lnTo>
                    <a:pt x="271" y="135"/>
                  </a:lnTo>
                  <a:lnTo>
                    <a:pt x="269" y="134"/>
                  </a:lnTo>
                  <a:lnTo>
                    <a:pt x="263" y="132"/>
                  </a:lnTo>
                  <a:lnTo>
                    <a:pt x="255" y="128"/>
                  </a:lnTo>
                  <a:lnTo>
                    <a:pt x="245" y="125"/>
                  </a:lnTo>
                  <a:lnTo>
                    <a:pt x="240" y="122"/>
                  </a:lnTo>
                  <a:lnTo>
                    <a:pt x="237" y="121"/>
                  </a:lnTo>
                  <a:lnTo>
                    <a:pt x="233" y="119"/>
                  </a:lnTo>
                  <a:lnTo>
                    <a:pt x="226" y="115"/>
                  </a:lnTo>
                  <a:lnTo>
                    <a:pt x="218" y="111"/>
                  </a:lnTo>
                  <a:lnTo>
                    <a:pt x="211" y="107"/>
                  </a:lnTo>
                  <a:lnTo>
                    <a:pt x="204" y="104"/>
                  </a:lnTo>
                  <a:lnTo>
                    <a:pt x="199" y="102"/>
                  </a:lnTo>
                  <a:lnTo>
                    <a:pt x="197" y="100"/>
                  </a:lnTo>
                  <a:lnTo>
                    <a:pt x="188" y="95"/>
                  </a:lnTo>
                  <a:lnTo>
                    <a:pt x="182" y="91"/>
                  </a:lnTo>
                  <a:lnTo>
                    <a:pt x="179" y="89"/>
                  </a:lnTo>
                  <a:lnTo>
                    <a:pt x="177" y="88"/>
                  </a:lnTo>
                  <a:lnTo>
                    <a:pt x="174" y="85"/>
                  </a:lnTo>
                  <a:lnTo>
                    <a:pt x="171" y="82"/>
                  </a:lnTo>
                  <a:lnTo>
                    <a:pt x="166" y="80"/>
                  </a:lnTo>
                  <a:lnTo>
                    <a:pt x="163" y="77"/>
                  </a:lnTo>
                  <a:lnTo>
                    <a:pt x="152" y="69"/>
                  </a:lnTo>
                  <a:lnTo>
                    <a:pt x="142" y="60"/>
                  </a:lnTo>
                  <a:lnTo>
                    <a:pt x="133" y="51"/>
                  </a:lnTo>
                  <a:lnTo>
                    <a:pt x="123" y="42"/>
                  </a:lnTo>
                  <a:lnTo>
                    <a:pt x="114" y="31"/>
                  </a:lnTo>
                  <a:lnTo>
                    <a:pt x="106" y="21"/>
                  </a:lnTo>
                  <a:lnTo>
                    <a:pt x="98" y="11"/>
                  </a:lnTo>
                  <a:lnTo>
                    <a:pt x="90" y="0"/>
                  </a:lnTo>
                  <a:lnTo>
                    <a:pt x="89" y="1"/>
                  </a:lnTo>
                  <a:lnTo>
                    <a:pt x="88" y="1"/>
                  </a:lnTo>
                  <a:lnTo>
                    <a:pt x="82" y="4"/>
                  </a:lnTo>
                  <a:lnTo>
                    <a:pt x="76" y="6"/>
                  </a:lnTo>
                  <a:lnTo>
                    <a:pt x="69" y="8"/>
                  </a:lnTo>
                  <a:lnTo>
                    <a:pt x="63" y="12"/>
                  </a:lnTo>
                  <a:lnTo>
                    <a:pt x="58" y="15"/>
                  </a:lnTo>
                  <a:lnTo>
                    <a:pt x="53" y="20"/>
                  </a:lnTo>
                  <a:lnTo>
                    <a:pt x="48" y="24"/>
                  </a:lnTo>
                  <a:lnTo>
                    <a:pt x="46" y="31"/>
                  </a:lnTo>
                  <a:lnTo>
                    <a:pt x="45" y="32"/>
                  </a:lnTo>
                  <a:lnTo>
                    <a:pt x="44" y="35"/>
                  </a:lnTo>
                  <a:lnTo>
                    <a:pt x="43" y="36"/>
                  </a:lnTo>
                  <a:lnTo>
                    <a:pt x="42" y="38"/>
                  </a:lnTo>
                  <a:lnTo>
                    <a:pt x="15" y="194"/>
                  </a:lnTo>
                  <a:lnTo>
                    <a:pt x="16" y="195"/>
                  </a:lnTo>
                  <a:lnTo>
                    <a:pt x="17" y="195"/>
                  </a:lnTo>
                  <a:lnTo>
                    <a:pt x="0" y="303"/>
                  </a:lnTo>
                  <a:lnTo>
                    <a:pt x="4" y="307"/>
                  </a:lnTo>
                  <a:lnTo>
                    <a:pt x="7" y="310"/>
                  </a:lnTo>
                  <a:lnTo>
                    <a:pt x="10" y="314"/>
                  </a:lnTo>
                  <a:lnTo>
                    <a:pt x="14" y="317"/>
                  </a:lnTo>
                  <a:lnTo>
                    <a:pt x="27" y="307"/>
                  </a:lnTo>
                  <a:lnTo>
                    <a:pt x="43" y="296"/>
                  </a:lnTo>
                  <a:lnTo>
                    <a:pt x="61" y="286"/>
                  </a:lnTo>
                  <a:lnTo>
                    <a:pt x="82" y="278"/>
                  </a:lnTo>
                  <a:lnTo>
                    <a:pt x="105" y="270"/>
                  </a:lnTo>
                  <a:lnTo>
                    <a:pt x="128" y="263"/>
                  </a:lnTo>
                  <a:lnTo>
                    <a:pt x="153" y="257"/>
                  </a:lnTo>
                  <a:lnTo>
                    <a:pt x="177" y="253"/>
                  </a:lnTo>
                  <a:lnTo>
                    <a:pt x="183" y="251"/>
                  </a:lnTo>
                  <a:lnTo>
                    <a:pt x="195" y="250"/>
                  </a:lnTo>
                  <a:lnTo>
                    <a:pt x="205" y="249"/>
                  </a:lnTo>
                  <a:lnTo>
                    <a:pt x="211" y="248"/>
                  </a:lnTo>
                  <a:lnTo>
                    <a:pt x="218" y="247"/>
                  </a:lnTo>
                  <a:lnTo>
                    <a:pt x="222" y="247"/>
                  </a:lnTo>
                  <a:lnTo>
                    <a:pt x="226" y="247"/>
                  </a:lnTo>
                  <a:lnTo>
                    <a:pt x="228" y="247"/>
                  </a:lnTo>
                  <a:lnTo>
                    <a:pt x="236" y="246"/>
                  </a:lnTo>
                  <a:lnTo>
                    <a:pt x="245" y="246"/>
                  </a:lnTo>
                  <a:lnTo>
                    <a:pt x="254" y="244"/>
                  </a:lnTo>
                  <a:lnTo>
                    <a:pt x="262" y="244"/>
                  </a:lnTo>
                  <a:lnTo>
                    <a:pt x="263" y="244"/>
                  </a:lnTo>
                  <a:lnTo>
                    <a:pt x="264" y="244"/>
                  </a:lnTo>
                  <a:lnTo>
                    <a:pt x="265" y="244"/>
                  </a:lnTo>
                  <a:lnTo>
                    <a:pt x="266" y="244"/>
                  </a:lnTo>
                  <a:lnTo>
                    <a:pt x="272" y="244"/>
                  </a:lnTo>
                  <a:lnTo>
                    <a:pt x="277" y="244"/>
                  </a:lnTo>
                  <a:lnTo>
                    <a:pt x="281" y="244"/>
                  </a:lnTo>
                  <a:lnTo>
                    <a:pt x="286" y="244"/>
                  </a:lnTo>
                  <a:lnTo>
                    <a:pt x="290" y="244"/>
                  </a:lnTo>
                  <a:lnTo>
                    <a:pt x="295" y="244"/>
                  </a:lnTo>
                  <a:lnTo>
                    <a:pt x="298" y="246"/>
                  </a:lnTo>
                  <a:lnTo>
                    <a:pt x="302" y="246"/>
                  </a:lnTo>
                  <a:lnTo>
                    <a:pt x="307" y="246"/>
                  </a:lnTo>
                  <a:lnTo>
                    <a:pt x="312" y="246"/>
                  </a:lnTo>
                  <a:lnTo>
                    <a:pt x="318" y="247"/>
                  </a:lnTo>
                  <a:lnTo>
                    <a:pt x="321" y="247"/>
                  </a:lnTo>
                  <a:lnTo>
                    <a:pt x="320" y="247"/>
                  </a:lnTo>
                  <a:lnTo>
                    <a:pt x="326" y="248"/>
                  </a:lnTo>
                  <a:lnTo>
                    <a:pt x="332" y="248"/>
                  </a:lnTo>
                  <a:lnTo>
                    <a:pt x="336" y="248"/>
                  </a:lnTo>
                  <a:lnTo>
                    <a:pt x="342" y="249"/>
                  </a:lnTo>
                  <a:lnTo>
                    <a:pt x="347" y="250"/>
                  </a:lnTo>
                  <a:lnTo>
                    <a:pt x="353" y="251"/>
                  </a:lnTo>
                  <a:lnTo>
                    <a:pt x="358" y="253"/>
                  </a:lnTo>
                  <a:lnTo>
                    <a:pt x="362" y="253"/>
                  </a:lnTo>
                  <a:lnTo>
                    <a:pt x="363" y="253"/>
                  </a:lnTo>
                  <a:lnTo>
                    <a:pt x="363" y="254"/>
                  </a:lnTo>
                  <a:lnTo>
                    <a:pt x="369" y="255"/>
                  </a:lnTo>
                  <a:lnTo>
                    <a:pt x="376" y="256"/>
                  </a:lnTo>
                  <a:lnTo>
                    <a:pt x="383" y="257"/>
                  </a:lnTo>
                  <a:lnTo>
                    <a:pt x="386" y="258"/>
                  </a:lnTo>
                  <a:lnTo>
                    <a:pt x="391" y="259"/>
                  </a:lnTo>
                  <a:lnTo>
                    <a:pt x="395" y="261"/>
                  </a:lnTo>
                  <a:lnTo>
                    <a:pt x="400" y="263"/>
                  </a:lnTo>
                  <a:lnTo>
                    <a:pt x="404" y="264"/>
                  </a:lnTo>
                  <a:lnTo>
                    <a:pt x="409" y="266"/>
                  </a:lnTo>
                  <a:lnTo>
                    <a:pt x="416" y="269"/>
                  </a:lnTo>
                  <a:lnTo>
                    <a:pt x="424" y="271"/>
                  </a:lnTo>
                  <a:lnTo>
                    <a:pt x="427" y="273"/>
                  </a:lnTo>
                  <a:lnTo>
                    <a:pt x="432" y="274"/>
                  </a:lnTo>
                  <a:lnTo>
                    <a:pt x="438" y="277"/>
                  </a:lnTo>
                  <a:lnTo>
                    <a:pt x="444" y="280"/>
                  </a:lnTo>
                  <a:lnTo>
                    <a:pt x="446" y="281"/>
                  </a:lnTo>
                  <a:lnTo>
                    <a:pt x="451" y="284"/>
                  </a:lnTo>
                  <a:lnTo>
                    <a:pt x="456" y="286"/>
                  </a:lnTo>
                  <a:lnTo>
                    <a:pt x="462" y="289"/>
                  </a:lnTo>
                  <a:lnTo>
                    <a:pt x="464" y="291"/>
                  </a:lnTo>
                  <a:lnTo>
                    <a:pt x="470" y="293"/>
                  </a:lnTo>
                  <a:lnTo>
                    <a:pt x="476" y="296"/>
                  </a:lnTo>
                  <a:lnTo>
                    <a:pt x="482" y="299"/>
                  </a:lnTo>
                  <a:lnTo>
                    <a:pt x="484" y="301"/>
                  </a:lnTo>
                  <a:lnTo>
                    <a:pt x="490" y="304"/>
                  </a:lnTo>
                  <a:lnTo>
                    <a:pt x="495" y="308"/>
                  </a:lnTo>
                  <a:lnTo>
                    <a:pt x="500" y="311"/>
                  </a:lnTo>
                  <a:lnTo>
                    <a:pt x="504" y="312"/>
                  </a:lnTo>
                  <a:lnTo>
                    <a:pt x="509" y="317"/>
                  </a:lnTo>
                  <a:lnTo>
                    <a:pt x="514" y="321"/>
                  </a:lnTo>
                  <a:lnTo>
                    <a:pt x="518" y="324"/>
                  </a:lnTo>
                  <a:lnTo>
                    <a:pt x="522" y="326"/>
                  </a:lnTo>
                  <a:lnTo>
                    <a:pt x="529" y="332"/>
                  </a:lnTo>
                  <a:lnTo>
                    <a:pt x="536" y="338"/>
                  </a:lnTo>
                  <a:lnTo>
                    <a:pt x="543" y="344"/>
                  </a:lnTo>
                  <a:lnTo>
                    <a:pt x="550" y="349"/>
                  </a:lnTo>
                  <a:lnTo>
                    <a:pt x="555" y="356"/>
                  </a:lnTo>
                  <a:lnTo>
                    <a:pt x="561" y="363"/>
                  </a:lnTo>
                  <a:lnTo>
                    <a:pt x="567" y="370"/>
                  </a:lnTo>
                  <a:lnTo>
                    <a:pt x="573" y="377"/>
                  </a:lnTo>
                  <a:lnTo>
                    <a:pt x="574" y="378"/>
                  </a:lnTo>
                  <a:lnTo>
                    <a:pt x="575" y="379"/>
                  </a:lnTo>
                  <a:lnTo>
                    <a:pt x="580" y="385"/>
                  </a:lnTo>
                  <a:lnTo>
                    <a:pt x="584" y="393"/>
                  </a:lnTo>
                  <a:lnTo>
                    <a:pt x="589" y="399"/>
                  </a:lnTo>
                  <a:lnTo>
                    <a:pt x="591" y="401"/>
                  </a:lnTo>
                  <a:lnTo>
                    <a:pt x="597" y="399"/>
                  </a:lnTo>
                  <a:lnTo>
                    <a:pt x="604" y="395"/>
                  </a:lnTo>
                  <a:lnTo>
                    <a:pt x="609" y="393"/>
                  </a:lnTo>
                  <a:lnTo>
                    <a:pt x="616" y="390"/>
                  </a:lnTo>
                  <a:lnTo>
                    <a:pt x="622" y="386"/>
                  </a:lnTo>
                  <a:lnTo>
                    <a:pt x="628" y="382"/>
                  </a:lnTo>
                  <a:lnTo>
                    <a:pt x="631" y="377"/>
                  </a:lnTo>
                  <a:lnTo>
                    <a:pt x="635" y="370"/>
                  </a:lnTo>
                  <a:lnTo>
                    <a:pt x="636" y="368"/>
                  </a:lnTo>
                  <a:lnTo>
                    <a:pt x="637" y="367"/>
                  </a:lnTo>
                  <a:lnTo>
                    <a:pt x="638" y="364"/>
                  </a:lnTo>
                  <a:lnTo>
                    <a:pt x="639" y="363"/>
                  </a:lnTo>
                  <a:lnTo>
                    <a:pt x="666" y="208"/>
                  </a:lnTo>
                  <a:lnTo>
                    <a:pt x="665" y="206"/>
                  </a:lnTo>
                  <a:lnTo>
                    <a:pt x="664" y="206"/>
                  </a:lnTo>
                  <a:lnTo>
                    <a:pt x="681" y="98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60" name="Freeform 87"/>
            <p:cNvSpPr>
              <a:spLocks/>
            </p:cNvSpPr>
            <p:nvPr/>
          </p:nvSpPr>
          <p:spPr bwMode="auto">
            <a:xfrm>
              <a:off x="4294" y="3473"/>
              <a:ext cx="63" cy="122"/>
            </a:xfrm>
            <a:custGeom>
              <a:avLst/>
              <a:gdLst>
                <a:gd name="T0" fmla="*/ 1 w 127"/>
                <a:gd name="T1" fmla="*/ 11 h 244"/>
                <a:gd name="T2" fmla="*/ 1 w 127"/>
                <a:gd name="T3" fmla="*/ 11 h 244"/>
                <a:gd name="T4" fmla="*/ 0 w 127"/>
                <a:gd name="T5" fmla="*/ 12 h 244"/>
                <a:gd name="T6" fmla="*/ 0 w 127"/>
                <a:gd name="T7" fmla="*/ 13 h 244"/>
                <a:gd name="T8" fmla="*/ 0 w 127"/>
                <a:gd name="T9" fmla="*/ 14 h 244"/>
                <a:gd name="T10" fmla="*/ 0 w 127"/>
                <a:gd name="T11" fmla="*/ 15 h 244"/>
                <a:gd name="T12" fmla="*/ 0 w 127"/>
                <a:gd name="T13" fmla="*/ 16 h 244"/>
                <a:gd name="T14" fmla="*/ 0 w 127"/>
                <a:gd name="T15" fmla="*/ 18 h 244"/>
                <a:gd name="T16" fmla="*/ 0 w 127"/>
                <a:gd name="T17" fmla="*/ 19 h 244"/>
                <a:gd name="T18" fmla="*/ 0 w 127"/>
                <a:gd name="T19" fmla="*/ 21 h 244"/>
                <a:gd name="T20" fmla="*/ 0 w 127"/>
                <a:gd name="T21" fmla="*/ 23 h 244"/>
                <a:gd name="T22" fmla="*/ 0 w 127"/>
                <a:gd name="T23" fmla="*/ 27 h 244"/>
                <a:gd name="T24" fmla="*/ 1 w 127"/>
                <a:gd name="T25" fmla="*/ 29 h 244"/>
                <a:gd name="T26" fmla="*/ 1 w 127"/>
                <a:gd name="T27" fmla="*/ 29 h 244"/>
                <a:gd name="T28" fmla="*/ 1 w 127"/>
                <a:gd name="T29" fmla="*/ 29 h 244"/>
                <a:gd name="T30" fmla="*/ 1 w 127"/>
                <a:gd name="T31" fmla="*/ 29 h 244"/>
                <a:gd name="T32" fmla="*/ 1 w 127"/>
                <a:gd name="T33" fmla="*/ 29 h 244"/>
                <a:gd name="T34" fmla="*/ 1 w 127"/>
                <a:gd name="T35" fmla="*/ 31 h 244"/>
                <a:gd name="T36" fmla="*/ 2 w 127"/>
                <a:gd name="T37" fmla="*/ 35 h 244"/>
                <a:gd name="T38" fmla="*/ 4 w 127"/>
                <a:gd name="T39" fmla="*/ 39 h 244"/>
                <a:gd name="T40" fmla="*/ 6 w 127"/>
                <a:gd name="T41" fmla="*/ 43 h 244"/>
                <a:gd name="T42" fmla="*/ 7 w 127"/>
                <a:gd name="T43" fmla="*/ 45 h 244"/>
                <a:gd name="T44" fmla="*/ 8 w 127"/>
                <a:gd name="T45" fmla="*/ 47 h 244"/>
                <a:gd name="T46" fmla="*/ 9 w 127"/>
                <a:gd name="T47" fmla="*/ 48 h 244"/>
                <a:gd name="T48" fmla="*/ 11 w 127"/>
                <a:gd name="T49" fmla="*/ 50 h 244"/>
                <a:gd name="T50" fmla="*/ 11 w 127"/>
                <a:gd name="T51" fmla="*/ 50 h 244"/>
                <a:gd name="T52" fmla="*/ 12 w 127"/>
                <a:gd name="T53" fmla="*/ 51 h 244"/>
                <a:gd name="T54" fmla="*/ 13 w 127"/>
                <a:gd name="T55" fmla="*/ 51 h 244"/>
                <a:gd name="T56" fmla="*/ 14 w 127"/>
                <a:gd name="T57" fmla="*/ 51 h 244"/>
                <a:gd name="T58" fmla="*/ 16 w 127"/>
                <a:gd name="T59" fmla="*/ 54 h 244"/>
                <a:gd name="T60" fmla="*/ 18 w 127"/>
                <a:gd name="T61" fmla="*/ 56 h 244"/>
                <a:gd name="T62" fmla="*/ 20 w 127"/>
                <a:gd name="T63" fmla="*/ 58 h 244"/>
                <a:gd name="T64" fmla="*/ 22 w 127"/>
                <a:gd name="T65" fmla="*/ 60 h 244"/>
                <a:gd name="T66" fmla="*/ 24 w 127"/>
                <a:gd name="T67" fmla="*/ 61 h 244"/>
                <a:gd name="T68" fmla="*/ 26 w 127"/>
                <a:gd name="T69" fmla="*/ 61 h 244"/>
                <a:gd name="T70" fmla="*/ 29 w 127"/>
                <a:gd name="T71" fmla="*/ 61 h 244"/>
                <a:gd name="T72" fmla="*/ 31 w 127"/>
                <a:gd name="T73" fmla="*/ 60 h 244"/>
                <a:gd name="T74" fmla="*/ 30 w 127"/>
                <a:gd name="T75" fmla="*/ 58 h 244"/>
                <a:gd name="T76" fmla="*/ 28 w 127"/>
                <a:gd name="T77" fmla="*/ 56 h 244"/>
                <a:gd name="T78" fmla="*/ 26 w 127"/>
                <a:gd name="T79" fmla="*/ 54 h 244"/>
                <a:gd name="T80" fmla="*/ 25 w 127"/>
                <a:gd name="T81" fmla="*/ 52 h 244"/>
                <a:gd name="T82" fmla="*/ 23 w 127"/>
                <a:gd name="T83" fmla="*/ 48 h 244"/>
                <a:gd name="T84" fmla="*/ 22 w 127"/>
                <a:gd name="T85" fmla="*/ 45 h 244"/>
                <a:gd name="T86" fmla="*/ 21 w 127"/>
                <a:gd name="T87" fmla="*/ 42 h 244"/>
                <a:gd name="T88" fmla="*/ 19 w 127"/>
                <a:gd name="T89" fmla="*/ 39 h 244"/>
                <a:gd name="T90" fmla="*/ 18 w 127"/>
                <a:gd name="T91" fmla="*/ 35 h 244"/>
                <a:gd name="T92" fmla="*/ 16 w 127"/>
                <a:gd name="T93" fmla="*/ 29 h 244"/>
                <a:gd name="T94" fmla="*/ 14 w 127"/>
                <a:gd name="T95" fmla="*/ 23 h 244"/>
                <a:gd name="T96" fmla="*/ 12 w 127"/>
                <a:gd name="T97" fmla="*/ 17 h 244"/>
                <a:gd name="T98" fmla="*/ 10 w 127"/>
                <a:gd name="T99" fmla="*/ 11 h 244"/>
                <a:gd name="T100" fmla="*/ 8 w 127"/>
                <a:gd name="T101" fmla="*/ 6 h 244"/>
                <a:gd name="T102" fmla="*/ 7 w 127"/>
                <a:gd name="T103" fmla="*/ 2 h 244"/>
                <a:gd name="T104" fmla="*/ 6 w 127"/>
                <a:gd name="T105" fmla="*/ 0 h 244"/>
                <a:gd name="T106" fmla="*/ 3 w 127"/>
                <a:gd name="T107" fmla="*/ 6 h 244"/>
                <a:gd name="T108" fmla="*/ 1 w 127"/>
                <a:gd name="T109" fmla="*/ 9 h 244"/>
                <a:gd name="T110" fmla="*/ 1 w 127"/>
                <a:gd name="T111" fmla="*/ 10 h 244"/>
                <a:gd name="T112" fmla="*/ 1 w 127"/>
                <a:gd name="T113" fmla="*/ 11 h 2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27"/>
                <a:gd name="T172" fmla="*/ 0 h 244"/>
                <a:gd name="T173" fmla="*/ 127 w 127"/>
                <a:gd name="T174" fmla="*/ 244 h 24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27" h="244">
                  <a:moveTo>
                    <a:pt x="4" y="41"/>
                  </a:moveTo>
                  <a:lnTo>
                    <a:pt x="4" y="44"/>
                  </a:lnTo>
                  <a:lnTo>
                    <a:pt x="2" y="47"/>
                  </a:lnTo>
                  <a:lnTo>
                    <a:pt x="1" y="52"/>
                  </a:lnTo>
                  <a:lnTo>
                    <a:pt x="1" y="54"/>
                  </a:lnTo>
                  <a:lnTo>
                    <a:pt x="0" y="59"/>
                  </a:lnTo>
                  <a:lnTo>
                    <a:pt x="0" y="64"/>
                  </a:lnTo>
                  <a:lnTo>
                    <a:pt x="0" y="69"/>
                  </a:lnTo>
                  <a:lnTo>
                    <a:pt x="0" y="75"/>
                  </a:lnTo>
                  <a:lnTo>
                    <a:pt x="0" y="81"/>
                  </a:lnTo>
                  <a:lnTo>
                    <a:pt x="1" y="91"/>
                  </a:lnTo>
                  <a:lnTo>
                    <a:pt x="2" y="105"/>
                  </a:lnTo>
                  <a:lnTo>
                    <a:pt x="5" y="115"/>
                  </a:lnTo>
                  <a:lnTo>
                    <a:pt x="7" y="123"/>
                  </a:lnTo>
                  <a:lnTo>
                    <a:pt x="11" y="137"/>
                  </a:lnTo>
                  <a:lnTo>
                    <a:pt x="16" y="153"/>
                  </a:lnTo>
                  <a:lnTo>
                    <a:pt x="25" y="171"/>
                  </a:lnTo>
                  <a:lnTo>
                    <a:pt x="30" y="179"/>
                  </a:lnTo>
                  <a:lnTo>
                    <a:pt x="35" y="185"/>
                  </a:lnTo>
                  <a:lnTo>
                    <a:pt x="39" y="192"/>
                  </a:lnTo>
                  <a:lnTo>
                    <a:pt x="44" y="199"/>
                  </a:lnTo>
                  <a:lnTo>
                    <a:pt x="46" y="200"/>
                  </a:lnTo>
                  <a:lnTo>
                    <a:pt x="51" y="202"/>
                  </a:lnTo>
                  <a:lnTo>
                    <a:pt x="54" y="203"/>
                  </a:lnTo>
                  <a:lnTo>
                    <a:pt x="58" y="204"/>
                  </a:lnTo>
                  <a:lnTo>
                    <a:pt x="64" y="213"/>
                  </a:lnTo>
                  <a:lnTo>
                    <a:pt x="72" y="222"/>
                  </a:lnTo>
                  <a:lnTo>
                    <a:pt x="80" y="230"/>
                  </a:lnTo>
                  <a:lnTo>
                    <a:pt x="89" y="237"/>
                  </a:lnTo>
                  <a:lnTo>
                    <a:pt x="98" y="242"/>
                  </a:lnTo>
                  <a:lnTo>
                    <a:pt x="107" y="244"/>
                  </a:lnTo>
                  <a:lnTo>
                    <a:pt x="118" y="244"/>
                  </a:lnTo>
                  <a:lnTo>
                    <a:pt x="127" y="240"/>
                  </a:lnTo>
                  <a:lnTo>
                    <a:pt x="120" y="232"/>
                  </a:lnTo>
                  <a:lnTo>
                    <a:pt x="114" y="224"/>
                  </a:lnTo>
                  <a:lnTo>
                    <a:pt x="107" y="214"/>
                  </a:lnTo>
                  <a:lnTo>
                    <a:pt x="102" y="205"/>
                  </a:lnTo>
                  <a:lnTo>
                    <a:pt x="95" y="191"/>
                  </a:lnTo>
                  <a:lnTo>
                    <a:pt x="89" y="179"/>
                  </a:lnTo>
                  <a:lnTo>
                    <a:pt x="84" y="167"/>
                  </a:lnTo>
                  <a:lnTo>
                    <a:pt x="78" y="156"/>
                  </a:lnTo>
                  <a:lnTo>
                    <a:pt x="72" y="137"/>
                  </a:lnTo>
                  <a:lnTo>
                    <a:pt x="64" y="115"/>
                  </a:lnTo>
                  <a:lnTo>
                    <a:pt x="57" y="91"/>
                  </a:lnTo>
                  <a:lnTo>
                    <a:pt x="49" y="66"/>
                  </a:lnTo>
                  <a:lnTo>
                    <a:pt x="42" y="43"/>
                  </a:lnTo>
                  <a:lnTo>
                    <a:pt x="35" y="23"/>
                  </a:lnTo>
                  <a:lnTo>
                    <a:pt x="30" y="8"/>
                  </a:lnTo>
                  <a:lnTo>
                    <a:pt x="27" y="0"/>
                  </a:lnTo>
                  <a:lnTo>
                    <a:pt x="13" y="22"/>
                  </a:lnTo>
                  <a:lnTo>
                    <a:pt x="7" y="33"/>
                  </a:lnTo>
                  <a:lnTo>
                    <a:pt x="5" y="39"/>
                  </a:lnTo>
                  <a:lnTo>
                    <a:pt x="4" y="41"/>
                  </a:lnTo>
                  <a:close/>
                </a:path>
              </a:pathLst>
            </a:custGeom>
            <a:solidFill>
              <a:srgbClr val="FFBF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161" name="Freeform 88"/>
            <p:cNvSpPr>
              <a:spLocks/>
            </p:cNvSpPr>
            <p:nvPr/>
          </p:nvSpPr>
          <p:spPr bwMode="auto">
            <a:xfrm>
              <a:off x="4080" y="3702"/>
              <a:ext cx="289" cy="83"/>
            </a:xfrm>
            <a:custGeom>
              <a:avLst/>
              <a:gdLst>
                <a:gd name="T0" fmla="*/ 137 w 577"/>
                <a:gd name="T1" fmla="*/ 29 h 166"/>
                <a:gd name="T2" fmla="*/ 133 w 577"/>
                <a:gd name="T3" fmla="*/ 25 h 166"/>
                <a:gd name="T4" fmla="*/ 127 w 577"/>
                <a:gd name="T5" fmla="*/ 21 h 166"/>
                <a:gd name="T6" fmla="*/ 124 w 577"/>
                <a:gd name="T7" fmla="*/ 18 h 166"/>
                <a:gd name="T8" fmla="*/ 120 w 577"/>
                <a:gd name="T9" fmla="*/ 15 h 166"/>
                <a:gd name="T10" fmla="*/ 117 w 577"/>
                <a:gd name="T11" fmla="*/ 13 h 166"/>
                <a:gd name="T12" fmla="*/ 113 w 577"/>
                <a:gd name="T13" fmla="*/ 11 h 166"/>
                <a:gd name="T14" fmla="*/ 110 w 577"/>
                <a:gd name="T15" fmla="*/ 10 h 166"/>
                <a:gd name="T16" fmla="*/ 106 w 577"/>
                <a:gd name="T17" fmla="*/ 9 h 166"/>
                <a:gd name="T18" fmla="*/ 103 w 577"/>
                <a:gd name="T19" fmla="*/ 6 h 166"/>
                <a:gd name="T20" fmla="*/ 96 w 577"/>
                <a:gd name="T21" fmla="*/ 5 h 166"/>
                <a:gd name="T22" fmla="*/ 88 w 577"/>
                <a:gd name="T23" fmla="*/ 3 h 166"/>
                <a:gd name="T24" fmla="*/ 88 w 577"/>
                <a:gd name="T25" fmla="*/ 3 h 166"/>
                <a:gd name="T26" fmla="*/ 85 w 577"/>
                <a:gd name="T27" fmla="*/ 1 h 166"/>
                <a:gd name="T28" fmla="*/ 79 w 577"/>
                <a:gd name="T29" fmla="*/ 1 h 166"/>
                <a:gd name="T30" fmla="*/ 74 w 577"/>
                <a:gd name="T31" fmla="*/ 1 h 166"/>
                <a:gd name="T32" fmla="*/ 66 w 577"/>
                <a:gd name="T33" fmla="*/ 0 h 166"/>
                <a:gd name="T34" fmla="*/ 63 w 577"/>
                <a:gd name="T35" fmla="*/ 0 h 166"/>
                <a:gd name="T36" fmla="*/ 63 w 577"/>
                <a:gd name="T37" fmla="*/ 0 h 166"/>
                <a:gd name="T38" fmla="*/ 60 w 577"/>
                <a:gd name="T39" fmla="*/ 0 h 166"/>
                <a:gd name="T40" fmla="*/ 56 w 577"/>
                <a:gd name="T41" fmla="*/ 1 h 166"/>
                <a:gd name="T42" fmla="*/ 53 w 577"/>
                <a:gd name="T43" fmla="*/ 1 h 166"/>
                <a:gd name="T44" fmla="*/ 48 w 577"/>
                <a:gd name="T45" fmla="*/ 1 h 166"/>
                <a:gd name="T46" fmla="*/ 43 w 577"/>
                <a:gd name="T47" fmla="*/ 1 h 166"/>
                <a:gd name="T48" fmla="*/ 41 w 577"/>
                <a:gd name="T49" fmla="*/ 3 h 166"/>
                <a:gd name="T50" fmla="*/ 40 w 577"/>
                <a:gd name="T51" fmla="*/ 3 h 166"/>
                <a:gd name="T52" fmla="*/ 39 w 577"/>
                <a:gd name="T53" fmla="*/ 3 h 166"/>
                <a:gd name="T54" fmla="*/ 38 w 577"/>
                <a:gd name="T55" fmla="*/ 3 h 166"/>
                <a:gd name="T56" fmla="*/ 35 w 577"/>
                <a:gd name="T57" fmla="*/ 3 h 166"/>
                <a:gd name="T58" fmla="*/ 20 w 577"/>
                <a:gd name="T59" fmla="*/ 7 h 166"/>
                <a:gd name="T60" fmla="*/ 7 w 577"/>
                <a:gd name="T61" fmla="*/ 13 h 166"/>
                <a:gd name="T62" fmla="*/ 2 w 577"/>
                <a:gd name="T63" fmla="*/ 20 h 166"/>
                <a:gd name="T64" fmla="*/ 6 w 577"/>
                <a:gd name="T65" fmla="*/ 23 h 166"/>
                <a:gd name="T66" fmla="*/ 16 w 577"/>
                <a:gd name="T67" fmla="*/ 16 h 166"/>
                <a:gd name="T68" fmla="*/ 31 w 577"/>
                <a:gd name="T69" fmla="*/ 10 h 166"/>
                <a:gd name="T70" fmla="*/ 42 w 577"/>
                <a:gd name="T71" fmla="*/ 8 h 166"/>
                <a:gd name="T72" fmla="*/ 42 w 577"/>
                <a:gd name="T73" fmla="*/ 8 h 166"/>
                <a:gd name="T74" fmla="*/ 48 w 577"/>
                <a:gd name="T75" fmla="*/ 7 h 166"/>
                <a:gd name="T76" fmla="*/ 57 w 577"/>
                <a:gd name="T77" fmla="*/ 6 h 166"/>
                <a:gd name="T78" fmla="*/ 65 w 577"/>
                <a:gd name="T79" fmla="*/ 5 h 166"/>
                <a:gd name="T80" fmla="*/ 73 w 577"/>
                <a:gd name="T81" fmla="*/ 6 h 166"/>
                <a:gd name="T82" fmla="*/ 82 w 577"/>
                <a:gd name="T83" fmla="*/ 6 h 166"/>
                <a:gd name="T84" fmla="*/ 93 w 577"/>
                <a:gd name="T85" fmla="*/ 9 h 166"/>
                <a:gd name="T86" fmla="*/ 105 w 577"/>
                <a:gd name="T87" fmla="*/ 13 h 166"/>
                <a:gd name="T88" fmla="*/ 118 w 577"/>
                <a:gd name="T89" fmla="*/ 21 h 166"/>
                <a:gd name="T90" fmla="*/ 127 w 577"/>
                <a:gd name="T91" fmla="*/ 27 h 166"/>
                <a:gd name="T92" fmla="*/ 133 w 577"/>
                <a:gd name="T93" fmla="*/ 35 h 166"/>
                <a:gd name="T94" fmla="*/ 138 w 577"/>
                <a:gd name="T95" fmla="*/ 41 h 166"/>
                <a:gd name="T96" fmla="*/ 139 w 577"/>
                <a:gd name="T97" fmla="*/ 42 h 166"/>
                <a:gd name="T98" fmla="*/ 142 w 577"/>
                <a:gd name="T99" fmla="*/ 41 h 166"/>
                <a:gd name="T100" fmla="*/ 143 w 577"/>
                <a:gd name="T101" fmla="*/ 37 h 166"/>
                <a:gd name="T102" fmla="*/ 140 w 577"/>
                <a:gd name="T103" fmla="*/ 34 h 16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w 577"/>
                <a:gd name="T157" fmla="*/ 0 h 166"/>
                <a:gd name="T158" fmla="*/ 577 w 577"/>
                <a:gd name="T159" fmla="*/ 166 h 16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T156" t="T157" r="T158" b="T159"/>
              <a:pathLst>
                <a:path w="577" h="166">
                  <a:moveTo>
                    <a:pt x="559" y="133"/>
                  </a:moveTo>
                  <a:lnTo>
                    <a:pt x="553" y="126"/>
                  </a:lnTo>
                  <a:lnTo>
                    <a:pt x="547" y="119"/>
                  </a:lnTo>
                  <a:lnTo>
                    <a:pt x="541" y="112"/>
                  </a:lnTo>
                  <a:lnTo>
                    <a:pt x="536" y="105"/>
                  </a:lnTo>
                  <a:lnTo>
                    <a:pt x="529" y="100"/>
                  </a:lnTo>
                  <a:lnTo>
                    <a:pt x="522" y="94"/>
                  </a:lnTo>
                  <a:lnTo>
                    <a:pt x="515" y="88"/>
                  </a:lnTo>
                  <a:lnTo>
                    <a:pt x="508" y="82"/>
                  </a:lnTo>
                  <a:lnTo>
                    <a:pt x="503" y="79"/>
                  </a:lnTo>
                  <a:lnTo>
                    <a:pt x="498" y="75"/>
                  </a:lnTo>
                  <a:lnTo>
                    <a:pt x="493" y="72"/>
                  </a:lnTo>
                  <a:lnTo>
                    <a:pt x="487" y="68"/>
                  </a:lnTo>
                  <a:lnTo>
                    <a:pt x="481" y="65"/>
                  </a:lnTo>
                  <a:lnTo>
                    <a:pt x="477" y="62"/>
                  </a:lnTo>
                  <a:lnTo>
                    <a:pt x="473" y="59"/>
                  </a:lnTo>
                  <a:lnTo>
                    <a:pt x="470" y="57"/>
                  </a:lnTo>
                  <a:lnTo>
                    <a:pt x="468" y="55"/>
                  </a:lnTo>
                  <a:lnTo>
                    <a:pt x="462" y="52"/>
                  </a:lnTo>
                  <a:lnTo>
                    <a:pt x="456" y="49"/>
                  </a:lnTo>
                  <a:lnTo>
                    <a:pt x="450" y="47"/>
                  </a:lnTo>
                  <a:lnTo>
                    <a:pt x="448" y="45"/>
                  </a:lnTo>
                  <a:lnTo>
                    <a:pt x="442" y="42"/>
                  </a:lnTo>
                  <a:lnTo>
                    <a:pt x="437" y="40"/>
                  </a:lnTo>
                  <a:lnTo>
                    <a:pt x="432" y="37"/>
                  </a:lnTo>
                  <a:lnTo>
                    <a:pt x="430" y="36"/>
                  </a:lnTo>
                  <a:lnTo>
                    <a:pt x="424" y="33"/>
                  </a:lnTo>
                  <a:lnTo>
                    <a:pt x="418" y="30"/>
                  </a:lnTo>
                  <a:lnTo>
                    <a:pt x="413" y="29"/>
                  </a:lnTo>
                  <a:lnTo>
                    <a:pt x="410" y="27"/>
                  </a:lnTo>
                  <a:lnTo>
                    <a:pt x="401" y="25"/>
                  </a:lnTo>
                  <a:lnTo>
                    <a:pt x="390" y="21"/>
                  </a:lnTo>
                  <a:lnTo>
                    <a:pt x="381" y="18"/>
                  </a:lnTo>
                  <a:lnTo>
                    <a:pt x="372" y="15"/>
                  </a:lnTo>
                  <a:lnTo>
                    <a:pt x="362" y="12"/>
                  </a:lnTo>
                  <a:lnTo>
                    <a:pt x="352" y="10"/>
                  </a:lnTo>
                  <a:lnTo>
                    <a:pt x="349" y="9"/>
                  </a:lnTo>
                  <a:lnTo>
                    <a:pt x="348" y="9"/>
                  </a:lnTo>
                  <a:lnTo>
                    <a:pt x="340" y="7"/>
                  </a:lnTo>
                  <a:lnTo>
                    <a:pt x="332" y="6"/>
                  </a:lnTo>
                  <a:lnTo>
                    <a:pt x="324" y="5"/>
                  </a:lnTo>
                  <a:lnTo>
                    <a:pt x="316" y="4"/>
                  </a:lnTo>
                  <a:lnTo>
                    <a:pt x="312" y="4"/>
                  </a:lnTo>
                  <a:lnTo>
                    <a:pt x="305" y="4"/>
                  </a:lnTo>
                  <a:lnTo>
                    <a:pt x="296" y="3"/>
                  </a:lnTo>
                  <a:lnTo>
                    <a:pt x="284" y="2"/>
                  </a:lnTo>
                  <a:lnTo>
                    <a:pt x="273" y="2"/>
                  </a:lnTo>
                  <a:lnTo>
                    <a:pt x="264" y="0"/>
                  </a:lnTo>
                  <a:lnTo>
                    <a:pt x="256" y="0"/>
                  </a:lnTo>
                  <a:lnTo>
                    <a:pt x="252" y="0"/>
                  </a:lnTo>
                  <a:lnTo>
                    <a:pt x="250" y="0"/>
                  </a:lnTo>
                  <a:lnTo>
                    <a:pt x="245" y="0"/>
                  </a:lnTo>
                  <a:lnTo>
                    <a:pt x="240" y="0"/>
                  </a:lnTo>
                  <a:lnTo>
                    <a:pt x="234" y="2"/>
                  </a:lnTo>
                  <a:lnTo>
                    <a:pt x="227" y="2"/>
                  </a:lnTo>
                  <a:lnTo>
                    <a:pt x="221" y="2"/>
                  </a:lnTo>
                  <a:lnTo>
                    <a:pt x="215" y="3"/>
                  </a:lnTo>
                  <a:lnTo>
                    <a:pt x="212" y="3"/>
                  </a:lnTo>
                  <a:lnTo>
                    <a:pt x="210" y="3"/>
                  </a:lnTo>
                  <a:lnTo>
                    <a:pt x="205" y="4"/>
                  </a:lnTo>
                  <a:lnTo>
                    <a:pt x="199" y="4"/>
                  </a:lnTo>
                  <a:lnTo>
                    <a:pt x="192" y="5"/>
                  </a:lnTo>
                  <a:lnTo>
                    <a:pt x="184" y="6"/>
                  </a:lnTo>
                  <a:lnTo>
                    <a:pt x="177" y="7"/>
                  </a:lnTo>
                  <a:lnTo>
                    <a:pt x="169" y="7"/>
                  </a:lnTo>
                  <a:lnTo>
                    <a:pt x="163" y="9"/>
                  </a:lnTo>
                  <a:lnTo>
                    <a:pt x="162" y="10"/>
                  </a:lnTo>
                  <a:lnTo>
                    <a:pt x="160" y="10"/>
                  </a:lnTo>
                  <a:lnTo>
                    <a:pt x="159" y="10"/>
                  </a:lnTo>
                  <a:lnTo>
                    <a:pt x="157" y="10"/>
                  </a:lnTo>
                  <a:lnTo>
                    <a:pt x="155" y="10"/>
                  </a:lnTo>
                  <a:lnTo>
                    <a:pt x="155" y="11"/>
                  </a:lnTo>
                  <a:lnTo>
                    <a:pt x="151" y="12"/>
                  </a:lnTo>
                  <a:lnTo>
                    <a:pt x="147" y="12"/>
                  </a:lnTo>
                  <a:lnTo>
                    <a:pt x="143" y="13"/>
                  </a:lnTo>
                  <a:lnTo>
                    <a:pt x="139" y="13"/>
                  </a:lnTo>
                  <a:lnTo>
                    <a:pt x="117" y="18"/>
                  </a:lnTo>
                  <a:lnTo>
                    <a:pt x="97" y="25"/>
                  </a:lnTo>
                  <a:lnTo>
                    <a:pt x="77" y="30"/>
                  </a:lnTo>
                  <a:lnTo>
                    <a:pt x="58" y="37"/>
                  </a:lnTo>
                  <a:lnTo>
                    <a:pt x="40" y="45"/>
                  </a:lnTo>
                  <a:lnTo>
                    <a:pt x="25" y="55"/>
                  </a:lnTo>
                  <a:lnTo>
                    <a:pt x="11" y="64"/>
                  </a:lnTo>
                  <a:lnTo>
                    <a:pt x="0" y="73"/>
                  </a:lnTo>
                  <a:lnTo>
                    <a:pt x="6" y="78"/>
                  </a:lnTo>
                  <a:lnTo>
                    <a:pt x="13" y="82"/>
                  </a:lnTo>
                  <a:lnTo>
                    <a:pt x="18" y="88"/>
                  </a:lnTo>
                  <a:lnTo>
                    <a:pt x="24" y="93"/>
                  </a:lnTo>
                  <a:lnTo>
                    <a:pt x="34" y="82"/>
                  </a:lnTo>
                  <a:lnTo>
                    <a:pt x="48" y="73"/>
                  </a:lnTo>
                  <a:lnTo>
                    <a:pt x="63" y="64"/>
                  </a:lnTo>
                  <a:lnTo>
                    <a:pt x="82" y="56"/>
                  </a:lnTo>
                  <a:lnTo>
                    <a:pt x="101" y="49"/>
                  </a:lnTo>
                  <a:lnTo>
                    <a:pt x="122" y="42"/>
                  </a:lnTo>
                  <a:lnTo>
                    <a:pt x="144" y="36"/>
                  </a:lnTo>
                  <a:lnTo>
                    <a:pt x="166" y="32"/>
                  </a:lnTo>
                  <a:lnTo>
                    <a:pt x="167" y="32"/>
                  </a:lnTo>
                  <a:lnTo>
                    <a:pt x="168" y="32"/>
                  </a:lnTo>
                  <a:lnTo>
                    <a:pt x="180" y="29"/>
                  </a:lnTo>
                  <a:lnTo>
                    <a:pt x="191" y="28"/>
                  </a:lnTo>
                  <a:lnTo>
                    <a:pt x="203" y="26"/>
                  </a:lnTo>
                  <a:lnTo>
                    <a:pt x="214" y="25"/>
                  </a:lnTo>
                  <a:lnTo>
                    <a:pt x="226" y="24"/>
                  </a:lnTo>
                  <a:lnTo>
                    <a:pt x="236" y="24"/>
                  </a:lnTo>
                  <a:lnTo>
                    <a:pt x="246" y="22"/>
                  </a:lnTo>
                  <a:lnTo>
                    <a:pt x="257" y="22"/>
                  </a:lnTo>
                  <a:lnTo>
                    <a:pt x="267" y="22"/>
                  </a:lnTo>
                  <a:lnTo>
                    <a:pt x="278" y="22"/>
                  </a:lnTo>
                  <a:lnTo>
                    <a:pt x="289" y="24"/>
                  </a:lnTo>
                  <a:lnTo>
                    <a:pt x="301" y="24"/>
                  </a:lnTo>
                  <a:lnTo>
                    <a:pt x="313" y="25"/>
                  </a:lnTo>
                  <a:lnTo>
                    <a:pt x="327" y="27"/>
                  </a:lnTo>
                  <a:lnTo>
                    <a:pt x="341" y="29"/>
                  </a:lnTo>
                  <a:lnTo>
                    <a:pt x="356" y="33"/>
                  </a:lnTo>
                  <a:lnTo>
                    <a:pt x="371" y="36"/>
                  </a:lnTo>
                  <a:lnTo>
                    <a:pt x="387" y="42"/>
                  </a:lnTo>
                  <a:lnTo>
                    <a:pt x="403" y="48"/>
                  </a:lnTo>
                  <a:lnTo>
                    <a:pt x="419" y="55"/>
                  </a:lnTo>
                  <a:lnTo>
                    <a:pt x="437" y="63"/>
                  </a:lnTo>
                  <a:lnTo>
                    <a:pt x="454" y="72"/>
                  </a:lnTo>
                  <a:lnTo>
                    <a:pt x="471" y="83"/>
                  </a:lnTo>
                  <a:lnTo>
                    <a:pt x="490" y="96"/>
                  </a:lnTo>
                  <a:lnTo>
                    <a:pt x="498" y="103"/>
                  </a:lnTo>
                  <a:lnTo>
                    <a:pt x="507" y="111"/>
                  </a:lnTo>
                  <a:lnTo>
                    <a:pt x="516" y="121"/>
                  </a:lnTo>
                  <a:lnTo>
                    <a:pt x="524" y="131"/>
                  </a:lnTo>
                  <a:lnTo>
                    <a:pt x="532" y="140"/>
                  </a:lnTo>
                  <a:lnTo>
                    <a:pt x="540" y="149"/>
                  </a:lnTo>
                  <a:lnTo>
                    <a:pt x="546" y="156"/>
                  </a:lnTo>
                  <a:lnTo>
                    <a:pt x="551" y="162"/>
                  </a:lnTo>
                  <a:lnTo>
                    <a:pt x="552" y="163"/>
                  </a:lnTo>
                  <a:lnTo>
                    <a:pt x="553" y="165"/>
                  </a:lnTo>
                  <a:lnTo>
                    <a:pt x="554" y="166"/>
                  </a:lnTo>
                  <a:lnTo>
                    <a:pt x="560" y="164"/>
                  </a:lnTo>
                  <a:lnTo>
                    <a:pt x="566" y="162"/>
                  </a:lnTo>
                  <a:lnTo>
                    <a:pt x="571" y="160"/>
                  </a:lnTo>
                  <a:lnTo>
                    <a:pt x="577" y="157"/>
                  </a:lnTo>
                  <a:lnTo>
                    <a:pt x="569" y="147"/>
                  </a:lnTo>
                  <a:lnTo>
                    <a:pt x="564" y="140"/>
                  </a:lnTo>
                  <a:lnTo>
                    <a:pt x="561" y="135"/>
                  </a:lnTo>
                  <a:lnTo>
                    <a:pt x="559" y="133"/>
                  </a:lnTo>
                  <a:close/>
                </a:path>
              </a:pathLst>
            </a:custGeom>
            <a:solidFill>
              <a:srgbClr val="FFFFBF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aphicFrame>
        <p:nvGraphicFramePr>
          <p:cNvPr id="3075" name="Object 91"/>
          <p:cNvGraphicFramePr>
            <a:graphicFrameLocks noChangeAspect="1"/>
          </p:cNvGraphicFramePr>
          <p:nvPr/>
        </p:nvGraphicFramePr>
        <p:xfrm>
          <a:off x="3857625" y="5214938"/>
          <a:ext cx="795338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0" name="수식" r:id="rId6" imgW="507960" imgH="203040" progId="Equation.3">
                  <p:embed/>
                </p:oleObj>
              </mc:Choice>
              <mc:Fallback>
                <p:oleObj name="수식" r:id="rId6" imgW="507960" imgH="203040" progId="Equation.3">
                  <p:embed/>
                  <p:pic>
                    <p:nvPicPr>
                      <p:cNvPr id="0" name="Object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7625" y="5214938"/>
                        <a:ext cx="795338" cy="317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6" name="직선 화살표 연결선 95"/>
          <p:cNvCxnSpPr/>
          <p:nvPr/>
        </p:nvCxnSpPr>
        <p:spPr>
          <a:xfrm>
            <a:off x="3643313" y="5572125"/>
            <a:ext cx="1285875" cy="1588"/>
          </a:xfrm>
          <a:prstGeom prst="straightConnector1">
            <a:avLst/>
          </a:prstGeom>
          <a:ln w="19050">
            <a:solidFill>
              <a:schemeClr val="bg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3779912" y="5157192"/>
            <a:ext cx="936104" cy="36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4466112"/>
              </p:ext>
            </p:extLst>
          </p:nvPr>
        </p:nvGraphicFramePr>
        <p:xfrm>
          <a:off x="1745581" y="3504431"/>
          <a:ext cx="7381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21" name="수식" r:id="rId8" imgW="393480" imgH="228600" progId="Equation.3">
                  <p:embed/>
                </p:oleObj>
              </mc:Choice>
              <mc:Fallback>
                <p:oleObj name="수식" r:id="rId8" imgW="3934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5581" y="3504431"/>
                        <a:ext cx="7381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" name="직사각형 90"/>
          <p:cNvSpPr/>
          <p:nvPr/>
        </p:nvSpPr>
        <p:spPr>
          <a:xfrm>
            <a:off x="1691680" y="3501008"/>
            <a:ext cx="864096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9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내용 개체 틀 5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453211"/>
          </a:xfrm>
        </p:spPr>
        <p:txBody>
          <a:bodyPr/>
          <a:lstStyle/>
          <a:p>
            <a:r>
              <a:rPr lang="en-US" altLang="ko-KR" dirty="0" smtClean="0">
                <a:solidFill>
                  <a:srgbClr val="C00000"/>
                </a:solidFill>
              </a:rPr>
              <a:t>Binomial Theorem</a:t>
            </a:r>
          </a:p>
          <a:p>
            <a:pPr>
              <a:buFont typeface="Wingdings" pitchFamily="2" charset="2"/>
              <a:buNone/>
            </a:pPr>
            <a:r>
              <a:rPr lang="en-US" altLang="ko-KR" dirty="0" smtClean="0"/>
              <a:t>	I</a:t>
            </a:r>
            <a:r>
              <a:rPr lang="en-US" altLang="ko-KR" sz="2000" dirty="0" smtClean="0"/>
              <a:t>f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sz="2000" dirty="0" smtClean="0"/>
              <a:t> and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ko-KR" sz="2000" dirty="0" smtClean="0"/>
              <a:t> are variables and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is a positive integer, then</a:t>
            </a:r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None/>
            </a:pPr>
            <a:r>
              <a:rPr lang="en-US" altLang="ko-KR" sz="2000" dirty="0" smtClean="0"/>
              <a:t>	Why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is the coefficient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ko-KR" sz="2000" i="1" baseline="-25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dirty="0" smtClean="0"/>
              <a:t> for the term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sz="2000" i="1" baseline="30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i="1" baseline="30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ko-KR" sz="2000" i="1" baseline="30000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i="1" baseline="30000" dirty="0" smtClean="0">
                <a:latin typeface="Times New Roman" pitchFamily="18" charset="0"/>
                <a:cs typeface="Times New Roman" pitchFamily="18" charset="0"/>
              </a:rPr>
              <a:t>-k</a:t>
            </a:r>
            <a:r>
              <a:rPr lang="en-US" altLang="ko-KR" sz="2000" dirty="0" smtClean="0"/>
              <a:t>  equal to 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err="1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sz="2000" dirty="0" smtClean="0"/>
              <a:t> ?</a:t>
            </a:r>
          </a:p>
          <a:p>
            <a:pPr>
              <a:spcBef>
                <a:spcPts val="0"/>
              </a:spcBef>
              <a:buNone/>
            </a:pPr>
            <a:r>
              <a:rPr lang="en-US" altLang="ko-KR" dirty="0" smtClean="0"/>
              <a:t>	</a:t>
            </a:r>
          </a:p>
          <a:p>
            <a:pPr>
              <a:spcBef>
                <a:spcPts val="1200"/>
              </a:spcBef>
              <a:buNone/>
            </a:pPr>
            <a:r>
              <a:rPr lang="en-US" altLang="ko-KR" sz="2000" dirty="0" smtClean="0"/>
              <a:t>	The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ko-KR" sz="2000" i="1" baseline="-25000" dirty="0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dirty="0" smtClean="0"/>
              <a:t> is the number of different ways in which we can select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sz="2000" dirty="0" err="1" smtClean="0">
                <a:cs typeface="Times New Roman" pitchFamily="18" charset="0"/>
              </a:rPr>
              <a:t>’s</a:t>
            </a:r>
            <a:r>
              <a:rPr lang="en-US" altLang="ko-KR" sz="2000" dirty="0" smtClean="0">
                <a:cs typeface="Times New Roman" pitchFamily="18" charset="0"/>
              </a:rPr>
              <a:t> (and consequently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 – k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ko-KR" sz="2000" dirty="0" err="1" smtClean="0">
                <a:cs typeface="Times New Roman" pitchFamily="18" charset="0"/>
              </a:rPr>
              <a:t>’s</a:t>
            </a:r>
            <a:r>
              <a:rPr lang="en-US" altLang="ko-KR" sz="2000" dirty="0" smtClean="0">
                <a:cs typeface="Times New Roman" pitchFamily="18" charset="0"/>
              </a:rPr>
              <a:t>) from the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>
                <a:cs typeface="Times New Roman" pitchFamily="18" charset="0"/>
              </a:rPr>
              <a:t> available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en-US" altLang="ko-KR" sz="2000" dirty="0" smtClean="0">
                <a:cs typeface="Times New Roman" pitchFamily="18" charset="0"/>
              </a:rPr>
              <a:t>factors.</a:t>
            </a:r>
          </a:p>
          <a:p>
            <a:pPr>
              <a:spcBef>
                <a:spcPts val="0"/>
              </a:spcBef>
              <a:buNone/>
            </a:pPr>
            <a:r>
              <a:rPr lang="en-US" altLang="ko-KR" sz="2000" dirty="0" smtClean="0">
                <a:cs typeface="Times New Roman" pitchFamily="18" charset="0"/>
              </a:rPr>
              <a:t>	Thus  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ko-KR" sz="2000" i="1" baseline="-25000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dirty="0" smtClean="0"/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err="1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ko-KR" sz="2000" i="1" dirty="0" err="1" smtClean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en-US" altLang="ko-KR" sz="2000" dirty="0" smtClean="0"/>
          </a:p>
        </p:txBody>
      </p:sp>
      <p:sp>
        <p:nvSpPr>
          <p:cNvPr id="10" name="직사각형 9"/>
          <p:cNvSpPr/>
          <p:nvPr/>
        </p:nvSpPr>
        <p:spPr>
          <a:xfrm>
            <a:off x="428596" y="5085184"/>
            <a:ext cx="8358246" cy="12241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i="1" dirty="0">
              <a:solidFill>
                <a:schemeClr val="bg1">
                  <a:lumMod val="65000"/>
                </a:schemeClr>
              </a:solidFill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051720" y="5085184"/>
            <a:ext cx="3888432" cy="432048"/>
            <a:chOff x="2051720" y="5085184"/>
            <a:chExt cx="3888432" cy="432048"/>
          </a:xfrm>
        </p:grpSpPr>
        <p:sp>
          <p:nvSpPr>
            <p:cNvPr id="8" name="모서리가 둥근 직사각형 7"/>
            <p:cNvSpPr/>
            <p:nvPr/>
          </p:nvSpPr>
          <p:spPr>
            <a:xfrm>
              <a:off x="2051720" y="5229200"/>
              <a:ext cx="504056" cy="288032"/>
            </a:xfrm>
            <a:prstGeom prst="roundRect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1</a:t>
              </a:r>
              <a:endParaRPr lang="ko-KR" altLang="en-US" sz="1600" dirty="0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2771800" y="5229200"/>
              <a:ext cx="504056" cy="288032"/>
            </a:xfrm>
            <a:prstGeom prst="roundRect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2</a:t>
              </a:r>
              <a:endParaRPr lang="ko-KR" altLang="en-US" sz="1600" dirty="0"/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3491880" y="5229200"/>
              <a:ext cx="504056" cy="288032"/>
            </a:xfrm>
            <a:prstGeom prst="roundRect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3</a:t>
              </a:r>
              <a:endParaRPr lang="ko-KR" altLang="en-US" sz="1600" dirty="0"/>
            </a:p>
          </p:txBody>
        </p:sp>
        <p:sp>
          <p:nvSpPr>
            <p:cNvPr id="12" name="모서리가 둥근 직사각형 11"/>
            <p:cNvSpPr/>
            <p:nvPr/>
          </p:nvSpPr>
          <p:spPr>
            <a:xfrm>
              <a:off x="4644008" y="5229200"/>
              <a:ext cx="576064" cy="288032"/>
            </a:xfrm>
            <a:prstGeom prst="roundRect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smtClean="0"/>
                <a:t>n-1</a:t>
              </a:r>
              <a:endParaRPr lang="ko-KR" altLang="en-US" sz="1600" dirty="0"/>
            </a:p>
          </p:txBody>
        </p:sp>
        <p:sp>
          <p:nvSpPr>
            <p:cNvPr id="13" name="모서리가 둥근 직사각형 12"/>
            <p:cNvSpPr/>
            <p:nvPr/>
          </p:nvSpPr>
          <p:spPr>
            <a:xfrm>
              <a:off x="5436096" y="5229200"/>
              <a:ext cx="504056" cy="288032"/>
            </a:xfrm>
            <a:prstGeom prst="roundRect">
              <a:avLst/>
            </a:prstGeom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 smtClean="0"/>
                <a:t>n</a:t>
              </a:r>
              <a:endParaRPr lang="ko-KR" altLang="en-US" sz="1600" dirty="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067944" y="5085184"/>
              <a:ext cx="43204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dirty="0" smtClean="0">
                  <a:sym typeface="Symbol"/>
                </a:rPr>
                <a:t></a:t>
              </a:r>
              <a:endParaRPr lang="ko-KR" altLang="en-US" dirty="0"/>
            </a:p>
          </p:txBody>
        </p:sp>
      </p:grpSp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416190"/>
              </p:ext>
            </p:extLst>
          </p:nvPr>
        </p:nvGraphicFramePr>
        <p:xfrm>
          <a:off x="746125" y="4652963"/>
          <a:ext cx="53736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0" name="수식" r:id="rId3" imgW="3060360" imgH="228600" progId="Equation.3">
                  <p:embed/>
                </p:oleObj>
              </mc:Choice>
              <mc:Fallback>
                <p:oleObj name="수식" r:id="rId3" imgW="306036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4652963"/>
                        <a:ext cx="5373688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280763"/>
              </p:ext>
            </p:extLst>
          </p:nvPr>
        </p:nvGraphicFramePr>
        <p:xfrm>
          <a:off x="882650" y="2166938"/>
          <a:ext cx="7167563" cy="176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1" name="수식" r:id="rId5" imgW="3822480" imgH="939600" progId="Equation.3">
                  <p:embed/>
                </p:oleObj>
              </mc:Choice>
              <mc:Fallback>
                <p:oleObj name="수식" r:id="rId5" imgW="3822480" imgH="939600" progId="Equation.3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2166938"/>
                        <a:ext cx="7167563" cy="1762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그룹 16"/>
          <p:cNvGrpSpPr/>
          <p:nvPr/>
        </p:nvGrpSpPr>
        <p:grpSpPr>
          <a:xfrm>
            <a:off x="6611587" y="5208840"/>
            <a:ext cx="1695510" cy="288032"/>
            <a:chOff x="1563076" y="5988184"/>
            <a:chExt cx="1695510" cy="288032"/>
          </a:xfrm>
        </p:grpSpPr>
        <p:sp>
          <p:nvSpPr>
            <p:cNvPr id="18" name="타원 17"/>
            <p:cNvSpPr/>
            <p:nvPr/>
          </p:nvSpPr>
          <p:spPr>
            <a:xfrm>
              <a:off x="1563076" y="598818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1901933" y="598818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2257833" y="598818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2613733" y="5988184"/>
              <a:ext cx="288032" cy="28803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타원 21"/>
            <p:cNvSpPr/>
            <p:nvPr/>
          </p:nvSpPr>
          <p:spPr>
            <a:xfrm>
              <a:off x="2970554" y="5988184"/>
              <a:ext cx="288032" cy="28803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6620906" y="5656768"/>
            <a:ext cx="1695510" cy="292512"/>
            <a:chOff x="1563076" y="5983704"/>
            <a:chExt cx="1695510" cy="292512"/>
          </a:xfrm>
        </p:grpSpPr>
        <p:sp>
          <p:nvSpPr>
            <p:cNvPr id="24" name="타원 23"/>
            <p:cNvSpPr/>
            <p:nvPr/>
          </p:nvSpPr>
          <p:spPr>
            <a:xfrm>
              <a:off x="1563076" y="598818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/>
            <p:cNvSpPr/>
            <p:nvPr/>
          </p:nvSpPr>
          <p:spPr>
            <a:xfrm>
              <a:off x="2614193" y="598370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/>
            <p:cNvSpPr/>
            <p:nvPr/>
          </p:nvSpPr>
          <p:spPr>
            <a:xfrm>
              <a:off x="2257833" y="598818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타원 26"/>
            <p:cNvSpPr/>
            <p:nvPr/>
          </p:nvSpPr>
          <p:spPr>
            <a:xfrm>
              <a:off x="1910703" y="5988184"/>
              <a:ext cx="288032" cy="28803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/>
            <p:cNvSpPr/>
            <p:nvPr/>
          </p:nvSpPr>
          <p:spPr>
            <a:xfrm>
              <a:off x="2970554" y="5988184"/>
              <a:ext cx="288032" cy="28803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410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2938068"/>
              </p:ext>
            </p:extLst>
          </p:nvPr>
        </p:nvGraphicFramePr>
        <p:xfrm>
          <a:off x="1649413" y="1778000"/>
          <a:ext cx="506095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8" name="수식" r:id="rId3" imgW="2882880" imgH="939600" progId="Equation.3">
                  <p:embed/>
                </p:oleObj>
              </mc:Choice>
              <mc:Fallback>
                <p:oleObj name="수식" r:id="rId3" imgW="2882880" imgH="939600" progId="Equation.3">
                  <p:embed/>
                  <p:pic>
                    <p:nvPicPr>
                      <p:cNvPr id="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413" y="1778000"/>
                        <a:ext cx="5060950" cy="165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내용 개체 틀 5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71487"/>
          </a:xfrm>
        </p:spPr>
        <p:txBody>
          <a:bodyPr/>
          <a:lstStyle/>
          <a:p>
            <a:r>
              <a:rPr lang="en-US" altLang="ko-KR" dirty="0" smtClean="0"/>
              <a:t>Corollary : </a:t>
            </a:r>
            <a:r>
              <a:rPr lang="en-US" altLang="ko-KR" sz="2000" dirty="0" smtClean="0"/>
              <a:t>For each integer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 &gt; 0</a:t>
            </a:r>
            <a:r>
              <a:rPr lang="en-US" altLang="ko-KR" sz="2000" dirty="0" smtClean="0"/>
              <a:t>,</a:t>
            </a:r>
            <a:endParaRPr lang="ko-KR" altLang="en-US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5535920" y="1928802"/>
            <a:ext cx="1143008" cy="12858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dirty="0" smtClean="0">
                <a:solidFill>
                  <a:schemeClr val="accent1">
                    <a:lumMod val="50000"/>
                  </a:schemeClr>
                </a:solidFill>
              </a:rPr>
              <a:t>?</a:t>
            </a:r>
            <a:endParaRPr lang="ko-KR" altLang="en-US" sz="3200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0506050"/>
              </p:ext>
            </p:extLst>
          </p:nvPr>
        </p:nvGraphicFramePr>
        <p:xfrm>
          <a:off x="679450" y="4357688"/>
          <a:ext cx="7167563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089" name="수식" r:id="rId5" imgW="3822480" imgH="457200" progId="Equation.3">
                  <p:embed/>
                </p:oleObj>
              </mc:Choice>
              <mc:Fallback>
                <p:oleObj name="수식" r:id="rId5" imgW="3822480" imgH="457200" progId="Equation.3">
                  <p:embed/>
                  <p:pic>
                    <p:nvPicPr>
                      <p:cNvPr id="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9450" y="4357688"/>
                        <a:ext cx="7167563" cy="857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내용 개체 틀 5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3508995"/>
          </a:xfrm>
        </p:spPr>
        <p:txBody>
          <a:bodyPr/>
          <a:lstStyle/>
          <a:p>
            <a:r>
              <a:rPr lang="en-US" altLang="ko-KR" dirty="0" smtClean="0">
                <a:solidFill>
                  <a:srgbClr val="C00000"/>
                </a:solidFill>
              </a:rPr>
              <a:t>Multinomial Theorem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altLang="ko-KR" dirty="0" smtClean="0"/>
              <a:t>	F</a:t>
            </a:r>
            <a:r>
              <a:rPr lang="en-US" altLang="ko-KR" sz="2000" dirty="0" smtClean="0"/>
              <a:t>or positive integers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altLang="ko-KR" sz="2000" dirty="0" smtClean="0"/>
              <a:t>, the </a:t>
            </a:r>
            <a:r>
              <a:rPr lang="en-US" altLang="ko-KR" sz="2000" dirty="0" smtClean="0">
                <a:solidFill>
                  <a:srgbClr val="0000CC"/>
                </a:solidFill>
              </a:rPr>
              <a:t>multinomial coefficient </a:t>
            </a:r>
            <a:r>
              <a:rPr lang="en-US" altLang="ko-KR" sz="2000" dirty="0" smtClean="0"/>
              <a:t>of                         </a:t>
            </a:r>
          </a:p>
          <a:p>
            <a:pPr>
              <a:spcBef>
                <a:spcPts val="600"/>
              </a:spcBef>
              <a:buFont typeface="Wingdings" pitchFamily="2" charset="2"/>
              <a:buNone/>
            </a:pPr>
            <a:r>
              <a:rPr lang="en-US" altLang="ko-KR" sz="2000" dirty="0"/>
              <a:t> </a:t>
            </a:r>
            <a:r>
              <a:rPr lang="en-US" altLang="ko-KR" sz="2000" dirty="0" smtClean="0"/>
              <a:t>    in the expansion of                                   is</a:t>
            </a:r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spcBef>
                <a:spcPts val="1200"/>
              </a:spcBef>
              <a:buFont typeface="Wingdings" pitchFamily="2" charset="2"/>
              <a:buNone/>
            </a:pPr>
            <a:r>
              <a:rPr lang="en-US" altLang="ko-KR" sz="2000" dirty="0" smtClean="0"/>
              <a:t>	where                   for all              and                                .</a:t>
            </a:r>
          </a:p>
        </p:txBody>
      </p:sp>
      <p:graphicFrame>
        <p:nvGraphicFramePr>
          <p:cNvPr id="512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04476"/>
              </p:ext>
            </p:extLst>
          </p:nvPr>
        </p:nvGraphicFramePr>
        <p:xfrm>
          <a:off x="1668463" y="3881933"/>
          <a:ext cx="1117600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19" name="수식" r:id="rId3" imgW="622080" imgH="228600" progId="Equation.3">
                  <p:embed/>
                </p:oleObj>
              </mc:Choice>
              <mc:Fallback>
                <p:oleObj name="수식" r:id="rId3" imgW="62208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8463" y="3881933"/>
                        <a:ext cx="1117600" cy="411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841444"/>
              </p:ext>
            </p:extLst>
          </p:nvPr>
        </p:nvGraphicFramePr>
        <p:xfrm>
          <a:off x="3571875" y="3881933"/>
          <a:ext cx="866775" cy="319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0" name="수식" r:id="rId5" imgW="482400" imgH="177480" progId="Equation.3">
                  <p:embed/>
                </p:oleObj>
              </mc:Choice>
              <mc:Fallback>
                <p:oleObj name="수식" r:id="rId5" imgW="482400" imgH="17748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1875" y="3881933"/>
                        <a:ext cx="866775" cy="3190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6849231"/>
              </p:ext>
            </p:extLst>
          </p:nvPr>
        </p:nvGraphicFramePr>
        <p:xfrm>
          <a:off x="882600" y="4755555"/>
          <a:ext cx="7289800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1" name="수식" r:id="rId7" imgW="4152600" imgH="228600" progId="Equation.3">
                  <p:embed/>
                </p:oleObj>
              </mc:Choice>
              <mc:Fallback>
                <p:oleObj name="수식" r:id="rId7" imgW="4152600" imgH="228600" progId="Equation.3">
                  <p:embed/>
                  <p:pic>
                    <p:nvPicPr>
                      <p:cNvPr id="41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00" y="4755555"/>
                        <a:ext cx="7289800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1493852"/>
              </p:ext>
            </p:extLst>
          </p:nvPr>
        </p:nvGraphicFramePr>
        <p:xfrm>
          <a:off x="2435225" y="5319713"/>
          <a:ext cx="4418013" cy="798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2" name="수식" r:id="rId9" imgW="2184120" imgH="393480" progId="Equation.3">
                  <p:embed/>
                </p:oleObj>
              </mc:Choice>
              <mc:Fallback>
                <p:oleObj name="수식" r:id="rId9" imgW="2184120" imgH="393480" progId="Equation.3">
                  <p:embed/>
                  <p:pic>
                    <p:nvPicPr>
                      <p:cNvPr id="1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5319713"/>
                        <a:ext cx="4418013" cy="79851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직사각형 1"/>
          <p:cNvSpPr/>
          <p:nvPr/>
        </p:nvSpPr>
        <p:spPr>
          <a:xfrm>
            <a:off x="2374900" y="5319713"/>
            <a:ext cx="828948" cy="798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391124" y="5301208"/>
            <a:ext cx="828948" cy="798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6084168" y="5301208"/>
            <a:ext cx="468908" cy="798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232545"/>
              </p:ext>
            </p:extLst>
          </p:nvPr>
        </p:nvGraphicFramePr>
        <p:xfrm>
          <a:off x="7011988" y="1552575"/>
          <a:ext cx="1652587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3" name="수식" r:id="rId11" imgW="901440" imgH="241200" progId="Equation.3">
                  <p:embed/>
                </p:oleObj>
              </mc:Choice>
              <mc:Fallback>
                <p:oleObj name="수식" r:id="rId11" imgW="901440" imgH="241200" progId="Equation.3">
                  <p:embed/>
                  <p:pic>
                    <p:nvPicPr>
                      <p:cNvPr id="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1988" y="1552575"/>
                        <a:ext cx="1652587" cy="442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5325484"/>
              </p:ext>
            </p:extLst>
          </p:nvPr>
        </p:nvGraphicFramePr>
        <p:xfrm>
          <a:off x="3088407" y="1989138"/>
          <a:ext cx="2312988" cy="49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4" name="수식" r:id="rId13" imgW="1130040" imgH="241200" progId="Equation.3">
                  <p:embed/>
                </p:oleObj>
              </mc:Choice>
              <mc:Fallback>
                <p:oleObj name="수식" r:id="rId13" imgW="1130040" imgH="241200" progId="Equation.3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8407" y="1989138"/>
                        <a:ext cx="2312988" cy="493712"/>
                      </a:xfrm>
                      <a:prstGeom prst="rect">
                        <a:avLst/>
                      </a:prstGeom>
                      <a:solidFill>
                        <a:srgbClr val="FFEAD5"/>
                      </a:solidFill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084505"/>
              </p:ext>
            </p:extLst>
          </p:nvPr>
        </p:nvGraphicFramePr>
        <p:xfrm>
          <a:off x="2374900" y="2708920"/>
          <a:ext cx="3967163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5" name="수식" r:id="rId15" imgW="2057400" imgH="482400" progId="Equation.3">
                  <p:embed/>
                </p:oleObj>
              </mc:Choice>
              <mc:Fallback>
                <p:oleObj name="수식" r:id="rId15" imgW="2057400" imgH="482400" progId="Equation.3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4900" y="2708920"/>
                        <a:ext cx="3967163" cy="931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465490"/>
              </p:ext>
            </p:extLst>
          </p:nvPr>
        </p:nvGraphicFramePr>
        <p:xfrm>
          <a:off x="5000625" y="3858792"/>
          <a:ext cx="220662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26" name="수식" r:id="rId17" imgW="1193760" imgH="228600" progId="Equation.3">
                  <p:embed/>
                </p:oleObj>
              </mc:Choice>
              <mc:Fallback>
                <p:oleObj name="수식" r:id="rId17" imgW="1193760" imgH="228600" progId="Equation.3">
                  <p:embed/>
                  <p:pic>
                    <p:nvPicPr>
                      <p:cNvPr id="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0625" y="3858792"/>
                        <a:ext cx="2206625" cy="422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그룹 95"/>
          <p:cNvGrpSpPr/>
          <p:nvPr/>
        </p:nvGrpSpPr>
        <p:grpSpPr>
          <a:xfrm>
            <a:off x="5148064" y="1484784"/>
            <a:ext cx="2016224" cy="288032"/>
            <a:chOff x="5148064" y="1484784"/>
            <a:chExt cx="2016224" cy="288032"/>
          </a:xfrm>
        </p:grpSpPr>
        <p:sp>
          <p:nvSpPr>
            <p:cNvPr id="91" name="타원 90"/>
            <p:cNvSpPr/>
            <p:nvPr/>
          </p:nvSpPr>
          <p:spPr>
            <a:xfrm>
              <a:off x="5580112" y="148478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타원 91"/>
            <p:cNvSpPr/>
            <p:nvPr/>
          </p:nvSpPr>
          <p:spPr>
            <a:xfrm>
              <a:off x="6876256" y="1484784"/>
              <a:ext cx="288032" cy="288032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타원 92"/>
            <p:cNvSpPr/>
            <p:nvPr/>
          </p:nvSpPr>
          <p:spPr>
            <a:xfrm>
              <a:off x="6012160" y="148478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타원 93"/>
            <p:cNvSpPr/>
            <p:nvPr/>
          </p:nvSpPr>
          <p:spPr>
            <a:xfrm>
              <a:off x="5148064" y="148478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타원 94"/>
            <p:cNvSpPr/>
            <p:nvPr/>
          </p:nvSpPr>
          <p:spPr>
            <a:xfrm>
              <a:off x="6444208" y="1484784"/>
              <a:ext cx="288032" cy="288032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0" name="그룹 89"/>
          <p:cNvGrpSpPr/>
          <p:nvPr/>
        </p:nvGrpSpPr>
        <p:grpSpPr>
          <a:xfrm>
            <a:off x="5292080" y="1628800"/>
            <a:ext cx="1728192" cy="1419200"/>
            <a:chOff x="5292080" y="1628800"/>
            <a:chExt cx="1728192" cy="1419200"/>
          </a:xfrm>
        </p:grpSpPr>
        <p:cxnSp>
          <p:nvCxnSpPr>
            <p:cNvPr id="81" name="직선 화살표 연결선 80"/>
            <p:cNvCxnSpPr/>
            <p:nvPr/>
          </p:nvCxnSpPr>
          <p:spPr>
            <a:xfrm flipV="1">
              <a:off x="5292080" y="1628800"/>
              <a:ext cx="0" cy="1008112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화살표 연결선 82"/>
            <p:cNvCxnSpPr/>
            <p:nvPr/>
          </p:nvCxnSpPr>
          <p:spPr>
            <a:xfrm flipV="1">
              <a:off x="5369859" y="1628800"/>
              <a:ext cx="354269" cy="1419200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/>
            <p:cNvCxnSpPr/>
            <p:nvPr/>
          </p:nvCxnSpPr>
          <p:spPr>
            <a:xfrm flipV="1">
              <a:off x="5652120" y="1628800"/>
              <a:ext cx="504056" cy="1224136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화살표 연결선 86"/>
            <p:cNvCxnSpPr/>
            <p:nvPr/>
          </p:nvCxnSpPr>
          <p:spPr>
            <a:xfrm flipV="1">
              <a:off x="6012160" y="1628800"/>
              <a:ext cx="576064" cy="1038771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화살표 연결선 88"/>
            <p:cNvCxnSpPr/>
            <p:nvPr/>
          </p:nvCxnSpPr>
          <p:spPr>
            <a:xfrm flipV="1">
              <a:off x="6228184" y="1628800"/>
              <a:ext cx="792088" cy="1296144"/>
            </a:xfrm>
            <a:prstGeom prst="straightConnector1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  <a:prstDash val="dash"/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그룹 61"/>
          <p:cNvGrpSpPr/>
          <p:nvPr/>
        </p:nvGrpSpPr>
        <p:grpSpPr>
          <a:xfrm>
            <a:off x="5148064" y="2708920"/>
            <a:ext cx="1080120" cy="648072"/>
            <a:chOff x="5652120" y="2708920"/>
            <a:chExt cx="1080120" cy="648072"/>
          </a:xfrm>
        </p:grpSpPr>
        <p:sp>
          <p:nvSpPr>
            <p:cNvPr id="5" name="타원 4"/>
            <p:cNvSpPr/>
            <p:nvPr/>
          </p:nvSpPr>
          <p:spPr>
            <a:xfrm>
              <a:off x="5652120" y="3068960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6228184" y="2708920"/>
              <a:ext cx="288032" cy="288032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5940152" y="2924944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타원 8"/>
            <p:cNvSpPr/>
            <p:nvPr/>
          </p:nvSpPr>
          <p:spPr>
            <a:xfrm>
              <a:off x="5652120" y="2708920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/>
            <p:cNvSpPr/>
            <p:nvPr/>
          </p:nvSpPr>
          <p:spPr>
            <a:xfrm>
              <a:off x="6444208" y="2996952"/>
              <a:ext cx="288032" cy="288032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63" name="그룹 62"/>
          <p:cNvGrpSpPr/>
          <p:nvPr/>
        </p:nvGrpSpPr>
        <p:grpSpPr>
          <a:xfrm>
            <a:off x="5076056" y="1412776"/>
            <a:ext cx="2160240" cy="432048"/>
            <a:chOff x="5076056" y="1412776"/>
            <a:chExt cx="2160240" cy="432048"/>
          </a:xfrm>
        </p:grpSpPr>
        <p:sp>
          <p:nvSpPr>
            <p:cNvPr id="54" name="직사각형 53"/>
            <p:cNvSpPr/>
            <p:nvPr/>
          </p:nvSpPr>
          <p:spPr>
            <a:xfrm>
              <a:off x="5076056" y="1412776"/>
              <a:ext cx="432048" cy="432048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5508104" y="1412776"/>
              <a:ext cx="432048" cy="432048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5940152" y="1412776"/>
              <a:ext cx="432048" cy="432048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6372200" y="1412776"/>
              <a:ext cx="432048" cy="432048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6804248" y="1412776"/>
              <a:ext cx="432048" cy="432048"/>
            </a:xfrm>
            <a:prstGeom prst="rect">
              <a:avLst/>
            </a:prstGeom>
            <a:noFill/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51202" name="Object 2"/>
          <p:cNvGraphicFramePr>
            <a:graphicFrameLocks noChangeAspect="1"/>
          </p:cNvGraphicFramePr>
          <p:nvPr/>
        </p:nvGraphicFramePr>
        <p:xfrm>
          <a:off x="6890345" y="2667571"/>
          <a:ext cx="561975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6" name="수식" r:id="rId3" imgW="291960" imgH="431640" progId="Equation.3">
                  <p:embed/>
                </p:oleObj>
              </mc:Choice>
              <mc:Fallback>
                <p:oleObj name="수식" r:id="rId3" imgW="291960" imgH="4316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90345" y="2667571"/>
                        <a:ext cx="561975" cy="833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" name="그룹 78"/>
          <p:cNvGrpSpPr/>
          <p:nvPr/>
        </p:nvGrpSpPr>
        <p:grpSpPr>
          <a:xfrm>
            <a:off x="3851920" y="4725144"/>
            <a:ext cx="2448272" cy="720080"/>
            <a:chOff x="3851920" y="4725144"/>
            <a:chExt cx="2448272" cy="720080"/>
          </a:xfrm>
        </p:grpSpPr>
        <p:sp>
          <p:nvSpPr>
            <p:cNvPr id="67" name="타원 66"/>
            <p:cNvSpPr/>
            <p:nvPr/>
          </p:nvSpPr>
          <p:spPr>
            <a:xfrm>
              <a:off x="5220072" y="5157192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타원 67"/>
            <p:cNvSpPr/>
            <p:nvPr/>
          </p:nvSpPr>
          <p:spPr>
            <a:xfrm>
              <a:off x="5796136" y="4797152"/>
              <a:ext cx="288032" cy="288032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타원 68"/>
            <p:cNvSpPr/>
            <p:nvPr/>
          </p:nvSpPr>
          <p:spPr>
            <a:xfrm>
              <a:off x="5508104" y="5013176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타원 69"/>
            <p:cNvSpPr/>
            <p:nvPr/>
          </p:nvSpPr>
          <p:spPr>
            <a:xfrm>
              <a:off x="5220072" y="4797152"/>
              <a:ext cx="288032" cy="288032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/>
            <p:cNvSpPr/>
            <p:nvPr/>
          </p:nvSpPr>
          <p:spPr>
            <a:xfrm>
              <a:off x="6012160" y="5085184"/>
              <a:ext cx="288032" cy="288032"/>
            </a:xfrm>
            <a:prstGeom prst="ellipse">
              <a:avLst/>
            </a:prstGeom>
            <a:solidFill>
              <a:srgbClr val="FF00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타원 71"/>
            <p:cNvSpPr/>
            <p:nvPr/>
          </p:nvSpPr>
          <p:spPr>
            <a:xfrm>
              <a:off x="4716016" y="4725144"/>
              <a:ext cx="288032" cy="28803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타원 72"/>
            <p:cNvSpPr/>
            <p:nvPr/>
          </p:nvSpPr>
          <p:spPr>
            <a:xfrm>
              <a:off x="4788024" y="5085184"/>
              <a:ext cx="288032" cy="28803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타원 73"/>
            <p:cNvSpPr/>
            <p:nvPr/>
          </p:nvSpPr>
          <p:spPr>
            <a:xfrm>
              <a:off x="4211960" y="4869160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타원 74"/>
            <p:cNvSpPr/>
            <p:nvPr/>
          </p:nvSpPr>
          <p:spPr>
            <a:xfrm>
              <a:off x="4355976" y="5157192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타원 75"/>
            <p:cNvSpPr/>
            <p:nvPr/>
          </p:nvSpPr>
          <p:spPr>
            <a:xfrm>
              <a:off x="3923928" y="5157192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타원 76"/>
            <p:cNvSpPr/>
            <p:nvPr/>
          </p:nvSpPr>
          <p:spPr>
            <a:xfrm>
              <a:off x="3851920" y="4797152"/>
              <a:ext cx="288032" cy="288032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ffectLst/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5120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342999"/>
              </p:ext>
            </p:extLst>
          </p:nvPr>
        </p:nvGraphicFramePr>
        <p:xfrm>
          <a:off x="6660232" y="4683794"/>
          <a:ext cx="1074737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7" name="수식" r:id="rId5" imgW="558720" imgH="431640" progId="Equation.3">
                  <p:embed/>
                </p:oleObj>
              </mc:Choice>
              <mc:Fallback>
                <p:oleObj name="수식" r:id="rId5" imgW="55872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0232" y="4683794"/>
                        <a:ext cx="1074737" cy="83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그룹 14"/>
          <p:cNvGrpSpPr/>
          <p:nvPr/>
        </p:nvGrpSpPr>
        <p:grpSpPr>
          <a:xfrm>
            <a:off x="1331640" y="1412776"/>
            <a:ext cx="2160240" cy="2736304"/>
            <a:chOff x="1331640" y="1412776"/>
            <a:chExt cx="2160240" cy="2736304"/>
          </a:xfrm>
        </p:grpSpPr>
        <p:grpSp>
          <p:nvGrpSpPr>
            <p:cNvPr id="61" name="그룹 60"/>
            <p:cNvGrpSpPr/>
            <p:nvPr/>
          </p:nvGrpSpPr>
          <p:grpSpPr>
            <a:xfrm>
              <a:off x="1331640" y="1412776"/>
              <a:ext cx="2160240" cy="2736304"/>
              <a:chOff x="1115616" y="1412776"/>
              <a:chExt cx="2160240" cy="2736304"/>
            </a:xfrm>
          </p:grpSpPr>
          <p:sp>
            <p:nvSpPr>
              <p:cNvPr id="13" name="타원 12"/>
              <p:cNvSpPr/>
              <p:nvPr/>
            </p:nvSpPr>
            <p:spPr>
              <a:xfrm>
                <a:off x="1619672" y="2348880"/>
                <a:ext cx="288032" cy="288032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타원 13"/>
              <p:cNvSpPr/>
              <p:nvPr/>
            </p:nvSpPr>
            <p:spPr>
              <a:xfrm>
                <a:off x="2915816" y="2348880"/>
                <a:ext cx="288032" cy="288032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타원 15"/>
              <p:cNvSpPr/>
              <p:nvPr/>
            </p:nvSpPr>
            <p:spPr>
              <a:xfrm>
                <a:off x="2483768" y="2348880"/>
                <a:ext cx="288032" cy="288032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타원 16"/>
              <p:cNvSpPr/>
              <p:nvPr/>
            </p:nvSpPr>
            <p:spPr>
              <a:xfrm>
                <a:off x="1187624" y="2348880"/>
                <a:ext cx="288032" cy="288032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타원 17"/>
              <p:cNvSpPr/>
              <p:nvPr/>
            </p:nvSpPr>
            <p:spPr>
              <a:xfrm>
                <a:off x="2051720" y="2348880"/>
                <a:ext cx="288032" cy="288032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타원 19"/>
              <p:cNvSpPr/>
              <p:nvPr/>
            </p:nvSpPr>
            <p:spPr>
              <a:xfrm>
                <a:off x="1619672" y="1484784"/>
                <a:ext cx="288032" cy="288032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타원 20"/>
              <p:cNvSpPr/>
              <p:nvPr/>
            </p:nvSpPr>
            <p:spPr>
              <a:xfrm>
                <a:off x="2915816" y="1484784"/>
                <a:ext cx="288032" cy="288032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타원 22"/>
              <p:cNvSpPr/>
              <p:nvPr/>
            </p:nvSpPr>
            <p:spPr>
              <a:xfrm>
                <a:off x="2051720" y="1484784"/>
                <a:ext cx="288032" cy="288032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타원 23"/>
              <p:cNvSpPr/>
              <p:nvPr/>
            </p:nvSpPr>
            <p:spPr>
              <a:xfrm>
                <a:off x="1187624" y="1484784"/>
                <a:ext cx="288032" cy="288032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타원 24"/>
              <p:cNvSpPr/>
              <p:nvPr/>
            </p:nvSpPr>
            <p:spPr>
              <a:xfrm>
                <a:off x="2483768" y="1484784"/>
                <a:ext cx="288032" cy="288032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타원 26"/>
              <p:cNvSpPr/>
              <p:nvPr/>
            </p:nvSpPr>
            <p:spPr>
              <a:xfrm>
                <a:off x="1619672" y="3789040"/>
                <a:ext cx="288032" cy="288032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타원 27"/>
              <p:cNvSpPr/>
              <p:nvPr/>
            </p:nvSpPr>
            <p:spPr>
              <a:xfrm>
                <a:off x="2915816" y="3789040"/>
                <a:ext cx="288032" cy="288032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타원 29"/>
              <p:cNvSpPr/>
              <p:nvPr/>
            </p:nvSpPr>
            <p:spPr>
              <a:xfrm>
                <a:off x="2051720" y="3789040"/>
                <a:ext cx="288032" cy="288032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타원 30"/>
              <p:cNvSpPr/>
              <p:nvPr/>
            </p:nvSpPr>
            <p:spPr>
              <a:xfrm>
                <a:off x="2483768" y="3789040"/>
                <a:ext cx="288032" cy="288032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타원 31"/>
              <p:cNvSpPr/>
              <p:nvPr/>
            </p:nvSpPr>
            <p:spPr>
              <a:xfrm>
                <a:off x="1187624" y="3789040"/>
                <a:ext cx="288032" cy="288032"/>
              </a:xfrm>
              <a:prstGeom prst="ellipse">
                <a:avLst/>
              </a:prstGeom>
              <a:solidFill>
                <a:srgbClr val="FF00FF"/>
              </a:solidFill>
              <a:ln>
                <a:noFill/>
              </a:ln>
              <a:effectLst/>
              <a:scene3d>
                <a:camera prst="orthographicFront">
                  <a:rot lat="0" lon="0" rev="0"/>
                </a:camera>
                <a:lightRig rig="contrasting" dir="t">
                  <a:rot lat="0" lon="0" rev="7800000"/>
                </a:lightRig>
              </a:scene3d>
              <a:sp3d>
                <a:bevelT w="139700" h="139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/>
              <p:cNvSpPr/>
              <p:nvPr/>
            </p:nvSpPr>
            <p:spPr>
              <a:xfrm>
                <a:off x="1115616" y="1412776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직사각형 39"/>
              <p:cNvSpPr/>
              <p:nvPr/>
            </p:nvSpPr>
            <p:spPr>
              <a:xfrm>
                <a:off x="1547664" y="1412776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1" name="직사각형 40"/>
              <p:cNvSpPr/>
              <p:nvPr/>
            </p:nvSpPr>
            <p:spPr>
              <a:xfrm>
                <a:off x="1979712" y="1412776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2411760" y="1412776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/>
              <p:cNvSpPr/>
              <p:nvPr/>
            </p:nvSpPr>
            <p:spPr>
              <a:xfrm>
                <a:off x="2843808" y="1412776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/>
              <p:cNvSpPr/>
              <p:nvPr/>
            </p:nvSpPr>
            <p:spPr>
              <a:xfrm>
                <a:off x="1115616" y="2276872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직사각형 44"/>
              <p:cNvSpPr/>
              <p:nvPr/>
            </p:nvSpPr>
            <p:spPr>
              <a:xfrm>
                <a:off x="1547664" y="2276872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직사각형 45"/>
              <p:cNvSpPr/>
              <p:nvPr/>
            </p:nvSpPr>
            <p:spPr>
              <a:xfrm>
                <a:off x="1979712" y="2276872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직사각형 46"/>
              <p:cNvSpPr/>
              <p:nvPr/>
            </p:nvSpPr>
            <p:spPr>
              <a:xfrm>
                <a:off x="2411760" y="2276872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직사각형 47"/>
              <p:cNvSpPr/>
              <p:nvPr/>
            </p:nvSpPr>
            <p:spPr>
              <a:xfrm>
                <a:off x="2843808" y="2276872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직사각형 48"/>
              <p:cNvSpPr/>
              <p:nvPr/>
            </p:nvSpPr>
            <p:spPr>
              <a:xfrm>
                <a:off x="1115616" y="3717032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1547664" y="3717032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1979712" y="3717032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2411760" y="3717032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2843808" y="3717032"/>
                <a:ext cx="432048" cy="432048"/>
              </a:xfrm>
              <a:prstGeom prst="rect">
                <a:avLst/>
              </a:prstGeom>
              <a:noFill/>
              <a:ln w="1905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7" name="TextBox 96"/>
            <p:cNvSpPr txBox="1"/>
            <p:nvPr/>
          </p:nvSpPr>
          <p:spPr>
            <a:xfrm>
              <a:off x="2123728" y="2996952"/>
              <a:ext cx="5040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 smtClean="0"/>
                <a:t>:</a:t>
              </a:r>
              <a:endParaRPr lang="ko-KR" altLang="en-US" sz="2400" dirty="0"/>
            </a:p>
          </p:txBody>
        </p:sp>
      </p:grpSp>
      <p:sp>
        <p:nvSpPr>
          <p:cNvPr id="98" name="직사각형 97"/>
          <p:cNvSpPr/>
          <p:nvPr/>
        </p:nvSpPr>
        <p:spPr>
          <a:xfrm>
            <a:off x="6588224" y="2636912"/>
            <a:ext cx="1296144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/>
          <p:cNvSpPr/>
          <p:nvPr/>
        </p:nvSpPr>
        <p:spPr>
          <a:xfrm>
            <a:off x="6660232" y="4653136"/>
            <a:ext cx="1224136" cy="86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4" name="그룹 83"/>
          <p:cNvGrpSpPr/>
          <p:nvPr/>
        </p:nvGrpSpPr>
        <p:grpSpPr>
          <a:xfrm>
            <a:off x="3707904" y="1484784"/>
            <a:ext cx="648072" cy="2592288"/>
            <a:chOff x="3779912" y="1484784"/>
            <a:chExt cx="648072" cy="2592288"/>
          </a:xfrm>
        </p:grpSpPr>
        <p:sp>
          <p:nvSpPr>
            <p:cNvPr id="78" name="오른쪽 화살표 77"/>
            <p:cNvSpPr/>
            <p:nvPr/>
          </p:nvSpPr>
          <p:spPr>
            <a:xfrm flipH="1">
              <a:off x="3995936" y="1484784"/>
              <a:ext cx="432048" cy="288032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오른쪽 화살표 79"/>
            <p:cNvSpPr/>
            <p:nvPr/>
          </p:nvSpPr>
          <p:spPr>
            <a:xfrm flipH="1">
              <a:off x="3923928" y="2348880"/>
              <a:ext cx="432048" cy="288032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오른쪽 화살표 81"/>
            <p:cNvSpPr/>
            <p:nvPr/>
          </p:nvSpPr>
          <p:spPr>
            <a:xfrm flipH="1">
              <a:off x="3779912" y="3789040"/>
              <a:ext cx="432048" cy="288032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1331640" y="4509120"/>
            <a:ext cx="2016224" cy="1099284"/>
            <a:chOff x="1331640" y="4509120"/>
            <a:chExt cx="2016224" cy="1099284"/>
          </a:xfrm>
        </p:grpSpPr>
        <p:sp>
          <p:nvSpPr>
            <p:cNvPr id="86" name="TextBox 85"/>
            <p:cNvSpPr txBox="1"/>
            <p:nvPr/>
          </p:nvSpPr>
          <p:spPr>
            <a:xfrm>
              <a:off x="1835696" y="4509120"/>
              <a:ext cx="10801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i="1" dirty="0" smtClean="0">
                  <a:latin typeface="Times New Roman" pitchFamily="18" charset="0"/>
                  <a:cs typeface="Times New Roman" pitchFamily="18" charset="0"/>
                </a:rPr>
                <a:t>x</a:t>
              </a:r>
              <a:r>
                <a:rPr lang="en-US" altLang="ko-KR" sz="2800" baseline="30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altLang="ko-KR" sz="2800" i="1" dirty="0" smtClean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altLang="ko-KR" sz="2800" baseline="30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ko-KR" altLang="en-US" sz="28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1331640" y="5085184"/>
              <a:ext cx="201622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800" dirty="0" smtClean="0">
                  <a:latin typeface="Times New Roman" pitchFamily="18" charset="0"/>
                  <a:cs typeface="Times New Roman" pitchFamily="18" charset="0"/>
                </a:rPr>
                <a:t>from (</a:t>
              </a:r>
              <a:r>
                <a:rPr lang="en-US" altLang="ko-KR" sz="2800" i="1" dirty="0" smtClean="0">
                  <a:latin typeface="Times New Roman" pitchFamily="18" charset="0"/>
                  <a:cs typeface="Times New Roman" pitchFamily="18" charset="0"/>
                </a:rPr>
                <a:t>x </a:t>
              </a:r>
              <a:r>
                <a:rPr lang="en-US" altLang="ko-KR" sz="2800" dirty="0" smtClean="0">
                  <a:latin typeface="Times New Roman" pitchFamily="18" charset="0"/>
                  <a:cs typeface="Times New Roman" pitchFamily="18" charset="0"/>
                </a:rPr>
                <a:t>+ </a:t>
              </a:r>
              <a:r>
                <a:rPr lang="en-US" altLang="ko-KR" sz="2800" i="1" dirty="0" smtClean="0">
                  <a:latin typeface="Times New Roman" pitchFamily="18" charset="0"/>
                  <a:cs typeface="Times New Roman" pitchFamily="18" charset="0"/>
                </a:rPr>
                <a:t>y</a:t>
              </a:r>
              <a:r>
                <a:rPr lang="en-US" altLang="ko-KR" sz="2800" dirty="0" smtClean="0">
                  <a:latin typeface="Times New Roman" pitchFamily="18" charset="0"/>
                  <a:cs typeface="Times New Roman" pitchFamily="18" charset="0"/>
                </a:rPr>
                <a:t>)</a:t>
              </a:r>
              <a:r>
                <a:rPr lang="en-US" altLang="ko-KR" sz="2800" baseline="30000" dirty="0" smtClean="0">
                  <a:latin typeface="Times New Roman" pitchFamily="18" charset="0"/>
                  <a:cs typeface="Times New Roman" pitchFamily="18" charset="0"/>
                </a:rPr>
                <a:t>5</a:t>
              </a:r>
              <a:endParaRPr lang="ko-KR" altLang="en-US" sz="2800" baseline="30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2" name="TextBox 101"/>
          <p:cNvSpPr txBox="1"/>
          <p:nvPr/>
        </p:nvSpPr>
        <p:spPr>
          <a:xfrm>
            <a:off x="4355976" y="5570076"/>
            <a:ext cx="1401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i="1" dirty="0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ko-KR" sz="2800" baseline="3000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ko-KR" sz="2800" i="1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ko-KR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sz="2800" i="1" dirty="0" smtClean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ko-KR" sz="2800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ko-KR" sz="2800" i="1" dirty="0" smtClean="0">
                <a:latin typeface="Times New Roman" pitchFamily="18" charset="0"/>
                <a:cs typeface="Times New Roman" pitchFamily="18" charset="0"/>
              </a:rPr>
              <a:t>z</a:t>
            </a:r>
            <a:r>
              <a:rPr lang="en-US" altLang="ko-KR" sz="2800" baseline="30000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ko-KR" altLang="en-US" sz="2800" baseline="30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3707904" y="4653136"/>
            <a:ext cx="2664296" cy="1595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8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 animBg="1"/>
      <p:bldP spid="100" grpId="0" animBg="1"/>
      <p:bldP spid="9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왼쪽 중괄호 7"/>
          <p:cNvSpPr/>
          <p:nvPr/>
        </p:nvSpPr>
        <p:spPr>
          <a:xfrm rot="16200000">
            <a:off x="4893471" y="4679166"/>
            <a:ext cx="214314" cy="242889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4786314" y="5947966"/>
            <a:ext cx="4286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smtClean="0">
                <a:latin typeface="+mn-lt"/>
              </a:rPr>
              <a:t>10</a:t>
            </a:r>
            <a:endParaRPr lang="ko-KR" altLang="en-US" sz="1600" dirty="0">
              <a:latin typeface="+mn-lt"/>
            </a:endParaRPr>
          </a:p>
        </p:txBody>
      </p:sp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Combinations with Repetition</a:t>
            </a:r>
            <a:endParaRPr lang="ko-KR" altLang="en-US" smtClean="0"/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572017"/>
          </a:xfrm>
        </p:spPr>
        <p:txBody>
          <a:bodyPr/>
          <a:lstStyle/>
          <a:p>
            <a:r>
              <a:rPr lang="en-US" altLang="ko-KR" dirty="0" smtClean="0"/>
              <a:t>An Example</a:t>
            </a:r>
          </a:p>
          <a:p>
            <a:pPr>
              <a:buFont typeface="Wingdings" pitchFamily="2" charset="2"/>
              <a:buNone/>
            </a:pPr>
            <a:r>
              <a:rPr lang="en-US" altLang="ko-KR" dirty="0" smtClean="0"/>
              <a:t>	O</a:t>
            </a:r>
            <a:r>
              <a:rPr lang="en-US" altLang="ko-KR" sz="2000" dirty="0" smtClean="0"/>
              <a:t>n their way home from track practice, </a:t>
            </a:r>
            <a:r>
              <a:rPr lang="en-US" altLang="ko-KR" sz="2000" dirty="0" smtClean="0">
                <a:solidFill>
                  <a:srgbClr val="0000CC"/>
                </a:solidFill>
              </a:rPr>
              <a:t>seven</a:t>
            </a:r>
            <a:r>
              <a:rPr lang="en-US" altLang="ko-KR" sz="2000" dirty="0" smtClean="0"/>
              <a:t> high school freshmen stop at a restaurant, where each of them has one of the following:   a </a:t>
            </a:r>
            <a:r>
              <a:rPr lang="en-US" altLang="ko-KR" sz="2000" dirty="0" smtClean="0">
                <a:solidFill>
                  <a:srgbClr val="C00000"/>
                </a:solidFill>
              </a:rPr>
              <a:t>c</a:t>
            </a:r>
            <a:r>
              <a:rPr lang="en-US" altLang="ko-KR" sz="2000" dirty="0" smtClean="0">
                <a:solidFill>
                  <a:srgbClr val="0000FF"/>
                </a:solidFill>
              </a:rPr>
              <a:t>heese-burger</a:t>
            </a:r>
            <a:r>
              <a:rPr lang="en-US" altLang="ko-KR" sz="2000" dirty="0" smtClean="0"/>
              <a:t>, a </a:t>
            </a:r>
            <a:r>
              <a:rPr lang="en-US" altLang="ko-KR" sz="2000" dirty="0" smtClean="0">
                <a:solidFill>
                  <a:srgbClr val="C00000"/>
                </a:solidFill>
              </a:rPr>
              <a:t>h</a:t>
            </a:r>
            <a:r>
              <a:rPr lang="en-US" altLang="ko-KR" sz="2000" dirty="0" smtClean="0">
                <a:solidFill>
                  <a:srgbClr val="0000FF"/>
                </a:solidFill>
              </a:rPr>
              <a:t>ot dog</a:t>
            </a:r>
            <a:r>
              <a:rPr lang="en-US" altLang="ko-KR" sz="2000" dirty="0" smtClean="0"/>
              <a:t>, a </a:t>
            </a:r>
            <a:r>
              <a:rPr lang="en-US" altLang="ko-KR" sz="2000" dirty="0" smtClean="0">
                <a:solidFill>
                  <a:srgbClr val="C00000"/>
                </a:solidFill>
              </a:rPr>
              <a:t>t</a:t>
            </a:r>
            <a:r>
              <a:rPr lang="en-US" altLang="ko-KR" sz="2000" dirty="0" smtClean="0">
                <a:solidFill>
                  <a:srgbClr val="0000FF"/>
                </a:solidFill>
              </a:rPr>
              <a:t>aco</a:t>
            </a:r>
            <a:r>
              <a:rPr lang="en-US" altLang="ko-KR" sz="2000" dirty="0" smtClean="0"/>
              <a:t>, or a </a:t>
            </a:r>
            <a:r>
              <a:rPr lang="en-US" altLang="ko-KR" sz="2000" dirty="0" smtClean="0">
                <a:solidFill>
                  <a:srgbClr val="C00000"/>
                </a:solidFill>
              </a:rPr>
              <a:t>f</a:t>
            </a:r>
            <a:r>
              <a:rPr lang="en-US" altLang="ko-KR" sz="2000" dirty="0" smtClean="0">
                <a:solidFill>
                  <a:srgbClr val="0000FF"/>
                </a:solidFill>
              </a:rPr>
              <a:t>ish sandwich</a:t>
            </a:r>
            <a:r>
              <a:rPr lang="en-US" altLang="ko-KR" sz="2000" dirty="0" smtClean="0"/>
              <a:t>. How many different purchases are possible?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	</a:t>
            </a:r>
            <a:r>
              <a:rPr lang="en-US" altLang="ko-KR" sz="2000" i="1" dirty="0" smtClean="0"/>
              <a:t>Answer </a:t>
            </a:r>
            <a:r>
              <a:rPr lang="en-US" altLang="ko-KR" sz="2000" dirty="0" smtClean="0"/>
              <a:t>: The number of ways for selecting </a:t>
            </a:r>
            <a:r>
              <a:rPr lang="en-US" altLang="ko-KR" sz="2000" b="1" dirty="0" smtClean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ko-KR" sz="2000" dirty="0" smtClean="0"/>
              <a:t>(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) of </a:t>
            </a:r>
            <a:r>
              <a:rPr lang="en-US" altLang="ko-KR" sz="20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ko-KR" sz="2000" dirty="0" smtClean="0"/>
              <a:t>(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) different objects, </a:t>
            </a:r>
            <a:r>
              <a:rPr lang="en-US" altLang="ko-KR" sz="2000" i="1" dirty="0" smtClean="0"/>
              <a:t>with repetition</a:t>
            </a:r>
            <a:r>
              <a:rPr lang="en-US" altLang="ko-KR" sz="2000" dirty="0" smtClean="0"/>
              <a:t>, is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 + r </a:t>
            </a:r>
            <a:r>
              <a:rPr lang="ko-KR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–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r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(4 + 7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ko-KR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–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1,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7) =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(10,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7)</a:t>
            </a:r>
            <a:r>
              <a:rPr lang="en-US" altLang="ko-KR" sz="2000" dirty="0" smtClean="0"/>
              <a:t>. </a:t>
            </a:r>
          </a:p>
          <a:p>
            <a:pPr>
              <a:lnSpc>
                <a:spcPct val="50000"/>
              </a:lnSpc>
              <a:buFont typeface="Wingdings" pitchFamily="2" charset="2"/>
              <a:buNone/>
            </a:pPr>
            <a:endParaRPr lang="en-US" altLang="ko-KR" sz="2000" dirty="0" smtClean="0"/>
          </a:p>
          <a:p>
            <a:pPr>
              <a:buFont typeface="Wingdings" pitchFamily="2" charset="2"/>
              <a:buNone/>
            </a:pPr>
            <a:r>
              <a:rPr lang="en-US" altLang="ko-KR" sz="2000" dirty="0" smtClean="0"/>
              <a:t>		c, c, c, h, h, t, f   </a:t>
            </a:r>
            <a:r>
              <a:rPr lang="en-US" altLang="ko-KR" sz="2000" dirty="0" smtClean="0">
                <a:sym typeface="Wingdings" pitchFamily="2" charset="2"/>
              </a:rPr>
              <a:t>   x  </a:t>
            </a:r>
            <a:r>
              <a:rPr lang="en-US" altLang="ko-KR" sz="2000" dirty="0" err="1" smtClean="0">
                <a:sym typeface="Wingdings" pitchFamily="2" charset="2"/>
              </a:rPr>
              <a:t>x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err="1" smtClean="0">
                <a:sym typeface="Wingdings" pitchFamily="2" charset="2"/>
              </a:rPr>
              <a:t>x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smtClean="0">
                <a:solidFill>
                  <a:srgbClr val="FF00FF"/>
                </a:solidFill>
                <a:sym typeface="Wingdings" pitchFamily="2" charset="2"/>
              </a:rPr>
              <a:t>|</a:t>
            </a:r>
            <a:r>
              <a:rPr lang="en-US" altLang="ko-KR" sz="2000" dirty="0" smtClean="0">
                <a:sym typeface="Wingdings" pitchFamily="2" charset="2"/>
              </a:rPr>
              <a:t>  x  </a:t>
            </a:r>
            <a:r>
              <a:rPr lang="en-US" altLang="ko-KR" sz="2000" dirty="0" err="1" smtClean="0">
                <a:sym typeface="Wingdings" pitchFamily="2" charset="2"/>
              </a:rPr>
              <a:t>x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smtClean="0">
                <a:solidFill>
                  <a:srgbClr val="FF00FF"/>
                </a:solidFill>
                <a:sym typeface="Wingdings" pitchFamily="2" charset="2"/>
              </a:rPr>
              <a:t>|</a:t>
            </a:r>
            <a:r>
              <a:rPr lang="en-US" altLang="ko-KR" sz="2000" dirty="0" smtClean="0">
                <a:sym typeface="Wingdings" pitchFamily="2" charset="2"/>
              </a:rPr>
              <a:t>  x  </a:t>
            </a:r>
            <a:r>
              <a:rPr lang="en-US" altLang="ko-KR" sz="2000" dirty="0" smtClean="0">
                <a:solidFill>
                  <a:srgbClr val="FF00FF"/>
                </a:solidFill>
                <a:sym typeface="Wingdings" pitchFamily="2" charset="2"/>
              </a:rPr>
              <a:t>|</a:t>
            </a:r>
            <a:r>
              <a:rPr lang="en-US" altLang="ko-KR" sz="2000" dirty="0" smtClean="0">
                <a:sym typeface="Wingdings" pitchFamily="2" charset="2"/>
              </a:rPr>
              <a:t>  x</a:t>
            </a:r>
          </a:p>
          <a:p>
            <a:pPr>
              <a:buNone/>
            </a:pPr>
            <a:r>
              <a:rPr lang="en-US" altLang="ko-KR" sz="2000" dirty="0" smtClean="0"/>
              <a:t>		c, c, h, h, h, t, f   </a:t>
            </a:r>
            <a:r>
              <a:rPr lang="en-US" altLang="ko-KR" sz="2000" dirty="0" smtClean="0">
                <a:sym typeface="Wingdings" pitchFamily="2" charset="2"/>
              </a:rPr>
              <a:t>   x  </a:t>
            </a:r>
            <a:r>
              <a:rPr lang="en-US" altLang="ko-KR" sz="2000" dirty="0" err="1" smtClean="0">
                <a:sym typeface="Wingdings" pitchFamily="2" charset="2"/>
              </a:rPr>
              <a:t>x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smtClean="0">
                <a:solidFill>
                  <a:srgbClr val="FF00FF"/>
                </a:solidFill>
                <a:sym typeface="Wingdings" pitchFamily="2" charset="2"/>
              </a:rPr>
              <a:t>|</a:t>
            </a:r>
            <a:r>
              <a:rPr lang="en-US" altLang="ko-KR" sz="2000" dirty="0" smtClean="0">
                <a:sym typeface="Wingdings" pitchFamily="2" charset="2"/>
              </a:rPr>
              <a:t>  x  </a:t>
            </a:r>
            <a:r>
              <a:rPr lang="en-US" altLang="ko-KR" sz="2000" dirty="0" err="1" smtClean="0">
                <a:sym typeface="Wingdings" pitchFamily="2" charset="2"/>
              </a:rPr>
              <a:t>x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err="1" smtClean="0">
                <a:sym typeface="Wingdings" pitchFamily="2" charset="2"/>
              </a:rPr>
              <a:t>x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smtClean="0">
                <a:solidFill>
                  <a:srgbClr val="FF00FF"/>
                </a:solidFill>
                <a:sym typeface="Wingdings" pitchFamily="2" charset="2"/>
              </a:rPr>
              <a:t>|</a:t>
            </a:r>
            <a:r>
              <a:rPr lang="en-US" altLang="ko-KR" sz="2000" dirty="0" smtClean="0">
                <a:sym typeface="Wingdings" pitchFamily="2" charset="2"/>
              </a:rPr>
              <a:t>  x  </a:t>
            </a:r>
            <a:r>
              <a:rPr lang="en-US" altLang="ko-KR" sz="2000" dirty="0" smtClean="0">
                <a:solidFill>
                  <a:srgbClr val="FF00FF"/>
                </a:solidFill>
                <a:sym typeface="Wingdings" pitchFamily="2" charset="2"/>
              </a:rPr>
              <a:t>|</a:t>
            </a:r>
            <a:r>
              <a:rPr lang="en-US" altLang="ko-KR" sz="2000" dirty="0" smtClean="0">
                <a:sym typeface="Wingdings" pitchFamily="2" charset="2"/>
              </a:rPr>
              <a:t>  x</a:t>
            </a:r>
          </a:p>
          <a:p>
            <a:pPr>
              <a:buFont typeface="Wingdings" pitchFamily="2" charset="2"/>
              <a:buNone/>
            </a:pPr>
            <a:r>
              <a:rPr lang="en-US" altLang="ko-KR" sz="2000" dirty="0" smtClean="0"/>
              <a:t>		t,  t,  t,  t,  t,  t, f   </a:t>
            </a:r>
            <a:r>
              <a:rPr lang="en-US" altLang="ko-KR" sz="2000" dirty="0" smtClean="0">
                <a:sym typeface="Wingdings" pitchFamily="2" charset="2"/>
              </a:rPr>
              <a:t>   </a:t>
            </a:r>
            <a:r>
              <a:rPr lang="en-US" altLang="ko-KR" sz="2000" dirty="0" smtClean="0">
                <a:solidFill>
                  <a:srgbClr val="FF00FF"/>
                </a:solidFill>
                <a:sym typeface="Wingdings" pitchFamily="2" charset="2"/>
              </a:rPr>
              <a:t>|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smtClean="0">
                <a:solidFill>
                  <a:srgbClr val="FF00FF"/>
                </a:solidFill>
                <a:sym typeface="Wingdings" pitchFamily="2" charset="2"/>
              </a:rPr>
              <a:t>|</a:t>
            </a:r>
            <a:r>
              <a:rPr lang="en-US" altLang="ko-KR" sz="2000" dirty="0" smtClean="0">
                <a:sym typeface="Wingdings" pitchFamily="2" charset="2"/>
              </a:rPr>
              <a:t>  x  </a:t>
            </a:r>
            <a:r>
              <a:rPr lang="en-US" altLang="ko-KR" sz="2000" dirty="0" err="1" smtClean="0">
                <a:sym typeface="Wingdings" pitchFamily="2" charset="2"/>
              </a:rPr>
              <a:t>x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err="1" smtClean="0">
                <a:sym typeface="Wingdings" pitchFamily="2" charset="2"/>
              </a:rPr>
              <a:t>x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err="1" smtClean="0">
                <a:sym typeface="Wingdings" pitchFamily="2" charset="2"/>
              </a:rPr>
              <a:t>x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err="1" smtClean="0">
                <a:sym typeface="Wingdings" pitchFamily="2" charset="2"/>
              </a:rPr>
              <a:t>x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err="1" smtClean="0">
                <a:sym typeface="Wingdings" pitchFamily="2" charset="2"/>
              </a:rPr>
              <a:t>x</a:t>
            </a:r>
            <a:r>
              <a:rPr lang="en-US" altLang="ko-KR" sz="2000" dirty="0" smtClean="0">
                <a:sym typeface="Wingdings" pitchFamily="2" charset="2"/>
              </a:rPr>
              <a:t>  </a:t>
            </a:r>
            <a:r>
              <a:rPr lang="en-US" altLang="ko-KR" sz="2000" dirty="0" smtClean="0">
                <a:solidFill>
                  <a:srgbClr val="FF00FF"/>
                </a:solidFill>
                <a:sym typeface="Wingdings" pitchFamily="2" charset="2"/>
              </a:rPr>
              <a:t>|</a:t>
            </a:r>
            <a:r>
              <a:rPr lang="en-US" altLang="ko-KR" sz="2000" dirty="0" smtClean="0">
                <a:sym typeface="Wingdings" pitchFamily="2" charset="2"/>
              </a:rPr>
              <a:t>  x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714348" y="3571876"/>
            <a:ext cx="7715304" cy="857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286116" y="4500570"/>
            <a:ext cx="3143272" cy="17859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/>
          <p:cNvGrpSpPr/>
          <p:nvPr/>
        </p:nvGrpSpPr>
        <p:grpSpPr>
          <a:xfrm>
            <a:off x="1214414" y="4643446"/>
            <a:ext cx="1785950" cy="1143008"/>
            <a:chOff x="1214414" y="4643446"/>
            <a:chExt cx="1785950" cy="1143008"/>
          </a:xfrm>
        </p:grpSpPr>
        <p:cxnSp>
          <p:nvCxnSpPr>
            <p:cNvPr id="11" name="직선 연결선 10"/>
            <p:cNvCxnSpPr/>
            <p:nvPr/>
          </p:nvCxnSpPr>
          <p:spPr>
            <a:xfrm rot="5400000">
              <a:off x="2000232" y="4786322"/>
              <a:ext cx="285752" cy="0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/>
            <p:nvPr/>
          </p:nvCxnSpPr>
          <p:spPr>
            <a:xfrm rot="5400000">
              <a:off x="2571736" y="4786322"/>
              <a:ext cx="285752" cy="0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/>
            <p:nvPr/>
          </p:nvCxnSpPr>
          <p:spPr>
            <a:xfrm rot="5400000">
              <a:off x="2857488" y="4786322"/>
              <a:ext cx="285752" cy="0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/>
            <p:cNvCxnSpPr/>
            <p:nvPr/>
          </p:nvCxnSpPr>
          <p:spPr>
            <a:xfrm rot="5400000">
              <a:off x="1785918" y="5214950"/>
              <a:ext cx="285752" cy="0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/>
            <p:nvPr/>
          </p:nvCxnSpPr>
          <p:spPr>
            <a:xfrm rot="5400000">
              <a:off x="2571736" y="5214950"/>
              <a:ext cx="285752" cy="0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/>
            <p:nvPr/>
          </p:nvCxnSpPr>
          <p:spPr>
            <a:xfrm rot="5400000">
              <a:off x="2857488" y="5214950"/>
              <a:ext cx="285752" cy="0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rot="5400000">
              <a:off x="2857488" y="5643578"/>
              <a:ext cx="285752" cy="0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 rot="5400000">
              <a:off x="1214414" y="5643578"/>
              <a:ext cx="285752" cy="0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rot="5400000">
              <a:off x="1071538" y="5643578"/>
              <a:ext cx="285752" cy="0"/>
            </a:xfrm>
            <a:prstGeom prst="line">
              <a:avLst/>
            </a:prstGeom>
            <a:ln w="28575">
              <a:solidFill>
                <a:srgbClr val="FF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300483"/>
              </p:ext>
            </p:extLst>
          </p:nvPr>
        </p:nvGraphicFramePr>
        <p:xfrm>
          <a:off x="6841916" y="4827589"/>
          <a:ext cx="536784" cy="761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0" name="수식" r:id="rId3" imgW="304560" imgH="431640" progId="Equation.3">
                  <p:embed/>
                </p:oleObj>
              </mc:Choice>
              <mc:Fallback>
                <p:oleObj name="수식" r:id="rId3" imgW="304560" imgH="431640" progId="Equation.3">
                  <p:embed/>
                  <p:pic>
                    <p:nvPicPr>
                      <p:cNvPr id="5120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1916" y="4827589"/>
                        <a:ext cx="536784" cy="76165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내용 개체 틀 5"/>
          <p:cNvSpPr>
            <a:spLocks noGrp="1"/>
          </p:cNvSpPr>
          <p:nvPr>
            <p:ph idx="1"/>
          </p:nvPr>
        </p:nvSpPr>
        <p:spPr>
          <a:xfrm>
            <a:off x="457200" y="1000125"/>
            <a:ext cx="8229600" cy="5165725"/>
          </a:xfrm>
        </p:spPr>
        <p:txBody>
          <a:bodyPr/>
          <a:lstStyle/>
          <a:p>
            <a:r>
              <a:rPr lang="en-US" altLang="ko-KR" dirty="0" smtClean="0"/>
              <a:t>W</a:t>
            </a:r>
            <a:r>
              <a:rPr lang="en-US" altLang="ko-KR" sz="2000" dirty="0" smtClean="0"/>
              <a:t>hen we wish to select, </a:t>
            </a:r>
            <a:r>
              <a:rPr lang="en-US" altLang="ko-KR" sz="2000" i="1" dirty="0" smtClean="0">
                <a:solidFill>
                  <a:srgbClr val="C00000"/>
                </a:solidFill>
              </a:rPr>
              <a:t>with repetition</a:t>
            </a:r>
            <a:r>
              <a:rPr lang="en-US" altLang="ko-KR" sz="2000" dirty="0" smtClean="0"/>
              <a:t>,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of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altLang="ko-KR" sz="2000" dirty="0" smtClean="0"/>
              <a:t> distinct objects, we find that we are considering all arrangements of 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ko-KR" sz="2000" dirty="0" smtClean="0"/>
              <a:t> </a:t>
            </a:r>
            <a:r>
              <a:rPr lang="en-US" altLang="ko-KR" sz="2000" dirty="0" err="1" smtClean="0"/>
              <a:t>x’s</a:t>
            </a:r>
            <a:r>
              <a:rPr lang="en-US" altLang="ko-KR" sz="2000" dirty="0" smtClean="0"/>
              <a:t> and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n </a:t>
            </a:r>
            <a:r>
              <a:rPr lang="ko-KR" altLang="ko-KR" sz="2000" dirty="0" smtClean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– </a:t>
            </a:r>
            <a:r>
              <a:rPr lang="en-US" altLang="ko-KR" sz="2000" dirty="0" smtClean="0">
                <a:latin typeface="Times New Roman" pitchFamily="18" charset="0"/>
                <a:cs typeface="Times New Roman" pitchFamily="18" charset="0"/>
              </a:rPr>
              <a:t>1)</a:t>
            </a:r>
            <a:r>
              <a:rPr lang="en-US" altLang="ko-KR" sz="2000" dirty="0" smtClean="0"/>
              <a:t>  </a:t>
            </a:r>
            <a:r>
              <a:rPr lang="en-US" altLang="ko-KR" sz="2000" dirty="0" smtClean="0">
                <a:solidFill>
                  <a:srgbClr val="FF00FF"/>
                </a:solidFill>
              </a:rPr>
              <a:t>|</a:t>
            </a:r>
            <a:r>
              <a:rPr lang="en-US" altLang="ko-KR" sz="2000" dirty="0" smtClean="0"/>
              <a:t> ’s and the total number of ways is</a:t>
            </a:r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sz="2000" dirty="0" smtClean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sz="2000" dirty="0" smtClean="0"/>
          </a:p>
          <a:p>
            <a:pPr>
              <a:lnSpc>
                <a:spcPct val="100000"/>
              </a:lnSpc>
              <a:spcBef>
                <a:spcPct val="0"/>
              </a:spcBef>
            </a:pPr>
            <a:endParaRPr lang="en-US" altLang="ko-KR" sz="2000" dirty="0" smtClean="0"/>
          </a:p>
          <a:p>
            <a:endParaRPr lang="en-US" altLang="ko-KR" dirty="0" smtClean="0"/>
          </a:p>
          <a:p>
            <a:pPr>
              <a:buNone/>
            </a:pPr>
            <a:r>
              <a:rPr lang="en-US" altLang="ko-KR" sz="2000" dirty="0" smtClean="0"/>
              <a:t>(Question)  What is the probability that all the students select the same food ?</a:t>
            </a:r>
          </a:p>
          <a:p>
            <a:pPr>
              <a:buNone/>
            </a:pPr>
            <a:r>
              <a:rPr lang="en-US" altLang="ko-KR" sz="2000" dirty="0"/>
              <a:t>	</a:t>
            </a:r>
            <a:r>
              <a:rPr lang="en-US" altLang="ko-KR" sz="2000" dirty="0" smtClean="0"/>
              <a:t>Total different purchases : 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10! / 7!3! = 120</a:t>
            </a:r>
            <a:r>
              <a:rPr lang="en-US" altLang="ko-KR" sz="2000" dirty="0" smtClean="0"/>
              <a:t>   (previously known)</a:t>
            </a:r>
          </a:p>
          <a:p>
            <a:pPr>
              <a:buNone/>
            </a:pPr>
            <a:r>
              <a:rPr lang="en-US" altLang="ko-KR" sz="2000" dirty="0"/>
              <a:t>	</a:t>
            </a:r>
            <a:r>
              <a:rPr lang="en-US" altLang="ko-KR" sz="2000" dirty="0" smtClean="0"/>
              <a:t>All the same food purchases :  </a:t>
            </a:r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4, </a:t>
            </a:r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 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 </a:t>
            </a:r>
            <a:r>
              <a:rPr lang="en-US" altLang="ko-KR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4</a:t>
            </a:r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H</a:t>
            </a:r>
            <a:r>
              <a:rPr lang="en-US" altLang="ko-KR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= </a:t>
            </a:r>
            <a:r>
              <a:rPr lang="en-US" altLang="ko-KR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4</a:t>
            </a:r>
            <a:r>
              <a:rPr lang="en-US" altLang="ko-K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</a:t>
            </a:r>
            <a:r>
              <a:rPr lang="en-US" altLang="ko-KR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= 4</a:t>
            </a:r>
          </a:p>
          <a:p>
            <a:pPr>
              <a:buNone/>
            </a:pPr>
            <a:r>
              <a:rPr lang="en-US" altLang="ko-KR" sz="2000" dirty="0">
                <a:sym typeface="Wingdings" panose="05000000000000000000" pitchFamily="2" charset="2"/>
              </a:rPr>
              <a:t>	</a:t>
            </a:r>
            <a:r>
              <a:rPr lang="en-US" altLang="ko-KR" sz="2000" dirty="0" smtClean="0">
                <a:sym typeface="Wingdings" panose="05000000000000000000" pitchFamily="2" charset="2"/>
              </a:rPr>
              <a:t>Therefore, the probability is 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1/30</a:t>
            </a:r>
            <a:r>
              <a:rPr lang="en-US" altLang="ko-KR" sz="2000" dirty="0">
                <a:sym typeface="Wingdings" panose="05000000000000000000" pitchFamily="2" charset="2"/>
              </a:rPr>
              <a:t> </a:t>
            </a:r>
            <a:r>
              <a:rPr lang="en-US" altLang="ko-KR" sz="2000" dirty="0" smtClean="0">
                <a:sym typeface="Wingdings" panose="05000000000000000000" pitchFamily="2" charset="2"/>
              </a:rPr>
              <a:t>(= </a:t>
            </a:r>
            <a:r>
              <a:rPr lang="en-US" altLang="ko-KR" sz="20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4/120</a:t>
            </a:r>
            <a:r>
              <a:rPr lang="en-US" altLang="ko-KR" sz="2000" dirty="0" smtClean="0">
                <a:sym typeface="Wingdings" panose="05000000000000000000" pitchFamily="2" charset="2"/>
              </a:rPr>
              <a:t>).</a:t>
            </a:r>
            <a:endParaRPr lang="ko-KR" altLang="en-US" sz="2000" dirty="0" smtClean="0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8439163"/>
              </p:ext>
            </p:extLst>
          </p:nvPr>
        </p:nvGraphicFramePr>
        <p:xfrm>
          <a:off x="2974975" y="2258318"/>
          <a:ext cx="2767013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41" name="수식" r:id="rId3" imgW="1434960" imgH="457200" progId="Equation.3">
                  <p:embed/>
                </p:oleObj>
              </mc:Choice>
              <mc:Fallback>
                <p:oleObj name="수식" r:id="rId3" imgW="143496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4975" y="2258318"/>
                        <a:ext cx="2767013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6561490"/>
              </p:ext>
            </p:extLst>
          </p:nvPr>
        </p:nvGraphicFramePr>
        <p:xfrm>
          <a:off x="5742458" y="2259013"/>
          <a:ext cx="1493838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42" name="수식" r:id="rId5" imgW="774360" imgH="457200" progId="Equation.3">
                  <p:embed/>
                </p:oleObj>
              </mc:Choice>
              <mc:Fallback>
                <p:oleObj name="수식" r:id="rId5" imgW="77436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2458" y="2259013"/>
                        <a:ext cx="1493838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5715854"/>
              </p:ext>
            </p:extLst>
          </p:nvPr>
        </p:nvGraphicFramePr>
        <p:xfrm>
          <a:off x="2107779" y="2490788"/>
          <a:ext cx="80803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43" name="수식" r:id="rId7" imgW="419040" imgH="228600" progId="Equation.3">
                  <p:embed/>
                </p:oleObj>
              </mc:Choice>
              <mc:Fallback>
                <p:oleObj name="수식" r:id="rId7" imgW="419040" imgH="228600" progId="Equation.3">
                  <p:embed/>
                  <p:pic>
                    <p:nvPicPr>
                      <p:cNvPr id="614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7779" y="2490788"/>
                        <a:ext cx="808037" cy="441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포인트가 5개인 별 3"/>
          <p:cNvSpPr/>
          <p:nvPr/>
        </p:nvSpPr>
        <p:spPr>
          <a:xfrm>
            <a:off x="6948264" y="2852936"/>
            <a:ext cx="72008" cy="72008"/>
          </a:xfrm>
          <a:prstGeom prst="star5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/>
          <p:cNvSpPr/>
          <p:nvPr/>
        </p:nvSpPr>
        <p:spPr>
          <a:xfrm>
            <a:off x="5724128" y="2204864"/>
            <a:ext cx="1584176" cy="10081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웃는 얼굴 4"/>
          <p:cNvSpPr/>
          <p:nvPr/>
        </p:nvSpPr>
        <p:spPr>
          <a:xfrm>
            <a:off x="8388424" y="6381328"/>
            <a:ext cx="288032" cy="288032"/>
          </a:xfrm>
          <a:prstGeom prst="smileyFace">
            <a:avLst/>
          </a:prstGeom>
          <a:solidFill>
            <a:srgbClr val="92D050"/>
          </a:solidFill>
          <a:ln w="1270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57200" y="3645024"/>
            <a:ext cx="8219256" cy="2232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"/>
                                        <p:tgtEl>
                                          <p:spTgt spid="6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6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50"/>
                                        <p:tgtEl>
                                          <p:spTgt spid="614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"/>
                                        <p:tgtEl>
                                          <p:spTgt spid="614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모자이크">
  <a:themeElements>
    <a:clrScheme name="모자이크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모자이크">
      <a:majorFont>
        <a:latin typeface="Arial"/>
        <a:ea typeface="굴림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모자이크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모자이크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모자이크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6944</TotalTime>
  <Words>331</Words>
  <Application>Microsoft Office PowerPoint</Application>
  <PresentationFormat>화면 슬라이드 쇼(4:3)</PresentationFormat>
  <Paragraphs>124</Paragraphs>
  <Slides>14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굴림</vt:lpstr>
      <vt:lpstr>Arial</vt:lpstr>
      <vt:lpstr>Symbol</vt:lpstr>
      <vt:lpstr>Times New Roman</vt:lpstr>
      <vt:lpstr>Wingdings</vt:lpstr>
      <vt:lpstr>모자이크</vt:lpstr>
      <vt:lpstr>수식</vt:lpstr>
      <vt:lpstr>Fundamental  Principles of  Counting</vt:lpstr>
      <vt:lpstr>Contents</vt:lpstr>
      <vt:lpstr>Rules of Sum and Product</vt:lpstr>
      <vt:lpstr>PowerPoint 프레젠테이션</vt:lpstr>
      <vt:lpstr>Permutations</vt:lpstr>
      <vt:lpstr>PowerPoint 프레젠테이션</vt:lpstr>
      <vt:lpstr>PowerPoint 프레젠테이션</vt:lpstr>
      <vt:lpstr>Combinations: Binomial Theorem</vt:lpstr>
      <vt:lpstr>PowerPoint 프레젠테이션</vt:lpstr>
      <vt:lpstr>PowerPoint 프레젠테이션</vt:lpstr>
      <vt:lpstr>PowerPoint 프레젠테이션</vt:lpstr>
      <vt:lpstr>PowerPoint 프레젠테이션</vt:lpstr>
      <vt:lpstr>Combinations with Repetition</vt:lpstr>
      <vt:lpstr>PowerPoint 프레젠테이션</vt:lpstr>
    </vt:vector>
  </TitlesOfParts>
  <Company>인공지능연구실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Computer : What is AI?</dc:title>
  <dc:creator>황준하</dc:creator>
  <cp:lastModifiedBy>user</cp:lastModifiedBy>
  <cp:revision>539</cp:revision>
  <cp:lastPrinted>2020-03-09T09:04:57Z</cp:lastPrinted>
  <dcterms:created xsi:type="dcterms:W3CDTF">2000-03-01T03:34:10Z</dcterms:created>
  <dcterms:modified xsi:type="dcterms:W3CDTF">2023-03-08T07:52:46Z</dcterms:modified>
</cp:coreProperties>
</file>